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Presentarse y presentar Barb en una frase: un sistema de gestión predictiva de mantención desarrollado en Alloxentric. Mi parte es la integración multi-ERP: traer el historial de fallas desde los ERP de los clientes y dejarlo listo para predecir. El diagrama de la derecha resume todo el proyecto en cuatro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desde el inicio que el proyecto es individual y que trabajo dentro de un producto que ya existe. Yo asumo todos los roles técnicos; Alloxentric actúa como dueño del producto. Esto explica más adelante por qué el alcance se ajustó.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de fondo no es la falta de datos, sino que están dispersos. Las empresas ya registran su mantención en un ERP. La propuesta es ir a buscar esos datos donde están, en vez de pedirle al cliente que cambie de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Abordar el cambio de frente, sin rodeos. En la Fase 1 planifiqué sobre todo el producto, pero la mayoría de esos módulos ya existían. Siguiendo la retroalimentación, acoté el plan a mi requerimiento. Importante: no es otro proyecto; es la parte del proyecto original que habilita la predicción.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objetivo general y separarlo en dos partes: el impacto, lo que gana la empresa, y el medio, lo que construyo para lograrlo.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objetivo empieza con un verbo y es una meta de ingeniería, no una funcionalidad. Los dos primeros ya están cumplidos y el cuarto está en curso. Explicar que el orden sigue la dependencia: primero el modelo, después la ingesta y al final los indicadores.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tarjetas blancas son lo que entrego. Las dos grises dejan claro lo que no entrego y por qué. Mencionar que la falta de un ERP real se resuelve con una fuente simulada que imita SAP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RF describen qué hace el módulo; los RNF, cómo debe hacerlo. Destacar tres RNF: migraciones aditivas, porque no puedo romper un sistema en uso; credenciales cifradas, porque son del cliente; y que un ERP nuevo solo requiera un conector.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qué Scrum fue pertinente: el alcance cambió a mitad de camino y el enfoque iterativo permitió replanificar sin perder el trabajo hecho. La definición de terminado es lo que asegura la calidad de cada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actividades E son las dos del plan original que se mantuvieron; las A son las del plan ajustado. La línea punteada marca la semana actual: lo que está a la izquierda está terminado, y A3 está en curso dentro de su plazo. Nada está retrasado según el plan ajustado.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elegí tecnologías nuevas: el módulo se integra al stack que Barb ya usa. Mencionar que la IA del producto (DeepSeek, en la consulta documental y el diagnóstico) consume los datos que este módulo consolida.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de izquierda a derecha. Bronce guarda el dato crudo para poder reprocesar sin volver a pedirle nada al ERP. Plata es el corazón: un único formato de falla. Oro son las tablas listas para los indicadores. La franja inferior muestra dónde vive cada pieza en la plataforma Barb.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EVENTO_FALLA es la tabla central: una fila por falla, venga de un ERP o de Barb. MAPEO_CODIGO traduce los códigos de cada ERP sin tocar código. MAQUINA_ORIGEN evita que una misma máquina tenga dos historiales. Las tablas existentes solo reciben columnas opcionales, por eso la migración no afecta la operación. Se probó dos veces sobre el esquema real sin errores ni duplicados.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invento precios: el modelo comercial de Barb es de Alloxentric. Lo que aporta mi módulo es eliminar la principal barrera de adopción, que es pedirle al cliente que cambie de sistema o cargue su historial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demo en vivo, seguir los cuatro puntos en orden. Si no, usar la maqueta de la izquierda: muestra el botón abajo a la derecha del selector y la lista con los tres estados posibles de un conector. Tener la consulta de EVENTO_FALLA preparada de antemano.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mejora más importante es el modelo predictivo: este proyecto deja los datos en el formato que ese modelo necesita. El mapeo asistido por IA conecta con la capacidad de IA que Barb ya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lo que está demostrado, no con promesas. Repetir la idea central: el área de mantención ya tiene los datos para anticipar fallas; este proyecto los saca del ERP y los deja listos para usarse.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2B"/>
        </a:solidFill>
      </p:bgPr>
    </p:bg>
    <p:spTree>
      <p:nvGrpSpPr>
        <p:cNvPr id="1" name=""/>
        <p:cNvGrpSpPr/>
        <p:nvPr/>
      </p:nvGrpSpPr>
      <p:grpSpPr>
        <a:xfrm>
          <a:off x="0" y="0"/>
          <a:ext cx="0" cy="0"/>
          <a:chOff x="0" y="0"/>
          <a:chExt cx="0" cy="0"/>
        </a:xfrm>
      </p:grpSpPr>
      <p:sp>
        <p:nvSpPr>
          <p:cNvPr id="2" name="Text 0"/>
          <p:cNvSpPr txBox="1"/>
          <p:nvPr/>
        </p:nvSpPr>
        <p:spPr>
          <a:xfrm>
            <a:off x="731520" y="731520"/>
            <a:ext cx="7315200" cy="320040"/>
          </a:xfrm>
          <a:prstGeom prst="rect">
            <a:avLst/>
          </a:prstGeom>
          <a:noFill/>
          <a:ln/>
        </p:spPr>
        <p:txBody>
          <a:bodyPr wrap="square" lIns="0" tIns="0" rIns="0" bIns="0" rtlCol="0" anchor="t"/>
          <a:lstStyle/>
          <a:p>
            <a:pPr indent="0" marL="0">
              <a:buNone/>
            </a:pPr>
            <a:r>
              <a:rPr lang="en-US" sz="1300" b="1" spc="300" kern="0" dirty="0">
                <a:solidFill>
                  <a:srgbClr val="E69B00"/>
                </a:solidFill>
                <a:latin typeface="Calibri" pitchFamily="34" charset="0"/>
                <a:ea typeface="Calibri" pitchFamily="34" charset="-122"/>
                <a:cs typeface="Calibri" pitchFamily="34" charset="-120"/>
              </a:rPr>
              <a:t>PROYECTO APT · CAPSTONE · FASE 2</a:t>
            </a:r>
            <a:endParaRPr lang="en-US" sz="1300" dirty="0"/>
          </a:p>
        </p:txBody>
      </p:sp>
      <p:sp>
        <p:nvSpPr>
          <p:cNvPr id="3" name="Text 1"/>
          <p:cNvSpPr txBox="1"/>
          <p:nvPr/>
        </p:nvSpPr>
        <p:spPr>
          <a:xfrm>
            <a:off x="731520" y="1234440"/>
            <a:ext cx="7315200" cy="118872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Barb</a:t>
            </a:r>
            <a:endParaRPr lang="en-US" sz="8000" dirty="0"/>
          </a:p>
        </p:txBody>
      </p:sp>
      <p:sp>
        <p:nvSpPr>
          <p:cNvPr id="4" name="Text 2"/>
          <p:cNvSpPr txBox="1"/>
          <p:nvPr/>
        </p:nvSpPr>
        <p:spPr>
          <a:xfrm>
            <a:off x="731520" y="2514600"/>
            <a:ext cx="6766560" cy="914400"/>
          </a:xfrm>
          <a:prstGeom prst="rect">
            <a:avLst/>
          </a:prstGeom>
          <a:noFill/>
          <a:ln/>
        </p:spPr>
        <p:txBody>
          <a:bodyPr wrap="square" lIns="0" tIns="0" rIns="0" bIns="0" rtlCol="0" anchor="t"/>
          <a:lstStyle/>
          <a:p>
            <a:pPr indent="0" marL="0">
              <a:buNone/>
            </a:pPr>
            <a:r>
              <a:rPr lang="en-US" sz="2400" dirty="0">
                <a:solidFill>
                  <a:srgbClr val="DCE3EA"/>
                </a:solidFill>
                <a:latin typeface="Calibri" pitchFamily="34" charset="0"/>
                <a:ea typeface="Calibri" pitchFamily="34" charset="-122"/>
                <a:cs typeface="Calibri" pitchFamily="34" charset="-120"/>
              </a:rPr>
              <a:t>Integración multi-ERP para la gestión predictiva de mantención industrial</a:t>
            </a:r>
            <a:endParaRPr lang="en-US" sz="2400" dirty="0"/>
          </a:p>
        </p:txBody>
      </p:sp>
      <p:sp>
        <p:nvSpPr>
          <p:cNvPr id="5" name="Shape 3"/>
          <p:cNvSpPr/>
          <p:nvPr/>
        </p:nvSpPr>
        <p:spPr>
          <a:xfrm>
            <a:off x="731520" y="3794760"/>
            <a:ext cx="6583680" cy="0"/>
          </a:xfrm>
          <a:prstGeom prst="line">
            <a:avLst/>
          </a:prstGeom>
          <a:noFill/>
          <a:ln w="12700">
            <a:solidFill>
              <a:srgbClr val="3A4856"/>
            </a:solidFill>
            <a:prstDash val="solid"/>
          </a:ln>
        </p:spPr>
      </p:sp>
      <p:sp>
        <p:nvSpPr>
          <p:cNvPr id="6" name="Text 4"/>
          <p:cNvSpPr txBox="1"/>
          <p:nvPr/>
        </p:nvSpPr>
        <p:spPr>
          <a:xfrm>
            <a:off x="731520" y="4023360"/>
            <a:ext cx="3291840" cy="1645920"/>
          </a:xfrm>
          <a:prstGeom prst="rect">
            <a:avLst/>
          </a:prstGeom>
          <a:noFill/>
          <a:ln/>
        </p:spPr>
        <p:txBody>
          <a:bodyPr wrap="square" lIns="0" tIns="0" rIns="0" bIns="0" rtlCol="0" anchor="t"/>
          <a:lstStyle/>
          <a:p>
            <a:pPr indent="0" marL="0">
              <a:buNone/>
            </a:pPr>
            <a:r>
              <a:rPr lang="en-US" sz="1100" b="1" spc="200" kern="0" dirty="0">
                <a:solidFill>
                  <a:srgbClr val="E69B00"/>
                </a:solidFill>
                <a:latin typeface="Calibri" pitchFamily="34" charset="0"/>
                <a:ea typeface="Calibri" pitchFamily="34" charset="-122"/>
                <a:cs typeface="Calibri" pitchFamily="34" charset="-120"/>
              </a:rPr>
              <a:t>AUTOR</a:t>
            </a:r>
            <a:endParaRPr lang="en-US" sz="1100" dirty="0"/>
          </a:p>
          <a:p>
            <a:pPr indent="0" marL="0">
              <a:buNone/>
            </a:pPr>
            <a:r>
              <a:rPr lang="en-US" sz="1500" dirty="0">
                <a:solidFill>
                  <a:srgbClr val="FFFFFF"/>
                </a:solidFill>
                <a:latin typeface="Calibri" pitchFamily="34" charset="0"/>
                <a:ea typeface="Calibri" pitchFamily="34" charset="-122"/>
                <a:cs typeface="Calibri" pitchFamily="34" charset="-120"/>
              </a:rPr>
              <a:t>Sebastián Valdés Zúñiga</a:t>
            </a:r>
            <a:endParaRPr lang="en-US" sz="1100" dirty="0"/>
          </a:p>
          <a:p>
            <a:pPr indent="0" marL="0">
              <a:buNone/>
            </a:pPr>
            <a:r>
              <a:rPr lang="en-US" sz="800" dirty="0">
                <a:solidFill>
                  <a:srgbClr val="1F2933"/>
                </a:solidFill>
                <a:latin typeface="Calibri" pitchFamily="34" charset="0"/>
                <a:ea typeface="Calibri" pitchFamily="34" charset="-122"/>
                <a:cs typeface="Calibri" pitchFamily="34" charset="-120"/>
              </a:rPr>
              <a:t> </a:t>
            </a:r>
            <a:endParaRPr lang="en-US" sz="1100" dirty="0"/>
          </a:p>
          <a:p>
            <a:pPr indent="0" marL="0">
              <a:buNone/>
            </a:pPr>
            <a:r>
              <a:rPr lang="en-US" sz="1100" b="1" spc="200" kern="0" dirty="0">
                <a:solidFill>
                  <a:srgbClr val="E69B00"/>
                </a:solidFill>
                <a:latin typeface="Calibri" pitchFamily="34" charset="0"/>
                <a:ea typeface="Calibri" pitchFamily="34" charset="-122"/>
                <a:cs typeface="Calibri" pitchFamily="34" charset="-120"/>
              </a:rPr>
              <a:t>ORGANIZACIÓN</a:t>
            </a:r>
            <a:endParaRPr lang="en-US" sz="1100" dirty="0"/>
          </a:p>
          <a:p>
            <a:pPr indent="0" marL="0">
              <a:buNone/>
            </a:pPr>
            <a:r>
              <a:rPr lang="en-US" sz="1500" dirty="0">
                <a:solidFill>
                  <a:srgbClr val="FFFFFF"/>
                </a:solidFill>
                <a:latin typeface="Calibri" pitchFamily="34" charset="0"/>
                <a:ea typeface="Calibri" pitchFamily="34" charset="-122"/>
                <a:cs typeface="Calibri" pitchFamily="34" charset="-120"/>
              </a:rPr>
              <a:t>Desarrollado en Alloxentric</a:t>
            </a:r>
            <a:endParaRPr lang="en-US" sz="1100" dirty="0"/>
          </a:p>
        </p:txBody>
      </p:sp>
      <p:sp>
        <p:nvSpPr>
          <p:cNvPr id="7" name="Text 5"/>
          <p:cNvSpPr txBox="1"/>
          <p:nvPr/>
        </p:nvSpPr>
        <p:spPr>
          <a:xfrm>
            <a:off x="4114800" y="4023360"/>
            <a:ext cx="3291840" cy="1645920"/>
          </a:xfrm>
          <a:prstGeom prst="rect">
            <a:avLst/>
          </a:prstGeom>
          <a:noFill/>
          <a:ln/>
        </p:spPr>
        <p:txBody>
          <a:bodyPr wrap="square" lIns="0" tIns="0" rIns="0" bIns="0" rtlCol="0" anchor="t"/>
          <a:lstStyle/>
          <a:p>
            <a:pPr indent="0" marL="0">
              <a:buNone/>
            </a:pPr>
            <a:r>
              <a:rPr lang="en-US" sz="1100" b="1" spc="200" kern="0" dirty="0">
                <a:solidFill>
                  <a:srgbClr val="E69B00"/>
                </a:solidFill>
                <a:latin typeface="Calibri" pitchFamily="34" charset="0"/>
                <a:ea typeface="Calibri" pitchFamily="34" charset="-122"/>
                <a:cs typeface="Calibri" pitchFamily="34" charset="-120"/>
              </a:rPr>
              <a:t>CARRERA</a:t>
            </a:r>
            <a:endParaRPr lang="en-US" sz="1100" dirty="0"/>
          </a:p>
          <a:p>
            <a:pPr indent="0" marL="0">
              <a:buNone/>
            </a:pPr>
            <a:r>
              <a:rPr lang="en-US" sz="1500" dirty="0">
                <a:solidFill>
                  <a:srgbClr val="FFFFFF"/>
                </a:solidFill>
                <a:latin typeface="Calibri" pitchFamily="34" charset="0"/>
                <a:ea typeface="Calibri" pitchFamily="34" charset="-122"/>
                <a:cs typeface="Calibri" pitchFamily="34" charset="-120"/>
              </a:rPr>
              <a:t>Ingeniería en Informática</a:t>
            </a:r>
            <a:endParaRPr lang="en-US" sz="1100" dirty="0"/>
          </a:p>
          <a:p>
            <a:pPr indent="0" marL="0">
              <a:buNone/>
            </a:pPr>
            <a:r>
              <a:rPr lang="en-US" sz="800" dirty="0">
                <a:solidFill>
                  <a:srgbClr val="1F2933"/>
                </a:solidFill>
                <a:latin typeface="Calibri" pitchFamily="34" charset="0"/>
                <a:ea typeface="Calibri" pitchFamily="34" charset="-122"/>
                <a:cs typeface="Calibri" pitchFamily="34" charset="-120"/>
              </a:rPr>
              <a:t> </a:t>
            </a:r>
            <a:endParaRPr lang="en-US" sz="1100" dirty="0"/>
          </a:p>
          <a:p>
            <a:pPr indent="0" marL="0">
              <a:buNone/>
            </a:pPr>
            <a:r>
              <a:rPr lang="en-US" sz="1100" b="1" spc="200" kern="0" dirty="0">
                <a:solidFill>
                  <a:srgbClr val="E69B00"/>
                </a:solidFill>
                <a:latin typeface="Calibri" pitchFamily="34" charset="0"/>
                <a:ea typeface="Calibri" pitchFamily="34" charset="-122"/>
                <a:cs typeface="Calibri" pitchFamily="34" charset="-120"/>
              </a:rPr>
              <a:t>SEDE</a:t>
            </a:r>
            <a:endParaRPr lang="en-US" sz="1100" dirty="0"/>
          </a:p>
          <a:p>
            <a:pPr indent="0" marL="0">
              <a:buNone/>
            </a:pPr>
            <a:r>
              <a:rPr lang="en-US" sz="1500" dirty="0">
                <a:solidFill>
                  <a:srgbClr val="FFFFFF"/>
                </a:solidFill>
                <a:latin typeface="Calibri" pitchFamily="34" charset="0"/>
                <a:ea typeface="Calibri" pitchFamily="34" charset="-122"/>
                <a:cs typeface="Calibri" pitchFamily="34" charset="-120"/>
              </a:rPr>
              <a:t>Duoc UC San Joaquín · 2026</a:t>
            </a:r>
            <a:endParaRPr lang="en-US" sz="1100" dirty="0"/>
          </a:p>
        </p:txBody>
      </p:sp>
      <p:sp>
        <p:nvSpPr>
          <p:cNvPr id="8" name="Shape 6"/>
          <p:cNvSpPr/>
          <p:nvPr/>
        </p:nvSpPr>
        <p:spPr>
          <a:xfrm>
            <a:off x="8595360" y="1143000"/>
            <a:ext cx="2926080" cy="868680"/>
          </a:xfrm>
          <a:prstGeom prst="roundRect">
            <a:avLst>
              <a:gd name="adj" fmla="val 10526"/>
            </a:avLst>
          </a:prstGeom>
          <a:solidFill>
            <a:srgbClr val="223040"/>
          </a:solidFill>
          <a:ln w="15875">
            <a:solidFill>
              <a:srgbClr val="3A4856"/>
            </a:solidFill>
            <a:prstDash val="solid"/>
          </a:ln>
        </p:spPr>
      </p:sp>
      <p:sp>
        <p:nvSpPr>
          <p:cNvPr id="9" name="Shape 7"/>
          <p:cNvSpPr/>
          <p:nvPr/>
        </p:nvSpPr>
        <p:spPr>
          <a:xfrm>
            <a:off x="8778240" y="1298448"/>
            <a:ext cx="548640" cy="548640"/>
          </a:xfrm>
          <a:prstGeom prst="ellipse">
            <a:avLst/>
          </a:prstGeom>
          <a:solidFill>
            <a:srgbClr val="34465A"/>
          </a:solidFill>
          <a:ln w="12700">
            <a:solidFill>
              <a:srgbClr val="34465A"/>
            </a:solidFill>
            <a:prstDash val="solid"/>
          </a:ln>
        </p:spPr>
      </p:sp>
      <p:pic>
        <p:nvPicPr>
          <p:cNvPr id="10" name="Image 0" descr="preencoded.png">    </p:cNvPr>
          <p:cNvPicPr>
            <a:picLocks noChangeAspect="1"/>
          </p:cNvPicPr>
          <p:nvPr/>
        </p:nvPicPr>
        <p:blipFill>
          <a:blip r:embed="rId1"/>
          <a:stretch>
            <a:fillRect/>
          </a:stretch>
        </p:blipFill>
        <p:spPr>
          <a:xfrm>
            <a:off x="8898941" y="1419149"/>
            <a:ext cx="307238" cy="307238"/>
          </a:xfrm>
          <a:prstGeom prst="rect">
            <a:avLst/>
          </a:prstGeom>
        </p:spPr>
      </p:pic>
      <p:sp>
        <p:nvSpPr>
          <p:cNvPr id="11" name="Text 8"/>
          <p:cNvSpPr txBox="1"/>
          <p:nvPr/>
        </p:nvSpPr>
        <p:spPr>
          <a:xfrm>
            <a:off x="9509760" y="1143000"/>
            <a:ext cx="192024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ERP</a:t>
            </a:r>
            <a:endParaRPr lang="en-US" sz="1600" dirty="0"/>
          </a:p>
        </p:txBody>
      </p:sp>
      <p:sp>
        <p:nvSpPr>
          <p:cNvPr id="12" name="Shape 9"/>
          <p:cNvSpPr/>
          <p:nvPr/>
        </p:nvSpPr>
        <p:spPr>
          <a:xfrm>
            <a:off x="10058400" y="2011680"/>
            <a:ext cx="0" cy="365760"/>
          </a:xfrm>
          <a:prstGeom prst="line">
            <a:avLst/>
          </a:prstGeom>
          <a:noFill/>
          <a:ln w="19050">
            <a:solidFill>
              <a:srgbClr val="E69B00"/>
            </a:solidFill>
            <a:prstDash val="solid"/>
            <a:tailEnd type="triangle"/>
          </a:ln>
        </p:spPr>
      </p:sp>
      <p:sp>
        <p:nvSpPr>
          <p:cNvPr id="13" name="Shape 10"/>
          <p:cNvSpPr/>
          <p:nvPr/>
        </p:nvSpPr>
        <p:spPr>
          <a:xfrm>
            <a:off x="8595360" y="2377440"/>
            <a:ext cx="2926080" cy="868680"/>
          </a:xfrm>
          <a:prstGeom prst="roundRect">
            <a:avLst>
              <a:gd name="adj" fmla="val 10526"/>
            </a:avLst>
          </a:prstGeom>
          <a:solidFill>
            <a:srgbClr val="223040"/>
          </a:solidFill>
          <a:ln w="15875">
            <a:solidFill>
              <a:srgbClr val="3A4856"/>
            </a:solidFill>
            <a:prstDash val="solid"/>
          </a:ln>
        </p:spPr>
      </p:sp>
      <p:sp>
        <p:nvSpPr>
          <p:cNvPr id="14" name="Shape 11"/>
          <p:cNvSpPr/>
          <p:nvPr/>
        </p:nvSpPr>
        <p:spPr>
          <a:xfrm>
            <a:off x="8778240" y="2532888"/>
            <a:ext cx="548640" cy="548640"/>
          </a:xfrm>
          <a:prstGeom prst="ellipse">
            <a:avLst/>
          </a:prstGeom>
          <a:solidFill>
            <a:srgbClr val="34465A"/>
          </a:solidFill>
          <a:ln w="12700">
            <a:solidFill>
              <a:srgbClr val="34465A"/>
            </a:solidFill>
            <a:prstDash val="solid"/>
          </a:ln>
        </p:spPr>
      </p:sp>
      <p:pic>
        <p:nvPicPr>
          <p:cNvPr id="15" name="Image 1" descr="preencoded.png">    </p:cNvPr>
          <p:cNvPicPr>
            <a:picLocks noChangeAspect="1"/>
          </p:cNvPicPr>
          <p:nvPr/>
        </p:nvPicPr>
        <p:blipFill>
          <a:blip r:embed="rId2"/>
          <a:stretch>
            <a:fillRect/>
          </a:stretch>
        </p:blipFill>
        <p:spPr>
          <a:xfrm>
            <a:off x="8898941" y="2653589"/>
            <a:ext cx="307238" cy="307238"/>
          </a:xfrm>
          <a:prstGeom prst="rect">
            <a:avLst/>
          </a:prstGeom>
        </p:spPr>
      </p:pic>
      <p:sp>
        <p:nvSpPr>
          <p:cNvPr id="16" name="Text 12"/>
          <p:cNvSpPr txBox="1"/>
          <p:nvPr/>
        </p:nvSpPr>
        <p:spPr>
          <a:xfrm>
            <a:off x="9509760" y="2377440"/>
            <a:ext cx="192024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Conector</a:t>
            </a:r>
            <a:endParaRPr lang="en-US" sz="1600" dirty="0"/>
          </a:p>
        </p:txBody>
      </p:sp>
      <p:sp>
        <p:nvSpPr>
          <p:cNvPr id="17" name="Shape 13"/>
          <p:cNvSpPr/>
          <p:nvPr/>
        </p:nvSpPr>
        <p:spPr>
          <a:xfrm>
            <a:off x="10058400" y="3246120"/>
            <a:ext cx="0" cy="365760"/>
          </a:xfrm>
          <a:prstGeom prst="line">
            <a:avLst/>
          </a:prstGeom>
          <a:noFill/>
          <a:ln w="19050">
            <a:solidFill>
              <a:srgbClr val="E69B00"/>
            </a:solidFill>
            <a:prstDash val="solid"/>
            <a:tailEnd type="triangle"/>
          </a:ln>
        </p:spPr>
      </p:sp>
      <p:sp>
        <p:nvSpPr>
          <p:cNvPr id="18" name="Shape 14"/>
          <p:cNvSpPr/>
          <p:nvPr/>
        </p:nvSpPr>
        <p:spPr>
          <a:xfrm>
            <a:off x="8595360" y="3611880"/>
            <a:ext cx="2926080" cy="868680"/>
          </a:xfrm>
          <a:prstGeom prst="roundRect">
            <a:avLst>
              <a:gd name="adj" fmla="val 10526"/>
            </a:avLst>
          </a:prstGeom>
          <a:solidFill>
            <a:srgbClr val="223040"/>
          </a:solidFill>
          <a:ln w="15875">
            <a:solidFill>
              <a:srgbClr val="E69B00"/>
            </a:solidFill>
            <a:prstDash val="solid"/>
          </a:ln>
        </p:spPr>
      </p:sp>
      <p:sp>
        <p:nvSpPr>
          <p:cNvPr id="19" name="Shape 15"/>
          <p:cNvSpPr/>
          <p:nvPr/>
        </p:nvSpPr>
        <p:spPr>
          <a:xfrm>
            <a:off x="8778240" y="3767328"/>
            <a:ext cx="548640" cy="548640"/>
          </a:xfrm>
          <a:prstGeom prst="ellipse">
            <a:avLst/>
          </a:prstGeom>
          <a:solidFill>
            <a:srgbClr val="E69B00"/>
          </a:solidFill>
          <a:ln w="12700">
            <a:solidFill>
              <a:srgbClr val="E69B00"/>
            </a:solidFill>
            <a:prstDash val="solid"/>
          </a:ln>
        </p:spPr>
      </p:sp>
      <p:pic>
        <p:nvPicPr>
          <p:cNvPr id="20" name="Image 2" descr="preencoded.png">    </p:cNvPr>
          <p:cNvPicPr>
            <a:picLocks noChangeAspect="1"/>
          </p:cNvPicPr>
          <p:nvPr/>
        </p:nvPicPr>
        <p:blipFill>
          <a:blip r:embed="rId3"/>
          <a:stretch>
            <a:fillRect/>
          </a:stretch>
        </p:blipFill>
        <p:spPr>
          <a:xfrm>
            <a:off x="8898941" y="3888029"/>
            <a:ext cx="307238" cy="307238"/>
          </a:xfrm>
          <a:prstGeom prst="rect">
            <a:avLst/>
          </a:prstGeom>
        </p:spPr>
      </p:pic>
      <p:sp>
        <p:nvSpPr>
          <p:cNvPr id="21" name="Text 16"/>
          <p:cNvSpPr txBox="1"/>
          <p:nvPr/>
        </p:nvSpPr>
        <p:spPr>
          <a:xfrm>
            <a:off x="9509760" y="3611880"/>
            <a:ext cx="192024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Modelo canónico</a:t>
            </a:r>
            <a:endParaRPr lang="en-US" sz="1600" dirty="0"/>
          </a:p>
        </p:txBody>
      </p:sp>
      <p:sp>
        <p:nvSpPr>
          <p:cNvPr id="22" name="Shape 17"/>
          <p:cNvSpPr/>
          <p:nvPr/>
        </p:nvSpPr>
        <p:spPr>
          <a:xfrm>
            <a:off x="10058400" y="4480560"/>
            <a:ext cx="0" cy="365760"/>
          </a:xfrm>
          <a:prstGeom prst="line">
            <a:avLst/>
          </a:prstGeom>
          <a:noFill/>
          <a:ln w="19050">
            <a:solidFill>
              <a:srgbClr val="E69B00"/>
            </a:solidFill>
            <a:prstDash val="solid"/>
            <a:tailEnd type="triangle"/>
          </a:ln>
        </p:spPr>
      </p:sp>
      <p:sp>
        <p:nvSpPr>
          <p:cNvPr id="23" name="Shape 18"/>
          <p:cNvSpPr/>
          <p:nvPr/>
        </p:nvSpPr>
        <p:spPr>
          <a:xfrm>
            <a:off x="8595360" y="4846320"/>
            <a:ext cx="2926080" cy="868680"/>
          </a:xfrm>
          <a:prstGeom prst="roundRect">
            <a:avLst>
              <a:gd name="adj" fmla="val 10526"/>
            </a:avLst>
          </a:prstGeom>
          <a:solidFill>
            <a:srgbClr val="223040"/>
          </a:solidFill>
          <a:ln w="15875">
            <a:solidFill>
              <a:srgbClr val="3A4856"/>
            </a:solidFill>
            <a:prstDash val="solid"/>
          </a:ln>
        </p:spPr>
      </p:sp>
      <p:sp>
        <p:nvSpPr>
          <p:cNvPr id="24" name="Shape 19"/>
          <p:cNvSpPr/>
          <p:nvPr/>
        </p:nvSpPr>
        <p:spPr>
          <a:xfrm>
            <a:off x="8778240" y="5001768"/>
            <a:ext cx="548640" cy="548640"/>
          </a:xfrm>
          <a:prstGeom prst="ellipse">
            <a:avLst/>
          </a:prstGeom>
          <a:solidFill>
            <a:srgbClr val="34465A"/>
          </a:solidFill>
          <a:ln w="12700">
            <a:solidFill>
              <a:srgbClr val="34465A"/>
            </a:solidFill>
            <a:prstDash val="solid"/>
          </a:ln>
        </p:spPr>
      </p:sp>
      <p:pic>
        <p:nvPicPr>
          <p:cNvPr id="25" name="Image 3" descr="preencoded.png">    </p:cNvPr>
          <p:cNvPicPr>
            <a:picLocks noChangeAspect="1"/>
          </p:cNvPicPr>
          <p:nvPr/>
        </p:nvPicPr>
        <p:blipFill>
          <a:blip r:embed="rId4"/>
          <a:stretch>
            <a:fillRect/>
          </a:stretch>
        </p:blipFill>
        <p:spPr>
          <a:xfrm>
            <a:off x="8898941" y="5122469"/>
            <a:ext cx="307238" cy="307238"/>
          </a:xfrm>
          <a:prstGeom prst="rect">
            <a:avLst/>
          </a:prstGeom>
        </p:spPr>
      </p:pic>
      <p:sp>
        <p:nvSpPr>
          <p:cNvPr id="26" name="Text 20"/>
          <p:cNvSpPr txBox="1"/>
          <p:nvPr/>
        </p:nvSpPr>
        <p:spPr>
          <a:xfrm>
            <a:off x="9509760" y="4846320"/>
            <a:ext cx="192024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Indicadores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ORGANIZACIÓN DEL TRABAJO</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Rol y responsabilidades</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Proyecto individual desarrollado dentro del equipo de producto de Alloxentric</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737360"/>
            <a:ext cx="6675120" cy="4434840"/>
          </a:xfrm>
          <a:prstGeom prst="roundRect">
            <a:avLst>
              <a:gd name="adj" fmla="val 1649"/>
            </a:avLst>
          </a:prstGeom>
          <a:solidFill>
            <a:srgbClr val="FFFFFF"/>
          </a:solidFill>
          <a:ln w="12700">
            <a:solidFill>
              <a:srgbClr val="DDE3EA"/>
            </a:solidFill>
            <a:prstDash val="solid"/>
          </a:ln>
        </p:spPr>
      </p:sp>
      <p:sp>
        <p:nvSpPr>
          <p:cNvPr id="8" name="Shape 6"/>
          <p:cNvSpPr/>
          <p:nvPr/>
        </p:nvSpPr>
        <p:spPr>
          <a:xfrm>
            <a:off x="868680" y="2011680"/>
            <a:ext cx="1005840" cy="1005840"/>
          </a:xfrm>
          <a:prstGeom prst="ellipse">
            <a:avLst/>
          </a:prstGeom>
          <a:solidFill>
            <a:srgbClr val="17212B"/>
          </a:solidFill>
          <a:ln w="12700">
            <a:solidFill>
              <a:srgbClr val="17212B"/>
            </a:solidFill>
            <a:prstDash val="solid"/>
          </a:ln>
        </p:spPr>
      </p:sp>
      <p:sp>
        <p:nvSpPr>
          <p:cNvPr id="9" name="Text 7"/>
          <p:cNvSpPr txBox="1"/>
          <p:nvPr/>
        </p:nvSpPr>
        <p:spPr>
          <a:xfrm>
            <a:off x="868680" y="2011680"/>
            <a:ext cx="1005840" cy="1005840"/>
          </a:xfrm>
          <a:prstGeom prst="rect">
            <a:avLst/>
          </a:prstGeom>
          <a:noFill/>
          <a:ln/>
        </p:spPr>
        <p:txBody>
          <a:bodyPr wrap="square" lIns="0" tIns="0" rIns="0" bIns="0" rtlCol="0" anchor="ctr"/>
          <a:lstStyle/>
          <a:p>
            <a:pPr algn="ctr" indent="0" marL="0">
              <a:buNone/>
            </a:pPr>
            <a:r>
              <a:rPr lang="en-US" sz="2600" b="1" dirty="0">
                <a:solidFill>
                  <a:srgbClr val="E69B00"/>
                </a:solidFill>
                <a:latin typeface="Calibri" pitchFamily="34" charset="0"/>
                <a:ea typeface="Calibri" pitchFamily="34" charset="-122"/>
                <a:cs typeface="Calibri" pitchFamily="34" charset="-120"/>
              </a:rPr>
              <a:t>SV</a:t>
            </a:r>
            <a:endParaRPr lang="en-US" sz="2600" dirty="0"/>
          </a:p>
        </p:txBody>
      </p:sp>
      <p:sp>
        <p:nvSpPr>
          <p:cNvPr id="10" name="Text 8"/>
          <p:cNvSpPr txBox="1"/>
          <p:nvPr/>
        </p:nvSpPr>
        <p:spPr>
          <a:xfrm>
            <a:off x="2103120" y="2057400"/>
            <a:ext cx="4937760" cy="411480"/>
          </a:xfrm>
          <a:prstGeom prst="rect">
            <a:avLst/>
          </a:prstGeom>
          <a:noFill/>
          <a:ln/>
        </p:spPr>
        <p:txBody>
          <a:bodyPr wrap="square" lIns="0" tIns="0" rIns="0" bIns="0" rtlCol="0" anchor="t"/>
          <a:lstStyle/>
          <a:p>
            <a:pPr indent="0" marL="0">
              <a:buNone/>
            </a:pPr>
            <a:r>
              <a:rPr lang="en-US" sz="2000" b="1" dirty="0">
                <a:solidFill>
                  <a:srgbClr val="1F2933"/>
                </a:solidFill>
                <a:latin typeface="Calibri" pitchFamily="34" charset="0"/>
                <a:ea typeface="Calibri" pitchFamily="34" charset="-122"/>
                <a:cs typeface="Calibri" pitchFamily="34" charset="-120"/>
              </a:rPr>
              <a:t>Sebastián Valdés Zúñiga</a:t>
            </a:r>
            <a:endParaRPr lang="en-US" sz="2000" dirty="0"/>
          </a:p>
        </p:txBody>
      </p:sp>
      <p:sp>
        <p:nvSpPr>
          <p:cNvPr id="11" name="Shape 9"/>
          <p:cNvSpPr/>
          <p:nvPr/>
        </p:nvSpPr>
        <p:spPr>
          <a:xfrm>
            <a:off x="2103120" y="2560320"/>
            <a:ext cx="3840480" cy="274320"/>
          </a:xfrm>
          <a:prstGeom prst="roundRect">
            <a:avLst>
              <a:gd name="adj" fmla="val 50000"/>
            </a:avLst>
          </a:prstGeom>
          <a:solidFill>
            <a:srgbClr val="FDF3DC"/>
          </a:solidFill>
          <a:ln w="12700">
            <a:solidFill>
              <a:srgbClr val="FDF3DC"/>
            </a:solidFill>
            <a:prstDash val="solid"/>
          </a:ln>
        </p:spPr>
      </p:sp>
      <p:sp>
        <p:nvSpPr>
          <p:cNvPr id="12" name="Text 10"/>
          <p:cNvSpPr txBox="1"/>
          <p:nvPr/>
        </p:nvSpPr>
        <p:spPr>
          <a:xfrm>
            <a:off x="2103120" y="2560320"/>
            <a:ext cx="3840480" cy="274320"/>
          </a:xfrm>
          <a:prstGeom prst="rect">
            <a:avLst/>
          </a:prstGeom>
          <a:noFill/>
          <a:ln/>
        </p:spPr>
        <p:txBody>
          <a:bodyPr wrap="square" lIns="0" tIns="0" rIns="0" bIns="0" rtlCol="0" anchor="ctr"/>
          <a:lstStyle/>
          <a:p>
            <a:pPr algn="ctr" indent="0" marL="0">
              <a:buNone/>
            </a:pPr>
            <a:r>
              <a:rPr lang="en-US" sz="1000" b="1" dirty="0">
                <a:solidFill>
                  <a:srgbClr val="9A5B00"/>
                </a:solidFill>
                <a:latin typeface="Calibri" pitchFamily="34" charset="0"/>
                <a:ea typeface="Calibri" pitchFamily="34" charset="-122"/>
                <a:cs typeface="Calibri" pitchFamily="34" charset="-120"/>
              </a:rPr>
              <a:t>ARQUITECTO DE DATOS · FULL STACK · QA</a:t>
            </a:r>
            <a:endParaRPr lang="en-US" sz="1000" dirty="0"/>
          </a:p>
        </p:txBody>
      </p:sp>
      <p:sp>
        <p:nvSpPr>
          <p:cNvPr id="13" name="Text 11"/>
          <p:cNvSpPr txBox="1"/>
          <p:nvPr/>
        </p:nvSpPr>
        <p:spPr>
          <a:xfrm>
            <a:off x="914400" y="3291840"/>
            <a:ext cx="6035040" cy="2743200"/>
          </a:xfrm>
          <a:prstGeom prst="rect">
            <a:avLst/>
          </a:prstGeom>
          <a:noFill/>
          <a:ln/>
        </p:spPr>
        <p:txBody>
          <a:bodyPr wrap="square" lIns="0" tIns="0" rIns="0" bIns="0" rtlCol="0" anchor="t"/>
          <a:lstStyle/>
          <a:p>
            <a:pPr marL="177800" indent="-177800">
              <a:spcAft>
                <a:spcPts val="1600"/>
              </a:spcAft>
              <a:buSzPct val="100000"/>
              <a:buChar char="•"/>
            </a:pPr>
            <a:r>
              <a:rPr lang="en-US" sz="1500" b="1" dirty="0">
                <a:solidFill>
                  <a:srgbClr val="1F2933"/>
                </a:solidFill>
                <a:latin typeface="Calibri" pitchFamily="34" charset="0"/>
                <a:ea typeface="Calibri" pitchFamily="34" charset="-122"/>
                <a:cs typeface="Calibri" pitchFamily="34" charset="-120"/>
              </a:rPr>
              <a:t>Diseño de la arquitectura de ingesta </a:t>
            </a:r>
            <a:pPr indent="0" marL="0">
              <a:buNone/>
            </a:pPr>
            <a:r>
              <a:rPr lang="en-US" sz="1500" dirty="0">
                <a:solidFill>
                  <a:srgbClr val="1F2933"/>
                </a:solidFill>
                <a:latin typeface="Calibri" pitchFamily="34" charset="0"/>
                <a:ea typeface="Calibri" pitchFamily="34" charset="-122"/>
                <a:cs typeface="Calibri" pitchFamily="34" charset="-120"/>
              </a:rPr>
              <a:t>y del modelo canónico de fallas.</a:t>
            </a:r>
            <a:endParaRPr lang="en-US" sz="1500" dirty="0"/>
          </a:p>
          <a:p>
            <a:pPr marL="177800" indent="-177800">
              <a:spcAft>
                <a:spcPts val="1600"/>
              </a:spcAft>
              <a:buSzPct val="100000"/>
              <a:buChar char="•"/>
            </a:pPr>
            <a:r>
              <a:rPr lang="en-US" sz="1500" b="1" dirty="0">
                <a:solidFill>
                  <a:srgbClr val="1F2933"/>
                </a:solidFill>
                <a:latin typeface="Calibri" pitchFamily="34" charset="0"/>
                <a:ea typeface="Calibri" pitchFamily="34" charset="-122"/>
                <a:cs typeface="Calibri" pitchFamily="34" charset="-120"/>
              </a:rPr>
              <a:t>Modelamiento e implementación </a:t>
            </a:r>
            <a:pPr indent="0" marL="0">
              <a:buNone/>
            </a:pPr>
            <a:r>
              <a:rPr lang="en-US" sz="1500" dirty="0">
                <a:solidFill>
                  <a:srgbClr val="1F2933"/>
                </a:solidFill>
                <a:latin typeface="Calibri" pitchFamily="34" charset="0"/>
                <a:ea typeface="Calibri" pitchFamily="34" charset="-122"/>
                <a:cs typeface="Calibri" pitchFamily="34" charset="-120"/>
              </a:rPr>
              <a:t>de la extensión del esquema en PostgreSQL.</a:t>
            </a:r>
            <a:endParaRPr lang="en-US" sz="1500" dirty="0"/>
          </a:p>
          <a:p>
            <a:pPr marL="177800" indent="-177800">
              <a:spcAft>
                <a:spcPts val="1600"/>
              </a:spcAft>
              <a:buSzPct val="100000"/>
              <a:buChar char="•"/>
            </a:pPr>
            <a:r>
              <a:rPr lang="en-US" sz="1500" b="1" dirty="0">
                <a:solidFill>
                  <a:srgbClr val="1F2933"/>
                </a:solidFill>
                <a:latin typeface="Calibri" pitchFamily="34" charset="0"/>
                <a:ea typeface="Calibri" pitchFamily="34" charset="-122"/>
                <a:cs typeface="Calibri" pitchFamily="34" charset="-120"/>
              </a:rPr>
              <a:t>Desarrollo del backend </a:t>
            </a:r>
            <a:pPr indent="0" marL="0">
              <a:buNone/>
            </a:pPr>
            <a:r>
              <a:rPr lang="en-US" sz="1500" dirty="0">
                <a:solidFill>
                  <a:srgbClr val="1F2933"/>
                </a:solidFill>
                <a:latin typeface="Calibri" pitchFamily="34" charset="0"/>
                <a:ea typeface="Calibri" pitchFamily="34" charset="-122"/>
                <a:cs typeface="Calibri" pitchFamily="34" charset="-120"/>
              </a:rPr>
              <a:t>(FastAPI) y de la interfaz de conectores (React).</a:t>
            </a:r>
            <a:endParaRPr lang="en-US" sz="1500" dirty="0"/>
          </a:p>
          <a:p>
            <a:pPr marL="177800" indent="-177800">
              <a:spcAft>
                <a:spcPts val="1600"/>
              </a:spcAft>
              <a:buSzPct val="100000"/>
              <a:buChar char="•"/>
            </a:pPr>
            <a:r>
              <a:rPr lang="en-US" sz="1500" b="1" dirty="0">
                <a:solidFill>
                  <a:srgbClr val="1F2933"/>
                </a:solidFill>
                <a:latin typeface="Calibri" pitchFamily="34" charset="0"/>
                <a:ea typeface="Calibri" pitchFamily="34" charset="-122"/>
                <a:cs typeface="Calibri" pitchFamily="34" charset="-120"/>
              </a:rPr>
              <a:t>Pruebas y validación </a:t>
            </a:r>
            <a:pPr indent="0" marL="0">
              <a:buNone/>
            </a:pPr>
            <a:r>
              <a:rPr lang="en-US" sz="1500" dirty="0">
                <a:solidFill>
                  <a:srgbClr val="1F2933"/>
                </a:solidFill>
                <a:latin typeface="Calibri" pitchFamily="34" charset="0"/>
                <a:ea typeface="Calibri" pitchFamily="34" charset="-122"/>
                <a:cs typeface="Calibri" pitchFamily="34" charset="-120"/>
              </a:rPr>
              <a:t>de la ingesta, la API y los indicadores.</a:t>
            </a:r>
            <a:endParaRPr lang="en-US" sz="1500" dirty="0"/>
          </a:p>
          <a:p>
            <a:pPr marL="177800" indent="-177800">
              <a:spcAft>
                <a:spcPts val="1600"/>
              </a:spcAft>
              <a:buSzPct val="100000"/>
              <a:buChar char="•"/>
            </a:pPr>
            <a:r>
              <a:rPr lang="en-US" sz="1500" b="1" dirty="0">
                <a:solidFill>
                  <a:srgbClr val="1F2933"/>
                </a:solidFill>
                <a:latin typeface="Calibri" pitchFamily="34" charset="0"/>
                <a:ea typeface="Calibri" pitchFamily="34" charset="-122"/>
                <a:cs typeface="Calibri" pitchFamily="34" charset="-120"/>
              </a:rPr>
              <a:t>Gestión del proyecto: </a:t>
            </a:r>
            <a:pPr indent="0" marL="0">
              <a:buNone/>
            </a:pPr>
            <a:r>
              <a:rPr lang="en-US" sz="1500" dirty="0">
                <a:solidFill>
                  <a:srgbClr val="1F2933"/>
                </a:solidFill>
                <a:latin typeface="Calibri" pitchFamily="34" charset="0"/>
                <a:ea typeface="Calibri" pitchFamily="34" charset="-122"/>
                <a:cs typeface="Calibri" pitchFamily="34" charset="-120"/>
              </a:rPr>
              <a:t>backlog, sprints y control del plan de trabajo.</a:t>
            </a:r>
            <a:endParaRPr lang="en-US" sz="1500" dirty="0"/>
          </a:p>
        </p:txBody>
      </p:sp>
      <p:sp>
        <p:nvSpPr>
          <p:cNvPr id="14" name="Shape 12"/>
          <p:cNvSpPr/>
          <p:nvPr/>
        </p:nvSpPr>
        <p:spPr>
          <a:xfrm>
            <a:off x="7498080" y="1737360"/>
            <a:ext cx="4160520" cy="4434840"/>
          </a:xfrm>
          <a:prstGeom prst="roundRect">
            <a:avLst>
              <a:gd name="adj" fmla="val 1758"/>
            </a:avLst>
          </a:prstGeom>
          <a:solidFill>
            <a:srgbClr val="E8EFF6"/>
          </a:solidFill>
          <a:ln w="12700">
            <a:solidFill>
              <a:srgbClr val="E8EFF6"/>
            </a:solidFill>
            <a:prstDash val="solid"/>
          </a:ln>
        </p:spPr>
      </p:sp>
      <p:sp>
        <p:nvSpPr>
          <p:cNvPr id="15" name="Shape 13"/>
          <p:cNvSpPr/>
          <p:nvPr/>
        </p:nvSpPr>
        <p:spPr>
          <a:xfrm>
            <a:off x="7772400" y="2011680"/>
            <a:ext cx="822960" cy="822960"/>
          </a:xfrm>
          <a:prstGeom prst="ellipse">
            <a:avLst/>
          </a:prstGeom>
          <a:solidFill>
            <a:srgbClr val="2E5A87"/>
          </a:solidFill>
          <a:ln w="12700">
            <a:solidFill>
              <a:srgbClr val="2E5A87"/>
            </a:solidFill>
            <a:prstDash val="solid"/>
          </a:ln>
        </p:spPr>
      </p:sp>
      <p:pic>
        <p:nvPicPr>
          <p:cNvPr id="16" name="Image 0" descr="preencoded.png">    </p:cNvPr>
          <p:cNvPicPr>
            <a:picLocks noChangeAspect="1"/>
          </p:cNvPicPr>
          <p:nvPr/>
        </p:nvPicPr>
        <p:blipFill>
          <a:blip r:embed="rId1"/>
          <a:stretch>
            <a:fillRect/>
          </a:stretch>
        </p:blipFill>
        <p:spPr>
          <a:xfrm>
            <a:off x="7953451" y="2192731"/>
            <a:ext cx="460858" cy="460858"/>
          </a:xfrm>
          <a:prstGeom prst="rect">
            <a:avLst/>
          </a:prstGeom>
        </p:spPr>
      </p:pic>
      <p:sp>
        <p:nvSpPr>
          <p:cNvPr id="17" name="Text 14"/>
          <p:cNvSpPr txBox="1"/>
          <p:nvPr/>
        </p:nvSpPr>
        <p:spPr>
          <a:xfrm>
            <a:off x="8778240" y="2057400"/>
            <a:ext cx="2743200" cy="411480"/>
          </a:xfrm>
          <a:prstGeom prst="rect">
            <a:avLst/>
          </a:prstGeom>
          <a:noFill/>
          <a:ln/>
        </p:spPr>
        <p:txBody>
          <a:bodyPr wrap="square" lIns="0" tIns="0" rIns="0" bIns="0" rtlCol="0" anchor="t"/>
          <a:lstStyle/>
          <a:p>
            <a:pPr indent="0" marL="0">
              <a:buNone/>
            </a:pPr>
            <a:r>
              <a:rPr lang="en-US" sz="2000" b="1" dirty="0">
                <a:solidFill>
                  <a:srgbClr val="1F2933"/>
                </a:solidFill>
                <a:latin typeface="Calibri" pitchFamily="34" charset="0"/>
                <a:ea typeface="Calibri" pitchFamily="34" charset="-122"/>
                <a:cs typeface="Calibri" pitchFamily="34" charset="-120"/>
              </a:rPr>
              <a:t>Alloxentric</a:t>
            </a:r>
            <a:endParaRPr lang="en-US" sz="2000" dirty="0"/>
          </a:p>
        </p:txBody>
      </p:sp>
      <p:sp>
        <p:nvSpPr>
          <p:cNvPr id="18" name="Text 15"/>
          <p:cNvSpPr txBox="1"/>
          <p:nvPr/>
        </p:nvSpPr>
        <p:spPr>
          <a:xfrm>
            <a:off x="8778240" y="2468880"/>
            <a:ext cx="2743200" cy="320040"/>
          </a:xfrm>
          <a:prstGeom prst="rect">
            <a:avLst/>
          </a:prstGeom>
          <a:noFill/>
          <a:ln/>
        </p:spPr>
        <p:txBody>
          <a:bodyPr wrap="square" lIns="0" tIns="0" rIns="0" bIns="0" rtlCol="0" anchor="t"/>
          <a:lstStyle/>
          <a:p>
            <a:pPr indent="0" marL="0">
              <a:buNone/>
            </a:pPr>
            <a:r>
              <a:rPr lang="en-US" sz="1300" b="1" dirty="0">
                <a:solidFill>
                  <a:srgbClr val="2E5A87"/>
                </a:solidFill>
                <a:latin typeface="Calibri" pitchFamily="34" charset="0"/>
                <a:ea typeface="Calibri" pitchFamily="34" charset="-122"/>
                <a:cs typeface="Calibri" pitchFamily="34" charset="-120"/>
              </a:rPr>
              <a:t>Dueño del producto</a:t>
            </a:r>
            <a:endParaRPr lang="en-US" sz="1300" dirty="0"/>
          </a:p>
        </p:txBody>
      </p:sp>
      <p:sp>
        <p:nvSpPr>
          <p:cNvPr id="19" name="Text 16"/>
          <p:cNvSpPr txBox="1"/>
          <p:nvPr/>
        </p:nvSpPr>
        <p:spPr>
          <a:xfrm>
            <a:off x="7818120" y="3291840"/>
            <a:ext cx="3611880" cy="274320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F2933"/>
                </a:solidFill>
                <a:latin typeface="Calibri" pitchFamily="34" charset="0"/>
                <a:ea typeface="Calibri" pitchFamily="34" charset="-122"/>
                <a:cs typeface="Calibri" pitchFamily="34" charset="-120"/>
              </a:rPr>
              <a:t>Define el requerimiento asignado.</a:t>
            </a:r>
            <a:endParaRPr lang="en-US" sz="1500" dirty="0"/>
          </a:p>
          <a:p>
            <a:pPr marL="177800" indent="-177800">
              <a:spcAft>
                <a:spcPts val="1400"/>
              </a:spcAft>
              <a:buSzPct val="100000"/>
              <a:buChar char="•"/>
            </a:pPr>
            <a:r>
              <a:rPr lang="en-US" sz="1500" dirty="0">
                <a:solidFill>
                  <a:srgbClr val="1F2933"/>
                </a:solidFill>
                <a:latin typeface="Calibri" pitchFamily="34" charset="0"/>
                <a:ea typeface="Calibri" pitchFamily="34" charset="-122"/>
                <a:cs typeface="Calibri" pitchFamily="34" charset="-120"/>
              </a:rPr>
              <a:t>Entrega la especificación técnica y el esquema de Barb v3.0.</a:t>
            </a:r>
            <a:endParaRPr lang="en-US" sz="1500" dirty="0"/>
          </a:p>
          <a:p>
            <a:pPr marL="177800" indent="-177800">
              <a:spcAft>
                <a:spcPts val="1400"/>
              </a:spcAft>
              <a:buSzPct val="100000"/>
              <a:buChar char="•"/>
            </a:pPr>
            <a:r>
              <a:rPr lang="en-US" sz="1500" dirty="0">
                <a:solidFill>
                  <a:srgbClr val="1F2933"/>
                </a:solidFill>
                <a:latin typeface="Calibri" pitchFamily="34" charset="0"/>
                <a:ea typeface="Calibri" pitchFamily="34" charset="-122"/>
                <a:cs typeface="Calibri" pitchFamily="34" charset="-120"/>
              </a:rPr>
              <a:t>Valida cada incremento al cierre del sprint.</a:t>
            </a:r>
            <a:endParaRPr lang="en-US" sz="1500" dirty="0"/>
          </a:p>
          <a:p>
            <a:pPr marL="177800" indent="-177800">
              <a:spcAft>
                <a:spcPts val="1400"/>
              </a:spcAft>
              <a:buSzPct val="100000"/>
              <a:buChar char="•"/>
            </a:pPr>
            <a:r>
              <a:rPr lang="en-US" sz="1500" dirty="0">
                <a:solidFill>
                  <a:srgbClr val="1F2933"/>
                </a:solidFill>
                <a:latin typeface="Calibri" pitchFamily="34" charset="0"/>
                <a:ea typeface="Calibri" pitchFamily="34" charset="-122"/>
                <a:cs typeface="Calibri" pitchFamily="34" charset="-120"/>
              </a:rPr>
              <a:t>Mantiene los módulos existentes: OT, activos, topología y consulta documental.</a:t>
            </a:r>
            <a:endParaRPr lang="en-US" sz="1500" dirty="0"/>
          </a:p>
        </p:txBody>
      </p:sp>
      <p:sp>
        <p:nvSpPr>
          <p:cNvPr id="20" name="Text 17"/>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21" name="Text 18"/>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2 / 17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CONTEXTO Y OPORTUNIDAD</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El problema y la propuesta</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El historial que permitiría anticipar fallas existe, pero está disperso en los ERP de cada empresa</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737360"/>
            <a:ext cx="5440680" cy="4434840"/>
          </a:xfrm>
          <a:prstGeom prst="roundRect">
            <a:avLst>
              <a:gd name="adj" fmla="val 1649"/>
            </a:avLst>
          </a:prstGeom>
          <a:solidFill>
            <a:srgbClr val="FFFFFF"/>
          </a:solidFill>
          <a:ln w="12700">
            <a:solidFill>
              <a:srgbClr val="DDE3EA"/>
            </a:solidFill>
            <a:prstDash val="solid"/>
          </a:ln>
        </p:spPr>
      </p:sp>
      <p:sp>
        <p:nvSpPr>
          <p:cNvPr id="8" name="Shape 6"/>
          <p:cNvSpPr/>
          <p:nvPr/>
        </p:nvSpPr>
        <p:spPr>
          <a:xfrm>
            <a:off x="822960" y="1965960"/>
            <a:ext cx="594360" cy="594360"/>
          </a:xfrm>
          <a:prstGeom prst="ellipse">
            <a:avLst/>
          </a:prstGeom>
          <a:solidFill>
            <a:srgbClr val="F8E6E6"/>
          </a:solidFill>
          <a:ln w="12700">
            <a:solidFill>
              <a:srgbClr val="F8E6E6"/>
            </a:solidFill>
            <a:prstDash val="solid"/>
          </a:ln>
        </p:spPr>
      </p:sp>
      <p:pic>
        <p:nvPicPr>
          <p:cNvPr id="9" name="Image 0" descr="preencoded.png">    </p:cNvPr>
          <p:cNvPicPr>
            <a:picLocks noChangeAspect="1"/>
          </p:cNvPicPr>
          <p:nvPr/>
        </p:nvPicPr>
        <p:blipFill>
          <a:blip r:embed="rId1"/>
          <a:stretch>
            <a:fillRect/>
          </a:stretch>
        </p:blipFill>
        <p:spPr>
          <a:xfrm>
            <a:off x="953719" y="2096719"/>
            <a:ext cx="332842" cy="332842"/>
          </a:xfrm>
          <a:prstGeom prst="rect">
            <a:avLst/>
          </a:prstGeom>
        </p:spPr>
      </p:pic>
      <p:sp>
        <p:nvSpPr>
          <p:cNvPr id="10" name="Text 7"/>
          <p:cNvSpPr txBox="1"/>
          <p:nvPr/>
        </p:nvSpPr>
        <p:spPr>
          <a:xfrm>
            <a:off x="1554480" y="1965960"/>
            <a:ext cx="4114800" cy="59436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El problema</a:t>
            </a:r>
            <a:endParaRPr lang="en-US" sz="2000" dirty="0"/>
          </a:p>
        </p:txBody>
      </p:sp>
      <p:sp>
        <p:nvSpPr>
          <p:cNvPr id="11" name="Text 8"/>
          <p:cNvSpPr txBox="1"/>
          <p:nvPr/>
        </p:nvSpPr>
        <p:spPr>
          <a:xfrm>
            <a:off x="868680" y="2788920"/>
            <a:ext cx="4937760" cy="3291840"/>
          </a:xfrm>
          <a:prstGeom prst="rect">
            <a:avLst/>
          </a:prstGeom>
          <a:noFill/>
          <a:ln/>
        </p:spPr>
        <p:txBody>
          <a:bodyPr wrap="square" lIns="0" tIns="0" rIns="0" bIns="0" rtlCol="0" anchor="t"/>
          <a:lstStyle/>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Mantención reactiva: </a:t>
            </a:r>
            <a:pPr indent="0" marL="0">
              <a:buNone/>
            </a:pPr>
            <a:r>
              <a:rPr lang="en-US" sz="1600" dirty="0">
                <a:solidFill>
                  <a:srgbClr val="1F2933"/>
                </a:solidFill>
                <a:latin typeface="Calibri" pitchFamily="34" charset="0"/>
                <a:ea typeface="Calibri" pitchFamily="34" charset="-122"/>
                <a:cs typeface="Calibri" pitchFamily="34" charset="-120"/>
              </a:rPr>
              <a:t>se interviene cuando la falla ya detuvo la faena.</a:t>
            </a:r>
            <a:endParaRPr lang="en-US" sz="1600" dirty="0"/>
          </a:p>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Historial atrapado: </a:t>
            </a:r>
            <a:pPr indent="0" marL="0">
              <a:buNone/>
            </a:pPr>
            <a:r>
              <a:rPr lang="en-US" sz="1600" dirty="0">
                <a:solidFill>
                  <a:srgbClr val="1F2933"/>
                </a:solidFill>
                <a:latin typeface="Calibri" pitchFamily="34" charset="0"/>
                <a:ea typeface="Calibri" pitchFamily="34" charset="-122"/>
                <a:cs typeface="Calibri" pitchFamily="34" charset="-120"/>
              </a:rPr>
              <a:t>las fallas se registran en ERP como SAP u Oracle, cada uno con su formato y sus códigos.</a:t>
            </a:r>
            <a:endParaRPr lang="en-US" sz="1600" dirty="0"/>
          </a:p>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Sin formato común no hay predicción: </a:t>
            </a:r>
            <a:pPr indent="0" marL="0">
              <a:buNone/>
            </a:pPr>
            <a:r>
              <a:rPr lang="en-US" sz="1600" dirty="0">
                <a:solidFill>
                  <a:srgbClr val="1F2933"/>
                </a:solidFill>
                <a:latin typeface="Calibri" pitchFamily="34" charset="0"/>
                <a:ea typeface="Calibri" pitchFamily="34" charset="-122"/>
                <a:cs typeface="Calibri" pitchFamily="34" charset="-120"/>
              </a:rPr>
              <a:t>ningún modelo puede aprender de datos dispersos.</a:t>
            </a:r>
            <a:endParaRPr lang="en-US" sz="1600" dirty="0"/>
          </a:p>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Cambiar el ERP no es opción: </a:t>
            </a:r>
            <a:pPr indent="0" marL="0">
              <a:buNone/>
            </a:pPr>
            <a:r>
              <a:rPr lang="en-US" sz="1600" dirty="0">
                <a:solidFill>
                  <a:srgbClr val="1F2933"/>
                </a:solidFill>
                <a:latin typeface="Calibri" pitchFamily="34" charset="0"/>
                <a:ea typeface="Calibri" pitchFamily="34" charset="-122"/>
                <a:cs typeface="Calibri" pitchFamily="34" charset="-120"/>
              </a:rPr>
              <a:t>las empresas no migrarán su sistema corporativo para adoptar una herramienta.</a:t>
            </a:r>
            <a:endParaRPr lang="en-US" sz="1600" dirty="0"/>
          </a:p>
        </p:txBody>
      </p:sp>
      <p:sp>
        <p:nvSpPr>
          <p:cNvPr id="12" name="Shape 9"/>
          <p:cNvSpPr/>
          <p:nvPr/>
        </p:nvSpPr>
        <p:spPr>
          <a:xfrm>
            <a:off x="6199632" y="1737360"/>
            <a:ext cx="5440680" cy="4434840"/>
          </a:xfrm>
          <a:prstGeom prst="roundRect">
            <a:avLst>
              <a:gd name="adj" fmla="val 1649"/>
            </a:avLst>
          </a:prstGeom>
          <a:solidFill>
            <a:srgbClr val="FDF3DC"/>
          </a:solidFill>
          <a:ln w="12700">
            <a:solidFill>
              <a:srgbClr val="FDF3DC"/>
            </a:solidFill>
            <a:prstDash val="solid"/>
          </a:ln>
        </p:spPr>
      </p:sp>
      <p:sp>
        <p:nvSpPr>
          <p:cNvPr id="13" name="Shape 10"/>
          <p:cNvSpPr/>
          <p:nvPr/>
        </p:nvSpPr>
        <p:spPr>
          <a:xfrm>
            <a:off x="6473952" y="1965960"/>
            <a:ext cx="594360" cy="594360"/>
          </a:xfrm>
          <a:prstGeom prst="ellipse">
            <a:avLst/>
          </a:prstGeom>
          <a:solidFill>
            <a:srgbClr val="E69B00"/>
          </a:solidFill>
          <a:ln w="12700">
            <a:solidFill>
              <a:srgbClr val="E69B00"/>
            </a:solidFill>
            <a:prstDash val="solid"/>
          </a:ln>
        </p:spPr>
      </p:sp>
      <p:pic>
        <p:nvPicPr>
          <p:cNvPr id="14" name="Image 1" descr="preencoded.png">    </p:cNvPr>
          <p:cNvPicPr>
            <a:picLocks noChangeAspect="1"/>
          </p:cNvPicPr>
          <p:nvPr/>
        </p:nvPicPr>
        <p:blipFill>
          <a:blip r:embed="rId2"/>
          <a:stretch>
            <a:fillRect/>
          </a:stretch>
        </p:blipFill>
        <p:spPr>
          <a:xfrm>
            <a:off x="6604711" y="2096719"/>
            <a:ext cx="332842" cy="332842"/>
          </a:xfrm>
          <a:prstGeom prst="rect">
            <a:avLst/>
          </a:prstGeom>
        </p:spPr>
      </p:pic>
      <p:sp>
        <p:nvSpPr>
          <p:cNvPr id="15" name="Text 11"/>
          <p:cNvSpPr txBox="1"/>
          <p:nvPr/>
        </p:nvSpPr>
        <p:spPr>
          <a:xfrm>
            <a:off x="7205472" y="1965960"/>
            <a:ext cx="4114800" cy="59436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La propuesta</a:t>
            </a:r>
            <a:endParaRPr lang="en-US" sz="2000" dirty="0"/>
          </a:p>
        </p:txBody>
      </p:sp>
      <p:sp>
        <p:nvSpPr>
          <p:cNvPr id="16" name="Text 12"/>
          <p:cNvSpPr txBox="1"/>
          <p:nvPr/>
        </p:nvSpPr>
        <p:spPr>
          <a:xfrm>
            <a:off x="6519672" y="2788920"/>
            <a:ext cx="4937760" cy="3291840"/>
          </a:xfrm>
          <a:prstGeom prst="rect">
            <a:avLst/>
          </a:prstGeom>
          <a:noFill/>
          <a:ln/>
        </p:spPr>
        <p:txBody>
          <a:bodyPr wrap="square" lIns="0" tIns="0" rIns="0" bIns="0" rtlCol="0" anchor="t"/>
          <a:lstStyle/>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Conectores configurables: </a:t>
            </a:r>
            <a:pPr indent="0" marL="0">
              <a:buNone/>
            </a:pPr>
            <a:r>
              <a:rPr lang="en-US" sz="1600" dirty="0">
                <a:solidFill>
                  <a:srgbClr val="1F2933"/>
                </a:solidFill>
                <a:latin typeface="Calibri" pitchFamily="34" charset="0"/>
                <a:ea typeface="Calibri" pitchFamily="34" charset="-122"/>
                <a:cs typeface="Calibri" pitchFamily="34" charset="-120"/>
              </a:rPr>
              <a:t>cada empresa conecta su ERP desde la interfaz de Barb.</a:t>
            </a:r>
            <a:endParaRPr lang="en-US" sz="1600" dirty="0"/>
          </a:p>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Modelo canónico de fallas: </a:t>
            </a:r>
            <a:pPr indent="0" marL="0">
              <a:buNone/>
            </a:pPr>
            <a:r>
              <a:rPr lang="en-US" sz="1600" dirty="0">
                <a:solidFill>
                  <a:srgbClr val="1F2933"/>
                </a:solidFill>
                <a:latin typeface="Calibri" pitchFamily="34" charset="0"/>
                <a:ea typeface="Calibri" pitchFamily="34" charset="-122"/>
                <a:cs typeface="Calibri" pitchFamily="34" charset="-120"/>
              </a:rPr>
              <a:t>todo registro, venga de donde venga, queda en un formato único.</a:t>
            </a:r>
            <a:endParaRPr lang="en-US" sz="1600" dirty="0"/>
          </a:p>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Ingesta trazable: </a:t>
            </a:r>
            <a:pPr indent="0" marL="0">
              <a:buNone/>
            </a:pPr>
            <a:r>
              <a:rPr lang="en-US" sz="1600" dirty="0">
                <a:solidFill>
                  <a:srgbClr val="1F2933"/>
                </a:solidFill>
                <a:latin typeface="Calibri" pitchFamily="34" charset="0"/>
                <a:ea typeface="Calibri" pitchFamily="34" charset="-122"/>
                <a:cs typeface="Calibri" pitchFamily="34" charset="-120"/>
              </a:rPr>
              <a:t>cada falla conserva su origen, sin duplicados y con registro de rechazos.</a:t>
            </a:r>
            <a:endParaRPr lang="en-US" sz="1600" dirty="0"/>
          </a:p>
          <a:p>
            <a:pPr marL="177800" indent="-177800">
              <a:spcAft>
                <a:spcPts val="1800"/>
              </a:spcAft>
              <a:buSzPct val="100000"/>
              <a:buChar char="•"/>
            </a:pPr>
            <a:r>
              <a:rPr lang="en-US" sz="1600" b="1" dirty="0">
                <a:solidFill>
                  <a:srgbClr val="1F2933"/>
                </a:solidFill>
                <a:latin typeface="Calibri" pitchFamily="34" charset="0"/>
                <a:ea typeface="Calibri" pitchFamily="34" charset="-122"/>
                <a:cs typeface="Calibri" pitchFamily="34" charset="-120"/>
              </a:rPr>
              <a:t>Indicadores de confiabilidad: </a:t>
            </a:r>
            <a:pPr indent="0" marL="0">
              <a:buNone/>
            </a:pPr>
            <a:r>
              <a:rPr lang="en-US" sz="1600" dirty="0">
                <a:solidFill>
                  <a:srgbClr val="1F2933"/>
                </a:solidFill>
                <a:latin typeface="Calibri" pitchFamily="34" charset="0"/>
                <a:ea typeface="Calibri" pitchFamily="34" charset="-122"/>
                <a:cs typeface="Calibri" pitchFamily="34" charset="-120"/>
              </a:rPr>
              <a:t>MTBF y MTTR por máquina como base para predecir.</a:t>
            </a:r>
            <a:endParaRPr lang="en-US" sz="1600" dirty="0"/>
          </a:p>
        </p:txBody>
      </p:sp>
      <p:sp>
        <p:nvSpPr>
          <p:cNvPr id="17" name="Text 13"/>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18" name="Text 14"/>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3 / 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AJUSTE RESPECTO DE LA FASE 1</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Del producto completo al requerimiento asignado</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El propósito se mantiene: anticipar fallas a partir del historial</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737360"/>
            <a:ext cx="4937760" cy="3429000"/>
          </a:xfrm>
          <a:prstGeom prst="roundRect">
            <a:avLst>
              <a:gd name="adj" fmla="val 2133"/>
            </a:avLst>
          </a:prstGeom>
          <a:solidFill>
            <a:srgbClr val="FFFFFF"/>
          </a:solidFill>
          <a:ln w="12700">
            <a:solidFill>
              <a:srgbClr val="DDE3EA"/>
            </a:solidFill>
            <a:prstDash val="solid"/>
          </a:ln>
        </p:spPr>
      </p:sp>
      <p:sp>
        <p:nvSpPr>
          <p:cNvPr id="8" name="Shape 6"/>
          <p:cNvSpPr/>
          <p:nvPr/>
        </p:nvSpPr>
        <p:spPr>
          <a:xfrm>
            <a:off x="822960" y="1965960"/>
            <a:ext cx="1371600" cy="274320"/>
          </a:xfrm>
          <a:prstGeom prst="roundRect">
            <a:avLst>
              <a:gd name="adj" fmla="val 50000"/>
            </a:avLst>
          </a:prstGeom>
          <a:solidFill>
            <a:srgbClr val="EDF0F3"/>
          </a:solidFill>
          <a:ln w="12700">
            <a:solidFill>
              <a:srgbClr val="EDF0F3"/>
            </a:solidFill>
            <a:prstDash val="solid"/>
          </a:ln>
        </p:spPr>
      </p:sp>
      <p:sp>
        <p:nvSpPr>
          <p:cNvPr id="9" name="Text 7"/>
          <p:cNvSpPr txBox="1"/>
          <p:nvPr/>
        </p:nvSpPr>
        <p:spPr>
          <a:xfrm>
            <a:off x="822960" y="1965960"/>
            <a:ext cx="1371600" cy="274320"/>
          </a:xfrm>
          <a:prstGeom prst="rect">
            <a:avLst/>
          </a:prstGeom>
          <a:noFill/>
          <a:ln/>
        </p:spPr>
        <p:txBody>
          <a:bodyPr wrap="square" lIns="0" tIns="0" rIns="0" bIns="0" rtlCol="0" anchor="ctr"/>
          <a:lstStyle/>
          <a:p>
            <a:pPr algn="ctr" indent="0" marL="0">
              <a:buNone/>
            </a:pPr>
            <a:r>
              <a:rPr lang="en-US" sz="1000" b="1" dirty="0">
                <a:solidFill>
                  <a:srgbClr val="5B6770"/>
                </a:solidFill>
                <a:latin typeface="Calibri" pitchFamily="34" charset="0"/>
                <a:ea typeface="Calibri" pitchFamily="34" charset="-122"/>
                <a:cs typeface="Calibri" pitchFamily="34" charset="-120"/>
              </a:rPr>
              <a:t>PLAN FASE 1</a:t>
            </a:r>
            <a:endParaRPr lang="en-US" sz="1000" dirty="0"/>
          </a:p>
        </p:txBody>
      </p:sp>
      <p:sp>
        <p:nvSpPr>
          <p:cNvPr id="10" name="Text 8"/>
          <p:cNvSpPr txBox="1"/>
          <p:nvPr/>
        </p:nvSpPr>
        <p:spPr>
          <a:xfrm>
            <a:off x="822960" y="2377440"/>
            <a:ext cx="4480560" cy="41148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8 sprints sobre todo Barb</a:t>
            </a:r>
            <a:endParaRPr lang="en-US" sz="1800" dirty="0"/>
          </a:p>
        </p:txBody>
      </p:sp>
      <p:sp>
        <p:nvSpPr>
          <p:cNvPr id="11" name="Text 9"/>
          <p:cNvSpPr txBox="1"/>
          <p:nvPr/>
        </p:nvSpPr>
        <p:spPr>
          <a:xfrm>
            <a:off x="868680" y="2880360"/>
            <a:ext cx="438912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5B6770"/>
                </a:solidFill>
                <a:latin typeface="Calibri" pitchFamily="34" charset="0"/>
                <a:ea typeface="Calibri" pitchFamily="34" charset="-122"/>
                <a:cs typeface="Calibri" pitchFamily="34" charset="-120"/>
              </a:rPr>
              <a:t>Activos y órdenes de trabajo</a:t>
            </a:r>
            <a:endParaRPr lang="en-US" sz="1400" dirty="0"/>
          </a:p>
          <a:p>
            <a:pPr marL="177800" indent="-177800">
              <a:spcAft>
                <a:spcPts val="600"/>
              </a:spcAft>
              <a:buSzPct val="100000"/>
              <a:buChar char="•"/>
            </a:pPr>
            <a:r>
              <a:rPr lang="en-US" sz="1400" dirty="0">
                <a:solidFill>
                  <a:srgbClr val="5B6770"/>
                </a:solidFill>
                <a:latin typeface="Calibri" pitchFamily="34" charset="0"/>
                <a:ea typeface="Calibri" pitchFamily="34" charset="-122"/>
                <a:cs typeface="Calibri" pitchFamily="34" charset="-120"/>
              </a:rPr>
              <a:t>Mantención preventiva e inventario</a:t>
            </a:r>
            <a:endParaRPr lang="en-US" sz="1400" dirty="0"/>
          </a:p>
          <a:p>
            <a:pPr marL="177800" indent="-177800">
              <a:spcAft>
                <a:spcPts val="600"/>
              </a:spcAft>
              <a:buSzPct val="100000"/>
              <a:buChar char="•"/>
            </a:pPr>
            <a:r>
              <a:rPr lang="en-US" sz="1400" dirty="0">
                <a:solidFill>
                  <a:srgbClr val="5B6770"/>
                </a:solidFill>
                <a:latin typeface="Calibri" pitchFamily="34" charset="0"/>
                <a:ea typeface="Calibri" pitchFamily="34" charset="-122"/>
                <a:cs typeface="Calibri" pitchFamily="34" charset="-120"/>
              </a:rPr>
              <a:t>Topología de planta y reportería</a:t>
            </a:r>
            <a:endParaRPr lang="en-US" sz="1400" dirty="0"/>
          </a:p>
          <a:p>
            <a:pPr marL="177800" indent="-177800">
              <a:spcAft>
                <a:spcPts val="600"/>
              </a:spcAft>
              <a:buSzPct val="100000"/>
              <a:buChar char="•"/>
            </a:pPr>
            <a:r>
              <a:rPr lang="en-US" sz="1400" dirty="0">
                <a:solidFill>
                  <a:srgbClr val="5B6770"/>
                </a:solidFill>
                <a:latin typeface="Calibri" pitchFamily="34" charset="0"/>
                <a:ea typeface="Calibri" pitchFamily="34" charset="-122"/>
                <a:cs typeface="Calibri" pitchFamily="34" charset="-120"/>
              </a:rPr>
              <a:t>Exportación y dashboards generales</a:t>
            </a:r>
            <a:endParaRPr lang="en-US" sz="1400" dirty="0"/>
          </a:p>
        </p:txBody>
      </p:sp>
      <p:sp>
        <p:nvSpPr>
          <p:cNvPr id="12" name="Text 10"/>
          <p:cNvSpPr txBox="1"/>
          <p:nvPr/>
        </p:nvSpPr>
        <p:spPr>
          <a:xfrm>
            <a:off x="822960" y="4434840"/>
            <a:ext cx="4480560" cy="548640"/>
          </a:xfrm>
          <a:prstGeom prst="rect">
            <a:avLst/>
          </a:prstGeom>
          <a:noFill/>
          <a:ln/>
        </p:spPr>
        <p:txBody>
          <a:bodyPr wrap="square" lIns="0" tIns="0" rIns="0" bIns="0" rtlCol="0" anchor="t"/>
          <a:lstStyle/>
          <a:p>
            <a:pPr indent="0" marL="0">
              <a:buNone/>
            </a:pPr>
            <a:r>
              <a:rPr lang="en-US" sz="1200" i="1" dirty="0">
                <a:solidFill>
                  <a:srgbClr val="B23B3B"/>
                </a:solidFill>
                <a:latin typeface="Calibri" pitchFamily="34" charset="0"/>
                <a:ea typeface="Calibri" pitchFamily="34" charset="-122"/>
                <a:cs typeface="Calibri" pitchFamily="34" charset="-120"/>
              </a:rPr>
              <a:t>Módulos que ya existían en Barb v3.0, desarrollados por el equipo de Alloxentric.</a:t>
            </a:r>
            <a:endParaRPr lang="en-US" sz="1200" dirty="0"/>
          </a:p>
        </p:txBody>
      </p:sp>
      <p:sp>
        <p:nvSpPr>
          <p:cNvPr id="13" name="Shape 11"/>
          <p:cNvSpPr/>
          <p:nvPr/>
        </p:nvSpPr>
        <p:spPr>
          <a:xfrm>
            <a:off x="5669280" y="3108960"/>
            <a:ext cx="822960" cy="640080"/>
          </a:xfrm>
          <a:prstGeom prst="rightArrow">
            <a:avLst/>
          </a:prstGeom>
          <a:solidFill>
            <a:srgbClr val="E69B00"/>
          </a:solidFill>
          <a:ln w="12700">
            <a:solidFill>
              <a:srgbClr val="E69B00"/>
            </a:solidFill>
            <a:prstDash val="solid"/>
          </a:ln>
        </p:spPr>
      </p:sp>
      <p:sp>
        <p:nvSpPr>
          <p:cNvPr id="14" name="Shape 12"/>
          <p:cNvSpPr/>
          <p:nvPr/>
        </p:nvSpPr>
        <p:spPr>
          <a:xfrm>
            <a:off x="6675120" y="1737360"/>
            <a:ext cx="4983480" cy="3429000"/>
          </a:xfrm>
          <a:prstGeom prst="roundRect">
            <a:avLst>
              <a:gd name="adj" fmla="val 2133"/>
            </a:avLst>
          </a:prstGeom>
          <a:solidFill>
            <a:srgbClr val="FFFFFF"/>
          </a:solidFill>
          <a:ln w="12700">
            <a:solidFill>
              <a:srgbClr val="E69B00"/>
            </a:solidFill>
            <a:prstDash val="solid"/>
          </a:ln>
        </p:spPr>
      </p:sp>
      <p:sp>
        <p:nvSpPr>
          <p:cNvPr id="15" name="Shape 13"/>
          <p:cNvSpPr/>
          <p:nvPr/>
        </p:nvSpPr>
        <p:spPr>
          <a:xfrm>
            <a:off x="6949440" y="1965960"/>
            <a:ext cx="1371600" cy="274320"/>
          </a:xfrm>
          <a:prstGeom prst="roundRect">
            <a:avLst>
              <a:gd name="adj" fmla="val 50000"/>
            </a:avLst>
          </a:prstGeom>
          <a:solidFill>
            <a:srgbClr val="FDF3DC"/>
          </a:solidFill>
          <a:ln w="12700">
            <a:solidFill>
              <a:srgbClr val="FDF3DC"/>
            </a:solidFill>
            <a:prstDash val="solid"/>
          </a:ln>
        </p:spPr>
      </p:sp>
      <p:sp>
        <p:nvSpPr>
          <p:cNvPr id="16" name="Text 14"/>
          <p:cNvSpPr txBox="1"/>
          <p:nvPr/>
        </p:nvSpPr>
        <p:spPr>
          <a:xfrm>
            <a:off x="6949440" y="1965960"/>
            <a:ext cx="1371600" cy="274320"/>
          </a:xfrm>
          <a:prstGeom prst="rect">
            <a:avLst/>
          </a:prstGeom>
          <a:noFill/>
          <a:ln/>
        </p:spPr>
        <p:txBody>
          <a:bodyPr wrap="square" lIns="0" tIns="0" rIns="0" bIns="0" rtlCol="0" anchor="ctr"/>
          <a:lstStyle/>
          <a:p>
            <a:pPr algn="ctr" indent="0" marL="0">
              <a:buNone/>
            </a:pPr>
            <a:r>
              <a:rPr lang="en-US" sz="1000" b="1" dirty="0">
                <a:solidFill>
                  <a:srgbClr val="9A5B00"/>
                </a:solidFill>
                <a:latin typeface="Calibri" pitchFamily="34" charset="0"/>
                <a:ea typeface="Calibri" pitchFamily="34" charset="-122"/>
                <a:cs typeface="Calibri" pitchFamily="34" charset="-120"/>
              </a:rPr>
              <a:t>PLAN FASE 2</a:t>
            </a:r>
            <a:endParaRPr lang="en-US" sz="1000" dirty="0"/>
          </a:p>
        </p:txBody>
      </p:sp>
      <p:sp>
        <p:nvSpPr>
          <p:cNvPr id="17" name="Text 15"/>
          <p:cNvSpPr txBox="1"/>
          <p:nvPr/>
        </p:nvSpPr>
        <p:spPr>
          <a:xfrm>
            <a:off x="6949440" y="2377440"/>
            <a:ext cx="4480560" cy="41148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Integración multi-ERP</a:t>
            </a:r>
            <a:endParaRPr lang="en-US" sz="1800" dirty="0"/>
          </a:p>
        </p:txBody>
      </p:sp>
      <p:sp>
        <p:nvSpPr>
          <p:cNvPr id="18" name="Text 16"/>
          <p:cNvSpPr txBox="1"/>
          <p:nvPr/>
        </p:nvSpPr>
        <p:spPr>
          <a:xfrm>
            <a:off x="6995160" y="2880360"/>
            <a:ext cx="438912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3"/>
                </a:solidFill>
                <a:latin typeface="Calibri" pitchFamily="34" charset="0"/>
                <a:ea typeface="Calibri" pitchFamily="34" charset="-122"/>
                <a:cs typeface="Calibri" pitchFamily="34" charset="-120"/>
              </a:rPr>
              <a:t>Conectores configurables por el cliente</a:t>
            </a:r>
            <a:endParaRPr lang="en-US" sz="1400" dirty="0"/>
          </a:p>
          <a:p>
            <a:pPr marL="177800" indent="-177800">
              <a:spcAft>
                <a:spcPts val="600"/>
              </a:spcAft>
              <a:buSzPct val="100000"/>
              <a:buChar char="•"/>
            </a:pPr>
            <a:r>
              <a:rPr lang="en-US" sz="1400" dirty="0">
                <a:solidFill>
                  <a:srgbClr val="1F2933"/>
                </a:solidFill>
                <a:latin typeface="Calibri" pitchFamily="34" charset="0"/>
                <a:ea typeface="Calibri" pitchFamily="34" charset="-122"/>
                <a:cs typeface="Calibri" pitchFamily="34" charset="-120"/>
              </a:rPr>
              <a:t>Modelo canónico de fallas y trazabilidad</a:t>
            </a:r>
            <a:endParaRPr lang="en-US" sz="1400" dirty="0"/>
          </a:p>
          <a:p>
            <a:pPr marL="177800" indent="-177800">
              <a:spcAft>
                <a:spcPts val="600"/>
              </a:spcAft>
              <a:buSzPct val="100000"/>
              <a:buChar char="•"/>
            </a:pPr>
            <a:r>
              <a:rPr lang="en-US" sz="1400" dirty="0">
                <a:solidFill>
                  <a:srgbClr val="1F2933"/>
                </a:solidFill>
                <a:latin typeface="Calibri" pitchFamily="34" charset="0"/>
                <a:ea typeface="Calibri" pitchFamily="34" charset="-122"/>
                <a:cs typeface="Calibri" pitchFamily="34" charset="-120"/>
              </a:rPr>
              <a:t>Ingesta idempotente con registro de rechazos</a:t>
            </a:r>
            <a:endParaRPr lang="en-US" sz="1400" dirty="0"/>
          </a:p>
          <a:p>
            <a:pPr marL="177800" indent="-177800">
              <a:spcAft>
                <a:spcPts val="600"/>
              </a:spcAft>
              <a:buSzPct val="100000"/>
              <a:buChar char="•"/>
            </a:pPr>
            <a:r>
              <a:rPr lang="en-US" sz="1400" dirty="0">
                <a:solidFill>
                  <a:srgbClr val="1F2933"/>
                </a:solidFill>
                <a:latin typeface="Calibri" pitchFamily="34" charset="0"/>
                <a:ea typeface="Calibri" pitchFamily="34" charset="-122"/>
                <a:cs typeface="Calibri" pitchFamily="34" charset="-120"/>
              </a:rPr>
              <a:t>Indicadores MTBF y MTTR por máquina</a:t>
            </a:r>
            <a:endParaRPr lang="en-US" sz="1400" dirty="0"/>
          </a:p>
        </p:txBody>
      </p:sp>
      <p:sp>
        <p:nvSpPr>
          <p:cNvPr id="19" name="Text 17"/>
          <p:cNvSpPr txBox="1"/>
          <p:nvPr/>
        </p:nvSpPr>
        <p:spPr>
          <a:xfrm>
            <a:off x="6949440" y="4434840"/>
            <a:ext cx="4572000" cy="548640"/>
          </a:xfrm>
          <a:prstGeom prst="rect">
            <a:avLst/>
          </a:prstGeom>
          <a:noFill/>
          <a:ln/>
        </p:spPr>
        <p:txBody>
          <a:bodyPr wrap="square" lIns="0" tIns="0" rIns="0" bIns="0" rtlCol="0" anchor="t"/>
          <a:lstStyle/>
          <a:p>
            <a:pPr indent="0" marL="0">
              <a:buNone/>
            </a:pPr>
            <a:r>
              <a:rPr lang="en-US" sz="1200" i="1" dirty="0">
                <a:solidFill>
                  <a:srgbClr val="2F855A"/>
                </a:solidFill>
                <a:latin typeface="Calibri" pitchFamily="34" charset="0"/>
                <a:ea typeface="Calibri" pitchFamily="34" charset="-122"/>
                <a:cs typeface="Calibri" pitchFamily="34" charset="-120"/>
              </a:rPr>
              <a:t>Profundiza los objetivos 4 y 5 originales: consolidar el historial y proyectar la mantención.</a:t>
            </a:r>
            <a:endParaRPr lang="en-US" sz="1200" dirty="0"/>
          </a:p>
        </p:txBody>
      </p:sp>
      <p:sp>
        <p:nvSpPr>
          <p:cNvPr id="20" name="Shape 18"/>
          <p:cNvSpPr/>
          <p:nvPr/>
        </p:nvSpPr>
        <p:spPr>
          <a:xfrm>
            <a:off x="548640" y="5394960"/>
            <a:ext cx="11109960" cy="777240"/>
          </a:xfrm>
          <a:prstGeom prst="roundRect">
            <a:avLst>
              <a:gd name="adj" fmla="val 9412"/>
            </a:avLst>
          </a:prstGeom>
          <a:solidFill>
            <a:srgbClr val="E8EFF6"/>
          </a:solidFill>
          <a:ln w="12700">
            <a:solidFill>
              <a:srgbClr val="E8EFF6"/>
            </a:solidFill>
            <a:prstDash val="solid"/>
          </a:ln>
        </p:spPr>
      </p:sp>
      <p:sp>
        <p:nvSpPr>
          <p:cNvPr id="21" name="Shape 19"/>
          <p:cNvSpPr/>
          <p:nvPr/>
        </p:nvSpPr>
        <p:spPr>
          <a:xfrm>
            <a:off x="777240" y="5513832"/>
            <a:ext cx="548640" cy="548640"/>
          </a:xfrm>
          <a:prstGeom prst="ellipse">
            <a:avLst/>
          </a:prstGeom>
          <a:solidFill>
            <a:srgbClr val="2E5A87"/>
          </a:solidFill>
          <a:ln w="12700">
            <a:solidFill>
              <a:srgbClr val="2E5A87"/>
            </a:solidFill>
            <a:prstDash val="solid"/>
          </a:ln>
        </p:spPr>
      </p:sp>
      <p:pic>
        <p:nvPicPr>
          <p:cNvPr id="22" name="Image 0" descr="preencoded.png">    </p:cNvPr>
          <p:cNvPicPr>
            <a:picLocks noChangeAspect="1"/>
          </p:cNvPicPr>
          <p:nvPr/>
        </p:nvPicPr>
        <p:blipFill>
          <a:blip r:embed="rId1"/>
          <a:stretch>
            <a:fillRect/>
          </a:stretch>
        </p:blipFill>
        <p:spPr>
          <a:xfrm>
            <a:off x="897941" y="5634533"/>
            <a:ext cx="307238" cy="307238"/>
          </a:xfrm>
          <a:prstGeom prst="rect">
            <a:avLst/>
          </a:prstGeom>
        </p:spPr>
      </p:pic>
      <p:sp>
        <p:nvSpPr>
          <p:cNvPr id="23" name="Text 20"/>
          <p:cNvSpPr txBox="1"/>
          <p:nvPr/>
        </p:nvSpPr>
        <p:spPr>
          <a:xfrm>
            <a:off x="1508760" y="5394960"/>
            <a:ext cx="9966960" cy="7772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Origen del ajuste: </a:t>
            </a:r>
            <a:pPr indent="0" marL="0">
              <a:buNone/>
            </a:pPr>
            <a:r>
              <a:rPr lang="en-US" sz="1400" dirty="0">
                <a:solidFill>
                  <a:srgbClr val="1F2933"/>
                </a:solidFill>
                <a:latin typeface="Calibri" pitchFamily="34" charset="0"/>
                <a:ea typeface="Calibri" pitchFamily="34" charset="-122"/>
                <a:cs typeface="Calibri" pitchFamily="34" charset="-120"/>
              </a:rPr>
              <a:t>retroalimentación docente (planificar sobre el requerimiento asignado) y revisión del alcance con Alloxentric.</a:t>
            </a:r>
            <a:endParaRPr lang="en-US" sz="1400" dirty="0"/>
          </a:p>
        </p:txBody>
      </p:sp>
      <p:sp>
        <p:nvSpPr>
          <p:cNvPr id="24" name="Text 21"/>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25" name="Text 22"/>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4 / 17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FORMULACIÓN DEL PROYECTO</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Objetivo general</a:t>
            </a:r>
            <a:endParaRPr lang="en-US" sz="2800" dirty="0"/>
          </a:p>
        </p:txBody>
      </p:sp>
      <p:sp>
        <p:nvSpPr>
          <p:cNvPr id="4" name="Shape 2"/>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5" name="Text 3"/>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6" name="Shape 4"/>
          <p:cNvSpPr/>
          <p:nvPr/>
        </p:nvSpPr>
        <p:spPr>
          <a:xfrm>
            <a:off x="548640" y="1463040"/>
            <a:ext cx="11109960" cy="1600200"/>
          </a:xfrm>
          <a:prstGeom prst="roundRect">
            <a:avLst>
              <a:gd name="adj" fmla="val 4571"/>
            </a:avLst>
          </a:prstGeom>
          <a:solidFill>
            <a:srgbClr val="17212B"/>
          </a:solidFill>
          <a:ln w="12700">
            <a:solidFill>
              <a:srgbClr val="17212B"/>
            </a:solidFill>
            <a:prstDash val="solid"/>
          </a:ln>
        </p:spPr>
      </p:sp>
      <p:sp>
        <p:nvSpPr>
          <p:cNvPr id="7" name="Shape 5"/>
          <p:cNvSpPr/>
          <p:nvPr/>
        </p:nvSpPr>
        <p:spPr>
          <a:xfrm>
            <a:off x="822960" y="1920240"/>
            <a:ext cx="685800" cy="685800"/>
          </a:xfrm>
          <a:prstGeom prst="ellipse">
            <a:avLst/>
          </a:prstGeom>
          <a:solidFill>
            <a:srgbClr val="E69B00"/>
          </a:solidFill>
          <a:ln w="12700">
            <a:solidFill>
              <a:srgbClr val="E69B00"/>
            </a:solidFill>
            <a:prstDash val="solid"/>
          </a:ln>
        </p:spPr>
      </p:sp>
      <p:pic>
        <p:nvPicPr>
          <p:cNvPr id="8" name="Image 0" descr="preencoded.png">    </p:cNvPr>
          <p:cNvPicPr>
            <a:picLocks noChangeAspect="1"/>
          </p:cNvPicPr>
          <p:nvPr/>
        </p:nvPicPr>
        <p:blipFill>
          <a:blip r:embed="rId1"/>
          <a:stretch>
            <a:fillRect/>
          </a:stretch>
        </p:blipFill>
        <p:spPr>
          <a:xfrm>
            <a:off x="973836" y="2071116"/>
            <a:ext cx="384048" cy="384048"/>
          </a:xfrm>
          <a:prstGeom prst="rect">
            <a:avLst/>
          </a:prstGeom>
        </p:spPr>
      </p:pic>
      <p:sp>
        <p:nvSpPr>
          <p:cNvPr id="9" name="Text 6"/>
          <p:cNvSpPr txBox="1"/>
          <p:nvPr/>
        </p:nvSpPr>
        <p:spPr>
          <a:xfrm>
            <a:off x="1783080" y="1463040"/>
            <a:ext cx="9601200" cy="16002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Desarrollar e integrar en Barb un módulo de ingesta multi-ERP que consolide los registros de fallas provenientes de sistemas externos en un modelo de datos canónico, habilitando el cálculo de indicadores de confiabilidad que sustentan la anticipación de fallas de maquinaria.</a:t>
            </a:r>
            <a:endParaRPr lang="en-US" sz="1700" dirty="0"/>
          </a:p>
        </p:txBody>
      </p:sp>
      <p:sp>
        <p:nvSpPr>
          <p:cNvPr id="10" name="Shape 7"/>
          <p:cNvSpPr/>
          <p:nvPr/>
        </p:nvSpPr>
        <p:spPr>
          <a:xfrm>
            <a:off x="548640" y="3291840"/>
            <a:ext cx="5458968" cy="2880360"/>
          </a:xfrm>
          <a:prstGeom prst="roundRect">
            <a:avLst>
              <a:gd name="adj" fmla="val 2540"/>
            </a:avLst>
          </a:prstGeom>
          <a:solidFill>
            <a:srgbClr val="FFFFFF"/>
          </a:solidFill>
          <a:ln w="12700">
            <a:solidFill>
              <a:srgbClr val="DDE3EA"/>
            </a:solidFill>
            <a:prstDash val="solid"/>
          </a:ln>
        </p:spPr>
      </p:sp>
      <p:sp>
        <p:nvSpPr>
          <p:cNvPr id="11" name="Shape 8"/>
          <p:cNvSpPr/>
          <p:nvPr/>
        </p:nvSpPr>
        <p:spPr>
          <a:xfrm>
            <a:off x="822960" y="3520440"/>
            <a:ext cx="548640" cy="548640"/>
          </a:xfrm>
          <a:prstGeom prst="ellipse">
            <a:avLst/>
          </a:prstGeom>
          <a:solidFill>
            <a:srgbClr val="E3F2EA"/>
          </a:solidFill>
          <a:ln w="12700">
            <a:solidFill>
              <a:srgbClr val="E3F2EA"/>
            </a:solidFill>
            <a:prstDash val="solid"/>
          </a:ln>
        </p:spPr>
      </p:sp>
      <p:pic>
        <p:nvPicPr>
          <p:cNvPr id="12" name="Image 1" descr="preencoded.png">    </p:cNvPr>
          <p:cNvPicPr>
            <a:picLocks noChangeAspect="1"/>
          </p:cNvPicPr>
          <p:nvPr/>
        </p:nvPicPr>
        <p:blipFill>
          <a:blip r:embed="rId2"/>
          <a:stretch>
            <a:fillRect/>
          </a:stretch>
        </p:blipFill>
        <p:spPr>
          <a:xfrm>
            <a:off x="943661" y="3641141"/>
            <a:ext cx="307238" cy="307238"/>
          </a:xfrm>
          <a:prstGeom prst="rect">
            <a:avLst/>
          </a:prstGeom>
        </p:spPr>
      </p:pic>
      <p:sp>
        <p:nvSpPr>
          <p:cNvPr id="13" name="Text 9"/>
          <p:cNvSpPr txBox="1"/>
          <p:nvPr/>
        </p:nvSpPr>
        <p:spPr>
          <a:xfrm>
            <a:off x="1508760" y="3520440"/>
            <a:ext cx="4206240" cy="54864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El impacto</a:t>
            </a:r>
            <a:endParaRPr lang="en-US" sz="1900" dirty="0"/>
          </a:p>
        </p:txBody>
      </p:sp>
      <p:sp>
        <p:nvSpPr>
          <p:cNvPr id="14" name="Text 10"/>
          <p:cNvSpPr txBox="1"/>
          <p:nvPr/>
        </p:nvSpPr>
        <p:spPr>
          <a:xfrm>
            <a:off x="868680" y="4297680"/>
            <a:ext cx="4892040" cy="1783080"/>
          </a:xfrm>
          <a:prstGeom prst="rect">
            <a:avLst/>
          </a:prstGeom>
          <a:noFill/>
          <a:ln/>
        </p:spPr>
        <p:txBody>
          <a:bodyPr wrap="square" lIns="0" tIns="0" rIns="0" bIns="0" rtlCol="0" anchor="t"/>
          <a:lstStyle/>
          <a:p>
            <a:pPr marL="177800" indent="-1778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El historial de fallas se consolida sin que el cliente cambie su ERP.</a:t>
            </a:r>
            <a:endParaRPr lang="en-US" sz="1600" dirty="0"/>
          </a:p>
          <a:p>
            <a:pPr marL="177800" indent="-1778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Cada máquina tiene indicadores de confiabilidad comparables.</a:t>
            </a:r>
            <a:endParaRPr lang="en-US" sz="1600" dirty="0"/>
          </a:p>
          <a:p>
            <a:pPr marL="177800" indent="-1778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La predicción parte con datos desde el primer día.</a:t>
            </a:r>
            <a:endParaRPr lang="en-US" sz="1600" dirty="0"/>
          </a:p>
        </p:txBody>
      </p:sp>
      <p:sp>
        <p:nvSpPr>
          <p:cNvPr id="15" name="Shape 11"/>
          <p:cNvSpPr/>
          <p:nvPr/>
        </p:nvSpPr>
        <p:spPr>
          <a:xfrm>
            <a:off x="6199632" y="3291840"/>
            <a:ext cx="5458968" cy="2880360"/>
          </a:xfrm>
          <a:prstGeom prst="roundRect">
            <a:avLst>
              <a:gd name="adj" fmla="val 2540"/>
            </a:avLst>
          </a:prstGeom>
          <a:solidFill>
            <a:srgbClr val="FFFFFF"/>
          </a:solidFill>
          <a:ln w="12700">
            <a:solidFill>
              <a:srgbClr val="DDE3EA"/>
            </a:solidFill>
            <a:prstDash val="solid"/>
          </a:ln>
        </p:spPr>
      </p:sp>
      <p:sp>
        <p:nvSpPr>
          <p:cNvPr id="16" name="Shape 12"/>
          <p:cNvSpPr/>
          <p:nvPr/>
        </p:nvSpPr>
        <p:spPr>
          <a:xfrm>
            <a:off x="6473952" y="3520440"/>
            <a:ext cx="548640" cy="548640"/>
          </a:xfrm>
          <a:prstGeom prst="ellipse">
            <a:avLst/>
          </a:prstGeom>
          <a:solidFill>
            <a:srgbClr val="E4EEF9"/>
          </a:solidFill>
          <a:ln w="12700">
            <a:solidFill>
              <a:srgbClr val="E4EEF9"/>
            </a:solidFill>
            <a:prstDash val="solid"/>
          </a:ln>
        </p:spPr>
      </p:sp>
      <p:pic>
        <p:nvPicPr>
          <p:cNvPr id="17" name="Image 2" descr="preencoded.png">    </p:cNvPr>
          <p:cNvPicPr>
            <a:picLocks noChangeAspect="1"/>
          </p:cNvPicPr>
          <p:nvPr/>
        </p:nvPicPr>
        <p:blipFill>
          <a:blip r:embed="rId3"/>
          <a:stretch>
            <a:fillRect/>
          </a:stretch>
        </p:blipFill>
        <p:spPr>
          <a:xfrm>
            <a:off x="6594653" y="3641141"/>
            <a:ext cx="307238" cy="307238"/>
          </a:xfrm>
          <a:prstGeom prst="rect">
            <a:avLst/>
          </a:prstGeom>
        </p:spPr>
      </p:pic>
      <p:sp>
        <p:nvSpPr>
          <p:cNvPr id="18" name="Text 13"/>
          <p:cNvSpPr txBox="1"/>
          <p:nvPr/>
        </p:nvSpPr>
        <p:spPr>
          <a:xfrm>
            <a:off x="7159752" y="3520440"/>
            <a:ext cx="4206240" cy="54864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El medio</a:t>
            </a:r>
            <a:endParaRPr lang="en-US" sz="1900" dirty="0"/>
          </a:p>
        </p:txBody>
      </p:sp>
      <p:sp>
        <p:nvSpPr>
          <p:cNvPr id="19" name="Text 14"/>
          <p:cNvSpPr txBox="1"/>
          <p:nvPr/>
        </p:nvSpPr>
        <p:spPr>
          <a:xfrm>
            <a:off x="6519672" y="4297680"/>
            <a:ext cx="4892040" cy="1783080"/>
          </a:xfrm>
          <a:prstGeom prst="rect">
            <a:avLst/>
          </a:prstGeom>
          <a:noFill/>
          <a:ln/>
        </p:spPr>
        <p:txBody>
          <a:bodyPr wrap="square" lIns="0" tIns="0" rIns="0" bIns="0" rtlCol="0" anchor="t"/>
          <a:lstStyle/>
          <a:p>
            <a:pPr marL="177800" indent="-1778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Conectores por ERP con una interfaz común.</a:t>
            </a:r>
            <a:endParaRPr lang="en-US" sz="1600" dirty="0"/>
          </a:p>
          <a:p>
            <a:pPr marL="177800" indent="-1778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Modelo canónico con traducción de códigos por tablas.</a:t>
            </a:r>
            <a:endParaRPr lang="en-US" sz="1600" dirty="0"/>
          </a:p>
          <a:p>
            <a:pPr marL="177800" indent="-177800">
              <a:spcAft>
                <a:spcPts val="1400"/>
              </a:spcAft>
              <a:buSzPct val="100000"/>
              <a:buChar char="•"/>
            </a:pPr>
            <a:r>
              <a:rPr lang="en-US" sz="1600" dirty="0">
                <a:solidFill>
                  <a:srgbClr val="1F2933"/>
                </a:solidFill>
                <a:latin typeface="Calibri" pitchFamily="34" charset="0"/>
                <a:ea typeface="Calibri" pitchFamily="34" charset="-122"/>
                <a:cs typeface="Calibri" pitchFamily="34" charset="-120"/>
              </a:rPr>
              <a:t>Ingesta idempotente y gestión de conectores con control por rol.</a:t>
            </a:r>
            <a:endParaRPr lang="en-US" sz="1600" dirty="0"/>
          </a:p>
        </p:txBody>
      </p:sp>
      <p:sp>
        <p:nvSpPr>
          <p:cNvPr id="20" name="Text 15"/>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21" name="Text 16"/>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5 / 17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OBJETIVOS ESPECÍFICOS</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Seis metas de ingeniería para cumplir el objetivo general</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Estado al informe de avance</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737360"/>
            <a:ext cx="3611880" cy="2103120"/>
          </a:xfrm>
          <a:prstGeom prst="roundRect">
            <a:avLst>
              <a:gd name="adj" fmla="val 3478"/>
            </a:avLst>
          </a:prstGeom>
          <a:solidFill>
            <a:srgbClr val="FFFFFF"/>
          </a:solidFill>
          <a:ln w="12700">
            <a:solidFill>
              <a:srgbClr val="DDE3EA"/>
            </a:solidFill>
            <a:prstDash val="solid"/>
          </a:ln>
        </p:spPr>
      </p:sp>
      <p:sp>
        <p:nvSpPr>
          <p:cNvPr id="8" name="Text 6"/>
          <p:cNvSpPr txBox="1"/>
          <p:nvPr/>
        </p:nvSpPr>
        <p:spPr>
          <a:xfrm>
            <a:off x="822960" y="1965960"/>
            <a:ext cx="822960" cy="502920"/>
          </a:xfrm>
          <a:prstGeom prst="rect">
            <a:avLst/>
          </a:prstGeom>
          <a:noFill/>
          <a:ln/>
        </p:spPr>
        <p:txBody>
          <a:bodyPr wrap="square" lIns="0" tIns="0" rIns="0" bIns="0" rtlCol="0" anchor="t"/>
          <a:lstStyle/>
          <a:p>
            <a:pPr indent="0" marL="0">
              <a:buNone/>
            </a:pPr>
            <a:r>
              <a:rPr lang="en-US" sz="2800" b="1" dirty="0">
                <a:solidFill>
                  <a:srgbClr val="E69B00"/>
                </a:solidFill>
                <a:latin typeface="Calibri" pitchFamily="34" charset="0"/>
                <a:ea typeface="Calibri" pitchFamily="34" charset="-122"/>
                <a:cs typeface="Calibri" pitchFamily="34" charset="-120"/>
              </a:rPr>
              <a:t>01</a:t>
            </a:r>
            <a:endParaRPr lang="en-US" sz="2800" dirty="0"/>
          </a:p>
        </p:txBody>
      </p:sp>
      <p:sp>
        <p:nvSpPr>
          <p:cNvPr id="9" name="Text 7"/>
          <p:cNvSpPr txBox="1"/>
          <p:nvPr/>
        </p:nvSpPr>
        <p:spPr>
          <a:xfrm>
            <a:off x="1600200" y="1965960"/>
            <a:ext cx="2286000" cy="50292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Analizar</a:t>
            </a:r>
            <a:endParaRPr lang="en-US" sz="1900" dirty="0"/>
          </a:p>
        </p:txBody>
      </p:sp>
      <p:sp>
        <p:nvSpPr>
          <p:cNvPr id="10" name="Shape 8"/>
          <p:cNvSpPr/>
          <p:nvPr/>
        </p:nvSpPr>
        <p:spPr>
          <a:xfrm>
            <a:off x="822960" y="3364992"/>
            <a:ext cx="1051560" cy="274320"/>
          </a:xfrm>
          <a:prstGeom prst="roundRect">
            <a:avLst>
              <a:gd name="adj" fmla="val 50000"/>
            </a:avLst>
          </a:prstGeom>
          <a:solidFill>
            <a:srgbClr val="E3F2EA"/>
          </a:solidFill>
          <a:ln w="12700">
            <a:solidFill>
              <a:srgbClr val="E3F2EA"/>
            </a:solidFill>
            <a:prstDash val="solid"/>
          </a:ln>
        </p:spPr>
      </p:sp>
      <p:sp>
        <p:nvSpPr>
          <p:cNvPr id="11" name="Text 9"/>
          <p:cNvSpPr txBox="1"/>
          <p:nvPr/>
        </p:nvSpPr>
        <p:spPr>
          <a:xfrm>
            <a:off x="822960" y="3364992"/>
            <a:ext cx="1051560" cy="274320"/>
          </a:xfrm>
          <a:prstGeom prst="rect">
            <a:avLst/>
          </a:prstGeom>
          <a:noFill/>
          <a:ln/>
        </p:spPr>
        <p:txBody>
          <a:bodyPr wrap="square" lIns="0" tIns="0" rIns="0" bIns="0" rtlCol="0" anchor="ctr"/>
          <a:lstStyle/>
          <a:p>
            <a:pPr algn="ctr" indent="0" marL="0">
              <a:buNone/>
            </a:pPr>
            <a:r>
              <a:rPr lang="en-US" sz="1000" b="1" dirty="0">
                <a:solidFill>
                  <a:srgbClr val="2F855A"/>
                </a:solidFill>
                <a:latin typeface="Calibri" pitchFamily="34" charset="0"/>
                <a:ea typeface="Calibri" pitchFamily="34" charset="-122"/>
                <a:cs typeface="Calibri" pitchFamily="34" charset="-120"/>
              </a:rPr>
              <a:t>CUMPLIDO</a:t>
            </a:r>
            <a:endParaRPr lang="en-US" sz="1000" dirty="0"/>
          </a:p>
        </p:txBody>
      </p:sp>
      <p:sp>
        <p:nvSpPr>
          <p:cNvPr id="12" name="Text 10"/>
          <p:cNvSpPr txBox="1"/>
          <p:nvPr/>
        </p:nvSpPr>
        <p:spPr>
          <a:xfrm>
            <a:off x="822960" y="2560320"/>
            <a:ext cx="3108960"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estructura de fallas y OT de SAP PM y Oracle EAM, y definir el modelo canónico.</a:t>
            </a:r>
            <a:endParaRPr lang="en-US" sz="1500" dirty="0"/>
          </a:p>
        </p:txBody>
      </p:sp>
      <p:sp>
        <p:nvSpPr>
          <p:cNvPr id="13" name="Shape 11"/>
          <p:cNvSpPr/>
          <p:nvPr/>
        </p:nvSpPr>
        <p:spPr>
          <a:xfrm>
            <a:off x="4297680" y="1737360"/>
            <a:ext cx="3611880" cy="2103120"/>
          </a:xfrm>
          <a:prstGeom prst="roundRect">
            <a:avLst>
              <a:gd name="adj" fmla="val 3478"/>
            </a:avLst>
          </a:prstGeom>
          <a:solidFill>
            <a:srgbClr val="FFFFFF"/>
          </a:solidFill>
          <a:ln w="12700">
            <a:solidFill>
              <a:srgbClr val="DDE3EA"/>
            </a:solidFill>
            <a:prstDash val="solid"/>
          </a:ln>
        </p:spPr>
      </p:sp>
      <p:sp>
        <p:nvSpPr>
          <p:cNvPr id="14" name="Text 12"/>
          <p:cNvSpPr txBox="1"/>
          <p:nvPr/>
        </p:nvSpPr>
        <p:spPr>
          <a:xfrm>
            <a:off x="4572000" y="1965960"/>
            <a:ext cx="822960" cy="502920"/>
          </a:xfrm>
          <a:prstGeom prst="rect">
            <a:avLst/>
          </a:prstGeom>
          <a:noFill/>
          <a:ln/>
        </p:spPr>
        <p:txBody>
          <a:bodyPr wrap="square" lIns="0" tIns="0" rIns="0" bIns="0" rtlCol="0" anchor="t"/>
          <a:lstStyle/>
          <a:p>
            <a:pPr indent="0" marL="0">
              <a:buNone/>
            </a:pPr>
            <a:r>
              <a:rPr lang="en-US" sz="2800" b="1" dirty="0">
                <a:solidFill>
                  <a:srgbClr val="E69B00"/>
                </a:solidFill>
                <a:latin typeface="Calibri" pitchFamily="34" charset="0"/>
                <a:ea typeface="Calibri" pitchFamily="34" charset="-122"/>
                <a:cs typeface="Calibri" pitchFamily="34" charset="-120"/>
              </a:rPr>
              <a:t>02</a:t>
            </a:r>
            <a:endParaRPr lang="en-US" sz="2800" dirty="0"/>
          </a:p>
        </p:txBody>
      </p:sp>
      <p:sp>
        <p:nvSpPr>
          <p:cNvPr id="15" name="Text 13"/>
          <p:cNvSpPr txBox="1"/>
          <p:nvPr/>
        </p:nvSpPr>
        <p:spPr>
          <a:xfrm>
            <a:off x="5349240" y="1965960"/>
            <a:ext cx="2286000" cy="50292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Extender</a:t>
            </a:r>
            <a:endParaRPr lang="en-US" sz="1900" dirty="0"/>
          </a:p>
        </p:txBody>
      </p:sp>
      <p:sp>
        <p:nvSpPr>
          <p:cNvPr id="16" name="Shape 14"/>
          <p:cNvSpPr/>
          <p:nvPr/>
        </p:nvSpPr>
        <p:spPr>
          <a:xfrm>
            <a:off x="4572000" y="3364992"/>
            <a:ext cx="1051560" cy="274320"/>
          </a:xfrm>
          <a:prstGeom prst="roundRect">
            <a:avLst>
              <a:gd name="adj" fmla="val 50000"/>
            </a:avLst>
          </a:prstGeom>
          <a:solidFill>
            <a:srgbClr val="E3F2EA"/>
          </a:solidFill>
          <a:ln w="12700">
            <a:solidFill>
              <a:srgbClr val="E3F2EA"/>
            </a:solidFill>
            <a:prstDash val="solid"/>
          </a:ln>
        </p:spPr>
      </p:sp>
      <p:sp>
        <p:nvSpPr>
          <p:cNvPr id="17" name="Text 15"/>
          <p:cNvSpPr txBox="1"/>
          <p:nvPr/>
        </p:nvSpPr>
        <p:spPr>
          <a:xfrm>
            <a:off x="4572000" y="3364992"/>
            <a:ext cx="1051560" cy="274320"/>
          </a:xfrm>
          <a:prstGeom prst="rect">
            <a:avLst/>
          </a:prstGeom>
          <a:noFill/>
          <a:ln/>
        </p:spPr>
        <p:txBody>
          <a:bodyPr wrap="square" lIns="0" tIns="0" rIns="0" bIns="0" rtlCol="0" anchor="ctr"/>
          <a:lstStyle/>
          <a:p>
            <a:pPr algn="ctr" indent="0" marL="0">
              <a:buNone/>
            </a:pPr>
            <a:r>
              <a:rPr lang="en-US" sz="1000" b="1" dirty="0">
                <a:solidFill>
                  <a:srgbClr val="2F855A"/>
                </a:solidFill>
                <a:latin typeface="Calibri" pitchFamily="34" charset="0"/>
                <a:ea typeface="Calibri" pitchFamily="34" charset="-122"/>
                <a:cs typeface="Calibri" pitchFamily="34" charset="-120"/>
              </a:rPr>
              <a:t>CUMPLIDO</a:t>
            </a:r>
            <a:endParaRPr lang="en-US" sz="1000" dirty="0"/>
          </a:p>
        </p:txBody>
      </p:sp>
      <p:sp>
        <p:nvSpPr>
          <p:cNvPr id="18" name="Text 16"/>
          <p:cNvSpPr txBox="1"/>
          <p:nvPr/>
        </p:nvSpPr>
        <p:spPr>
          <a:xfrm>
            <a:off x="4572000" y="2560320"/>
            <a:ext cx="3108960"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El modelo de datos de Barb sin afectar la operación existente.</a:t>
            </a:r>
            <a:endParaRPr lang="en-US" sz="1500" dirty="0"/>
          </a:p>
        </p:txBody>
      </p:sp>
      <p:sp>
        <p:nvSpPr>
          <p:cNvPr id="19" name="Shape 17"/>
          <p:cNvSpPr/>
          <p:nvPr/>
        </p:nvSpPr>
        <p:spPr>
          <a:xfrm>
            <a:off x="8046720" y="1737360"/>
            <a:ext cx="3611880" cy="2103120"/>
          </a:xfrm>
          <a:prstGeom prst="roundRect">
            <a:avLst>
              <a:gd name="adj" fmla="val 3478"/>
            </a:avLst>
          </a:prstGeom>
          <a:solidFill>
            <a:srgbClr val="FFFFFF"/>
          </a:solidFill>
          <a:ln w="12700">
            <a:solidFill>
              <a:srgbClr val="DDE3EA"/>
            </a:solidFill>
            <a:prstDash val="solid"/>
          </a:ln>
        </p:spPr>
      </p:sp>
      <p:sp>
        <p:nvSpPr>
          <p:cNvPr id="20" name="Text 18"/>
          <p:cNvSpPr txBox="1"/>
          <p:nvPr/>
        </p:nvSpPr>
        <p:spPr>
          <a:xfrm>
            <a:off x="8321040" y="1965960"/>
            <a:ext cx="822960" cy="502920"/>
          </a:xfrm>
          <a:prstGeom prst="rect">
            <a:avLst/>
          </a:prstGeom>
          <a:noFill/>
          <a:ln/>
        </p:spPr>
        <p:txBody>
          <a:bodyPr wrap="square" lIns="0" tIns="0" rIns="0" bIns="0" rtlCol="0" anchor="t"/>
          <a:lstStyle/>
          <a:p>
            <a:pPr indent="0" marL="0">
              <a:buNone/>
            </a:pPr>
            <a:r>
              <a:rPr lang="en-US" sz="2800" b="1" dirty="0">
                <a:solidFill>
                  <a:srgbClr val="E69B00"/>
                </a:solidFill>
                <a:latin typeface="Calibri" pitchFamily="34" charset="0"/>
                <a:ea typeface="Calibri" pitchFamily="34" charset="-122"/>
                <a:cs typeface="Calibri" pitchFamily="34" charset="-120"/>
              </a:rPr>
              <a:t>03</a:t>
            </a:r>
            <a:endParaRPr lang="en-US" sz="2800" dirty="0"/>
          </a:p>
        </p:txBody>
      </p:sp>
      <p:sp>
        <p:nvSpPr>
          <p:cNvPr id="21" name="Text 19"/>
          <p:cNvSpPr txBox="1"/>
          <p:nvPr/>
        </p:nvSpPr>
        <p:spPr>
          <a:xfrm>
            <a:off x="9098280" y="1965960"/>
            <a:ext cx="2286000" cy="50292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Implementar</a:t>
            </a:r>
            <a:endParaRPr lang="en-US" sz="1900" dirty="0"/>
          </a:p>
        </p:txBody>
      </p:sp>
      <p:sp>
        <p:nvSpPr>
          <p:cNvPr id="22" name="Shape 20"/>
          <p:cNvSpPr/>
          <p:nvPr/>
        </p:nvSpPr>
        <p:spPr>
          <a:xfrm>
            <a:off x="8321040" y="3364992"/>
            <a:ext cx="1051560" cy="274320"/>
          </a:xfrm>
          <a:prstGeom prst="roundRect">
            <a:avLst>
              <a:gd name="adj" fmla="val 50000"/>
            </a:avLst>
          </a:prstGeom>
          <a:solidFill>
            <a:srgbClr val="EDF0F3"/>
          </a:solidFill>
          <a:ln w="12700">
            <a:solidFill>
              <a:srgbClr val="EDF0F3"/>
            </a:solidFill>
            <a:prstDash val="solid"/>
          </a:ln>
        </p:spPr>
      </p:sp>
      <p:sp>
        <p:nvSpPr>
          <p:cNvPr id="23" name="Text 21"/>
          <p:cNvSpPr txBox="1"/>
          <p:nvPr/>
        </p:nvSpPr>
        <p:spPr>
          <a:xfrm>
            <a:off x="8321040" y="3364992"/>
            <a:ext cx="1051560" cy="274320"/>
          </a:xfrm>
          <a:prstGeom prst="rect">
            <a:avLst/>
          </a:prstGeom>
          <a:noFill/>
          <a:ln/>
        </p:spPr>
        <p:txBody>
          <a:bodyPr wrap="square" lIns="0" tIns="0" rIns="0" bIns="0" rtlCol="0" anchor="ctr"/>
          <a:lstStyle/>
          <a:p>
            <a:pPr algn="ctr" indent="0" marL="0">
              <a:buNone/>
            </a:pPr>
            <a:r>
              <a:rPr lang="en-US" sz="1000" b="1" dirty="0">
                <a:solidFill>
                  <a:srgbClr val="5B6770"/>
                </a:solidFill>
                <a:latin typeface="Calibri" pitchFamily="34" charset="0"/>
                <a:ea typeface="Calibri" pitchFamily="34" charset="-122"/>
                <a:cs typeface="Calibri" pitchFamily="34" charset="-120"/>
              </a:rPr>
              <a:t>PENDIENTE</a:t>
            </a:r>
            <a:endParaRPr lang="en-US" sz="1000" dirty="0"/>
          </a:p>
        </p:txBody>
      </p:sp>
      <p:sp>
        <p:nvSpPr>
          <p:cNvPr id="24" name="Text 22"/>
          <p:cNvSpPr txBox="1"/>
          <p:nvPr/>
        </p:nvSpPr>
        <p:spPr>
          <a:xfrm>
            <a:off x="8321040" y="2560320"/>
            <a:ext cx="3108960"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 conector de referencia y la ingesta idempotente con rechazos.</a:t>
            </a:r>
            <a:endParaRPr lang="en-US" sz="1500" dirty="0"/>
          </a:p>
        </p:txBody>
      </p:sp>
      <p:sp>
        <p:nvSpPr>
          <p:cNvPr id="25" name="Shape 23"/>
          <p:cNvSpPr/>
          <p:nvPr/>
        </p:nvSpPr>
        <p:spPr>
          <a:xfrm>
            <a:off x="548640" y="4023360"/>
            <a:ext cx="3611880" cy="2103120"/>
          </a:xfrm>
          <a:prstGeom prst="roundRect">
            <a:avLst>
              <a:gd name="adj" fmla="val 3478"/>
            </a:avLst>
          </a:prstGeom>
          <a:solidFill>
            <a:srgbClr val="FFFFFF"/>
          </a:solidFill>
          <a:ln w="12700">
            <a:solidFill>
              <a:srgbClr val="DDE3EA"/>
            </a:solidFill>
            <a:prstDash val="solid"/>
          </a:ln>
        </p:spPr>
      </p:sp>
      <p:sp>
        <p:nvSpPr>
          <p:cNvPr id="26" name="Text 24"/>
          <p:cNvSpPr txBox="1"/>
          <p:nvPr/>
        </p:nvSpPr>
        <p:spPr>
          <a:xfrm>
            <a:off x="822960" y="4251960"/>
            <a:ext cx="822960" cy="502920"/>
          </a:xfrm>
          <a:prstGeom prst="rect">
            <a:avLst/>
          </a:prstGeom>
          <a:noFill/>
          <a:ln/>
        </p:spPr>
        <p:txBody>
          <a:bodyPr wrap="square" lIns="0" tIns="0" rIns="0" bIns="0" rtlCol="0" anchor="t"/>
          <a:lstStyle/>
          <a:p>
            <a:pPr indent="0" marL="0">
              <a:buNone/>
            </a:pPr>
            <a:r>
              <a:rPr lang="en-US" sz="2800" b="1" dirty="0">
                <a:solidFill>
                  <a:srgbClr val="E69B00"/>
                </a:solidFill>
                <a:latin typeface="Calibri" pitchFamily="34" charset="0"/>
                <a:ea typeface="Calibri" pitchFamily="34" charset="-122"/>
                <a:cs typeface="Calibri" pitchFamily="34" charset="-120"/>
              </a:rPr>
              <a:t>04</a:t>
            </a:r>
            <a:endParaRPr lang="en-US" sz="2800" dirty="0"/>
          </a:p>
        </p:txBody>
      </p:sp>
      <p:sp>
        <p:nvSpPr>
          <p:cNvPr id="27" name="Text 25"/>
          <p:cNvSpPr txBox="1"/>
          <p:nvPr/>
        </p:nvSpPr>
        <p:spPr>
          <a:xfrm>
            <a:off x="1600200" y="4251960"/>
            <a:ext cx="2286000" cy="50292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Desarrollar</a:t>
            </a:r>
            <a:endParaRPr lang="en-US" sz="1900" dirty="0"/>
          </a:p>
        </p:txBody>
      </p:sp>
      <p:sp>
        <p:nvSpPr>
          <p:cNvPr id="28" name="Shape 26"/>
          <p:cNvSpPr/>
          <p:nvPr/>
        </p:nvSpPr>
        <p:spPr>
          <a:xfrm>
            <a:off x="822960" y="5650992"/>
            <a:ext cx="1051560" cy="274320"/>
          </a:xfrm>
          <a:prstGeom prst="roundRect">
            <a:avLst>
              <a:gd name="adj" fmla="val 50000"/>
            </a:avLst>
          </a:prstGeom>
          <a:solidFill>
            <a:srgbClr val="E4EEF9"/>
          </a:solidFill>
          <a:ln w="12700">
            <a:solidFill>
              <a:srgbClr val="E4EEF9"/>
            </a:solidFill>
            <a:prstDash val="solid"/>
          </a:ln>
        </p:spPr>
      </p:sp>
      <p:sp>
        <p:nvSpPr>
          <p:cNvPr id="29" name="Text 27"/>
          <p:cNvSpPr txBox="1"/>
          <p:nvPr/>
        </p:nvSpPr>
        <p:spPr>
          <a:xfrm>
            <a:off x="822960" y="5650992"/>
            <a:ext cx="1051560" cy="274320"/>
          </a:xfrm>
          <a:prstGeom prst="rect">
            <a:avLst/>
          </a:prstGeom>
          <a:noFill/>
          <a:ln/>
        </p:spPr>
        <p:txBody>
          <a:bodyPr wrap="square" lIns="0" tIns="0" rIns="0" bIns="0" rtlCol="0" anchor="ctr"/>
          <a:lstStyle/>
          <a:p>
            <a:pPr algn="ctr" indent="0" marL="0">
              <a:buNone/>
            </a:pPr>
            <a:r>
              <a:rPr lang="en-US" sz="1000" b="1" dirty="0">
                <a:solidFill>
                  <a:srgbClr val="2B6CB0"/>
                </a:solidFill>
                <a:latin typeface="Calibri" pitchFamily="34" charset="0"/>
                <a:ea typeface="Calibri" pitchFamily="34" charset="-122"/>
                <a:cs typeface="Calibri" pitchFamily="34" charset="-120"/>
              </a:rPr>
              <a:t>EN CURSO</a:t>
            </a:r>
            <a:endParaRPr lang="en-US" sz="1000" dirty="0"/>
          </a:p>
        </p:txBody>
      </p:sp>
      <p:sp>
        <p:nvSpPr>
          <p:cNvPr id="30" name="Text 28"/>
          <p:cNvSpPr txBox="1"/>
          <p:nvPr/>
        </p:nvSpPr>
        <p:spPr>
          <a:xfrm>
            <a:off x="822960" y="4846320"/>
            <a:ext cx="3108960"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gestión de conectores en la interfaz, con control de acceso por rol.</a:t>
            </a:r>
            <a:endParaRPr lang="en-US" sz="1500" dirty="0"/>
          </a:p>
        </p:txBody>
      </p:sp>
      <p:sp>
        <p:nvSpPr>
          <p:cNvPr id="31" name="Shape 29"/>
          <p:cNvSpPr/>
          <p:nvPr/>
        </p:nvSpPr>
        <p:spPr>
          <a:xfrm>
            <a:off x="4297680" y="4023360"/>
            <a:ext cx="3611880" cy="2103120"/>
          </a:xfrm>
          <a:prstGeom prst="roundRect">
            <a:avLst>
              <a:gd name="adj" fmla="val 3478"/>
            </a:avLst>
          </a:prstGeom>
          <a:solidFill>
            <a:srgbClr val="FFFFFF"/>
          </a:solidFill>
          <a:ln w="12700">
            <a:solidFill>
              <a:srgbClr val="DDE3EA"/>
            </a:solidFill>
            <a:prstDash val="solid"/>
          </a:ln>
        </p:spPr>
      </p:sp>
      <p:sp>
        <p:nvSpPr>
          <p:cNvPr id="32" name="Text 30"/>
          <p:cNvSpPr txBox="1"/>
          <p:nvPr/>
        </p:nvSpPr>
        <p:spPr>
          <a:xfrm>
            <a:off x="4572000" y="4251960"/>
            <a:ext cx="822960" cy="502920"/>
          </a:xfrm>
          <a:prstGeom prst="rect">
            <a:avLst/>
          </a:prstGeom>
          <a:noFill/>
          <a:ln/>
        </p:spPr>
        <p:txBody>
          <a:bodyPr wrap="square" lIns="0" tIns="0" rIns="0" bIns="0" rtlCol="0" anchor="t"/>
          <a:lstStyle/>
          <a:p>
            <a:pPr indent="0" marL="0">
              <a:buNone/>
            </a:pPr>
            <a:r>
              <a:rPr lang="en-US" sz="2800" b="1" dirty="0">
                <a:solidFill>
                  <a:srgbClr val="E69B00"/>
                </a:solidFill>
                <a:latin typeface="Calibri" pitchFamily="34" charset="0"/>
                <a:ea typeface="Calibri" pitchFamily="34" charset="-122"/>
                <a:cs typeface="Calibri" pitchFamily="34" charset="-120"/>
              </a:rPr>
              <a:t>05</a:t>
            </a:r>
            <a:endParaRPr lang="en-US" sz="2800" dirty="0"/>
          </a:p>
        </p:txBody>
      </p:sp>
      <p:sp>
        <p:nvSpPr>
          <p:cNvPr id="33" name="Text 31"/>
          <p:cNvSpPr txBox="1"/>
          <p:nvPr/>
        </p:nvSpPr>
        <p:spPr>
          <a:xfrm>
            <a:off x="5349240" y="4251960"/>
            <a:ext cx="2286000" cy="50292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Calcular</a:t>
            </a:r>
            <a:endParaRPr lang="en-US" sz="1900" dirty="0"/>
          </a:p>
        </p:txBody>
      </p:sp>
      <p:sp>
        <p:nvSpPr>
          <p:cNvPr id="34" name="Shape 32"/>
          <p:cNvSpPr/>
          <p:nvPr/>
        </p:nvSpPr>
        <p:spPr>
          <a:xfrm>
            <a:off x="4572000" y="5650992"/>
            <a:ext cx="1051560" cy="274320"/>
          </a:xfrm>
          <a:prstGeom prst="roundRect">
            <a:avLst>
              <a:gd name="adj" fmla="val 50000"/>
            </a:avLst>
          </a:prstGeom>
          <a:solidFill>
            <a:srgbClr val="EDF0F3"/>
          </a:solidFill>
          <a:ln w="12700">
            <a:solidFill>
              <a:srgbClr val="EDF0F3"/>
            </a:solidFill>
            <a:prstDash val="solid"/>
          </a:ln>
        </p:spPr>
      </p:sp>
      <p:sp>
        <p:nvSpPr>
          <p:cNvPr id="35" name="Text 33"/>
          <p:cNvSpPr txBox="1"/>
          <p:nvPr/>
        </p:nvSpPr>
        <p:spPr>
          <a:xfrm>
            <a:off x="4572000" y="5650992"/>
            <a:ext cx="1051560" cy="274320"/>
          </a:xfrm>
          <a:prstGeom prst="rect">
            <a:avLst/>
          </a:prstGeom>
          <a:noFill/>
          <a:ln/>
        </p:spPr>
        <p:txBody>
          <a:bodyPr wrap="square" lIns="0" tIns="0" rIns="0" bIns="0" rtlCol="0" anchor="ctr"/>
          <a:lstStyle/>
          <a:p>
            <a:pPr algn="ctr" indent="0" marL="0">
              <a:buNone/>
            </a:pPr>
            <a:r>
              <a:rPr lang="en-US" sz="1000" b="1" dirty="0">
                <a:solidFill>
                  <a:srgbClr val="5B6770"/>
                </a:solidFill>
                <a:latin typeface="Calibri" pitchFamily="34" charset="0"/>
                <a:ea typeface="Calibri" pitchFamily="34" charset="-122"/>
                <a:cs typeface="Calibri" pitchFamily="34" charset="-120"/>
              </a:rPr>
              <a:t>PENDIENTE</a:t>
            </a:r>
            <a:endParaRPr lang="en-US" sz="1000" dirty="0"/>
          </a:p>
        </p:txBody>
      </p:sp>
      <p:sp>
        <p:nvSpPr>
          <p:cNvPr id="36" name="Text 34"/>
          <p:cNvSpPr txBox="1"/>
          <p:nvPr/>
        </p:nvSpPr>
        <p:spPr>
          <a:xfrm>
            <a:off x="4572000" y="4846320"/>
            <a:ext cx="3108960"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Los indicadores MTBF y MTTR por máquina.</a:t>
            </a:r>
            <a:endParaRPr lang="en-US" sz="1500" dirty="0"/>
          </a:p>
        </p:txBody>
      </p:sp>
      <p:sp>
        <p:nvSpPr>
          <p:cNvPr id="37" name="Shape 35"/>
          <p:cNvSpPr/>
          <p:nvPr/>
        </p:nvSpPr>
        <p:spPr>
          <a:xfrm>
            <a:off x="8046720" y="4023360"/>
            <a:ext cx="3611880" cy="2103120"/>
          </a:xfrm>
          <a:prstGeom prst="roundRect">
            <a:avLst>
              <a:gd name="adj" fmla="val 3478"/>
            </a:avLst>
          </a:prstGeom>
          <a:solidFill>
            <a:srgbClr val="FFFFFF"/>
          </a:solidFill>
          <a:ln w="12700">
            <a:solidFill>
              <a:srgbClr val="DDE3EA"/>
            </a:solidFill>
            <a:prstDash val="solid"/>
          </a:ln>
        </p:spPr>
      </p:sp>
      <p:sp>
        <p:nvSpPr>
          <p:cNvPr id="38" name="Text 36"/>
          <p:cNvSpPr txBox="1"/>
          <p:nvPr/>
        </p:nvSpPr>
        <p:spPr>
          <a:xfrm>
            <a:off x="8321040" y="4251960"/>
            <a:ext cx="822960" cy="502920"/>
          </a:xfrm>
          <a:prstGeom prst="rect">
            <a:avLst/>
          </a:prstGeom>
          <a:noFill/>
          <a:ln/>
        </p:spPr>
        <p:txBody>
          <a:bodyPr wrap="square" lIns="0" tIns="0" rIns="0" bIns="0" rtlCol="0" anchor="t"/>
          <a:lstStyle/>
          <a:p>
            <a:pPr indent="0" marL="0">
              <a:buNone/>
            </a:pPr>
            <a:r>
              <a:rPr lang="en-US" sz="2800" b="1" dirty="0">
                <a:solidFill>
                  <a:srgbClr val="E69B00"/>
                </a:solidFill>
                <a:latin typeface="Calibri" pitchFamily="34" charset="0"/>
                <a:ea typeface="Calibri" pitchFamily="34" charset="-122"/>
                <a:cs typeface="Calibri" pitchFamily="34" charset="-120"/>
              </a:rPr>
              <a:t>06</a:t>
            </a:r>
            <a:endParaRPr lang="en-US" sz="2800" dirty="0"/>
          </a:p>
        </p:txBody>
      </p:sp>
      <p:sp>
        <p:nvSpPr>
          <p:cNvPr id="39" name="Text 37"/>
          <p:cNvSpPr txBox="1"/>
          <p:nvPr/>
        </p:nvSpPr>
        <p:spPr>
          <a:xfrm>
            <a:off x="9098280" y="4251960"/>
            <a:ext cx="2286000" cy="50292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Validar</a:t>
            </a:r>
            <a:endParaRPr lang="en-US" sz="1900" dirty="0"/>
          </a:p>
        </p:txBody>
      </p:sp>
      <p:sp>
        <p:nvSpPr>
          <p:cNvPr id="40" name="Shape 38"/>
          <p:cNvSpPr/>
          <p:nvPr/>
        </p:nvSpPr>
        <p:spPr>
          <a:xfrm>
            <a:off x="8321040" y="5650992"/>
            <a:ext cx="1051560" cy="274320"/>
          </a:xfrm>
          <a:prstGeom prst="roundRect">
            <a:avLst>
              <a:gd name="adj" fmla="val 50000"/>
            </a:avLst>
          </a:prstGeom>
          <a:solidFill>
            <a:srgbClr val="EDF0F3"/>
          </a:solidFill>
          <a:ln w="12700">
            <a:solidFill>
              <a:srgbClr val="EDF0F3"/>
            </a:solidFill>
            <a:prstDash val="solid"/>
          </a:ln>
        </p:spPr>
      </p:sp>
      <p:sp>
        <p:nvSpPr>
          <p:cNvPr id="41" name="Text 39"/>
          <p:cNvSpPr txBox="1"/>
          <p:nvPr/>
        </p:nvSpPr>
        <p:spPr>
          <a:xfrm>
            <a:off x="8321040" y="5650992"/>
            <a:ext cx="1051560" cy="274320"/>
          </a:xfrm>
          <a:prstGeom prst="rect">
            <a:avLst/>
          </a:prstGeom>
          <a:noFill/>
          <a:ln/>
        </p:spPr>
        <p:txBody>
          <a:bodyPr wrap="square" lIns="0" tIns="0" rIns="0" bIns="0" rtlCol="0" anchor="ctr"/>
          <a:lstStyle/>
          <a:p>
            <a:pPr algn="ctr" indent="0" marL="0">
              <a:buNone/>
            </a:pPr>
            <a:r>
              <a:rPr lang="en-US" sz="1000" b="1" dirty="0">
                <a:solidFill>
                  <a:srgbClr val="5B6770"/>
                </a:solidFill>
                <a:latin typeface="Calibri" pitchFamily="34" charset="0"/>
                <a:ea typeface="Calibri" pitchFamily="34" charset="-122"/>
                <a:cs typeface="Calibri" pitchFamily="34" charset="-120"/>
              </a:rPr>
              <a:t>PENDIENTE</a:t>
            </a:r>
            <a:endParaRPr lang="en-US" sz="1000" dirty="0"/>
          </a:p>
        </p:txBody>
      </p:sp>
      <p:sp>
        <p:nvSpPr>
          <p:cNvPr id="42" name="Text 40"/>
          <p:cNvSpPr txBox="1"/>
          <p:nvPr/>
        </p:nvSpPr>
        <p:spPr>
          <a:xfrm>
            <a:off x="8321040" y="4846320"/>
            <a:ext cx="3108960"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solución con pruebas automatizadas y revisión con Alloxentric.</a:t>
            </a:r>
            <a:endParaRPr lang="en-US" sz="1500" dirty="0"/>
          </a:p>
        </p:txBody>
      </p:sp>
      <p:sp>
        <p:nvSpPr>
          <p:cNvPr id="43" name="Text 41"/>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44" name="Text 42"/>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6 / 17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FRONTERAS DEL PROYECTO</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Alcance y delimitaciones</a:t>
            </a:r>
            <a:endParaRPr lang="en-US" sz="2800" dirty="0"/>
          </a:p>
        </p:txBody>
      </p:sp>
      <p:sp>
        <p:nvSpPr>
          <p:cNvPr id="4" name="Shape 2"/>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5" name="Text 3"/>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6" name="Shape 4"/>
          <p:cNvSpPr/>
          <p:nvPr/>
        </p:nvSpPr>
        <p:spPr>
          <a:xfrm>
            <a:off x="548640" y="1554480"/>
            <a:ext cx="3611880" cy="2194560"/>
          </a:xfrm>
          <a:prstGeom prst="roundRect">
            <a:avLst>
              <a:gd name="adj" fmla="val 3333"/>
            </a:avLst>
          </a:prstGeom>
          <a:solidFill>
            <a:srgbClr val="FFFFFF"/>
          </a:solidFill>
          <a:ln w="12700">
            <a:solidFill>
              <a:srgbClr val="DDE3EA"/>
            </a:solidFill>
            <a:prstDash val="solid"/>
          </a:ln>
        </p:spPr>
      </p:sp>
      <p:sp>
        <p:nvSpPr>
          <p:cNvPr id="7" name="Shape 5"/>
          <p:cNvSpPr/>
          <p:nvPr/>
        </p:nvSpPr>
        <p:spPr>
          <a:xfrm>
            <a:off x="822960" y="1828800"/>
            <a:ext cx="548640" cy="548640"/>
          </a:xfrm>
          <a:prstGeom prst="ellipse">
            <a:avLst/>
          </a:prstGeom>
          <a:solidFill>
            <a:srgbClr val="FDF3DC"/>
          </a:solidFill>
          <a:ln w="12700">
            <a:solidFill>
              <a:srgbClr val="FDF3DC"/>
            </a:solidFill>
            <a:prstDash val="solid"/>
          </a:ln>
        </p:spPr>
      </p:sp>
      <p:pic>
        <p:nvPicPr>
          <p:cNvPr id="8" name="Image 0" descr="preencoded.png">    </p:cNvPr>
          <p:cNvPicPr>
            <a:picLocks noChangeAspect="1"/>
          </p:cNvPicPr>
          <p:nvPr/>
        </p:nvPicPr>
        <p:blipFill>
          <a:blip r:embed="rId1"/>
          <a:stretch>
            <a:fillRect/>
          </a:stretch>
        </p:blipFill>
        <p:spPr>
          <a:xfrm>
            <a:off x="943661" y="1949501"/>
            <a:ext cx="307238" cy="307238"/>
          </a:xfrm>
          <a:prstGeom prst="rect">
            <a:avLst/>
          </a:prstGeom>
        </p:spPr>
      </p:pic>
      <p:sp>
        <p:nvSpPr>
          <p:cNvPr id="9" name="Text 6"/>
          <p:cNvSpPr txBox="1"/>
          <p:nvPr/>
        </p:nvSpPr>
        <p:spPr>
          <a:xfrm>
            <a:off x="1508760" y="1828800"/>
            <a:ext cx="251460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Conectores por empresa</a:t>
            </a:r>
            <a:endParaRPr lang="en-US" sz="1700" dirty="0"/>
          </a:p>
        </p:txBody>
      </p:sp>
      <p:sp>
        <p:nvSpPr>
          <p:cNvPr id="10" name="Text 7"/>
          <p:cNvSpPr txBox="1"/>
          <p:nvPr/>
        </p:nvSpPr>
        <p:spPr>
          <a:xfrm>
            <a:off x="822960" y="2514600"/>
            <a:ext cx="310896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Cada empresa configura sus conectores desde la interfaz; el administrador gestiona credenciales y frecuencia de sincronización.</a:t>
            </a:r>
            <a:endParaRPr lang="en-US" sz="1300" dirty="0"/>
          </a:p>
        </p:txBody>
      </p:sp>
      <p:sp>
        <p:nvSpPr>
          <p:cNvPr id="11" name="Shape 8"/>
          <p:cNvSpPr/>
          <p:nvPr/>
        </p:nvSpPr>
        <p:spPr>
          <a:xfrm>
            <a:off x="4297680" y="1554480"/>
            <a:ext cx="3611880" cy="2194560"/>
          </a:xfrm>
          <a:prstGeom prst="roundRect">
            <a:avLst>
              <a:gd name="adj" fmla="val 3333"/>
            </a:avLst>
          </a:prstGeom>
          <a:solidFill>
            <a:srgbClr val="FFFFFF"/>
          </a:solidFill>
          <a:ln w="12700">
            <a:solidFill>
              <a:srgbClr val="DDE3EA"/>
            </a:solidFill>
            <a:prstDash val="solid"/>
          </a:ln>
        </p:spPr>
      </p:sp>
      <p:sp>
        <p:nvSpPr>
          <p:cNvPr id="12" name="Shape 9"/>
          <p:cNvSpPr/>
          <p:nvPr/>
        </p:nvSpPr>
        <p:spPr>
          <a:xfrm>
            <a:off x="4572000" y="1828800"/>
            <a:ext cx="548640" cy="548640"/>
          </a:xfrm>
          <a:prstGeom prst="ellipse">
            <a:avLst/>
          </a:prstGeom>
          <a:solidFill>
            <a:srgbClr val="FDF3DC"/>
          </a:solidFill>
          <a:ln w="12700">
            <a:solidFill>
              <a:srgbClr val="FDF3DC"/>
            </a:solidFill>
            <a:prstDash val="solid"/>
          </a:ln>
        </p:spPr>
      </p:sp>
      <p:pic>
        <p:nvPicPr>
          <p:cNvPr id="13" name="Image 1" descr="preencoded.png">    </p:cNvPr>
          <p:cNvPicPr>
            <a:picLocks noChangeAspect="1"/>
          </p:cNvPicPr>
          <p:nvPr/>
        </p:nvPicPr>
        <p:blipFill>
          <a:blip r:embed="rId2"/>
          <a:stretch>
            <a:fillRect/>
          </a:stretch>
        </p:blipFill>
        <p:spPr>
          <a:xfrm>
            <a:off x="4692701" y="1949501"/>
            <a:ext cx="307238" cy="307238"/>
          </a:xfrm>
          <a:prstGeom prst="rect">
            <a:avLst/>
          </a:prstGeom>
        </p:spPr>
      </p:pic>
      <p:sp>
        <p:nvSpPr>
          <p:cNvPr id="14" name="Text 10"/>
          <p:cNvSpPr txBox="1"/>
          <p:nvPr/>
        </p:nvSpPr>
        <p:spPr>
          <a:xfrm>
            <a:off x="5257800" y="1828800"/>
            <a:ext cx="251460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Fuentes de datos</a:t>
            </a:r>
            <a:endParaRPr lang="en-US" sz="1700" dirty="0"/>
          </a:p>
        </p:txBody>
      </p:sp>
      <p:sp>
        <p:nvSpPr>
          <p:cNvPr id="15" name="Text 11"/>
          <p:cNvSpPr txBox="1"/>
          <p:nvPr/>
        </p:nvSpPr>
        <p:spPr>
          <a:xfrm>
            <a:off x="4572000" y="2514600"/>
            <a:ext cx="310896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Diseño para SAP PM, Oracle EAM y CSV. Se implementa un conector de referencia sobre una fuente simulada.</a:t>
            </a:r>
            <a:endParaRPr lang="en-US" sz="1300" dirty="0"/>
          </a:p>
        </p:txBody>
      </p:sp>
      <p:sp>
        <p:nvSpPr>
          <p:cNvPr id="16" name="Shape 12"/>
          <p:cNvSpPr/>
          <p:nvPr/>
        </p:nvSpPr>
        <p:spPr>
          <a:xfrm>
            <a:off x="8046720" y="1554480"/>
            <a:ext cx="3611880" cy="2194560"/>
          </a:xfrm>
          <a:prstGeom prst="roundRect">
            <a:avLst>
              <a:gd name="adj" fmla="val 3333"/>
            </a:avLst>
          </a:prstGeom>
          <a:solidFill>
            <a:srgbClr val="FFFFFF"/>
          </a:solidFill>
          <a:ln w="12700">
            <a:solidFill>
              <a:srgbClr val="DDE3EA"/>
            </a:solidFill>
            <a:prstDash val="solid"/>
          </a:ln>
        </p:spPr>
      </p:sp>
      <p:sp>
        <p:nvSpPr>
          <p:cNvPr id="17" name="Shape 13"/>
          <p:cNvSpPr/>
          <p:nvPr/>
        </p:nvSpPr>
        <p:spPr>
          <a:xfrm>
            <a:off x="8321040" y="1828800"/>
            <a:ext cx="548640" cy="548640"/>
          </a:xfrm>
          <a:prstGeom prst="ellipse">
            <a:avLst/>
          </a:prstGeom>
          <a:solidFill>
            <a:srgbClr val="FDF3DC"/>
          </a:solidFill>
          <a:ln w="12700">
            <a:solidFill>
              <a:srgbClr val="FDF3DC"/>
            </a:solidFill>
            <a:prstDash val="solid"/>
          </a:ln>
        </p:spPr>
      </p:sp>
      <p:pic>
        <p:nvPicPr>
          <p:cNvPr id="18" name="Image 2" descr="preencoded.png">    </p:cNvPr>
          <p:cNvPicPr>
            <a:picLocks noChangeAspect="1"/>
          </p:cNvPicPr>
          <p:nvPr/>
        </p:nvPicPr>
        <p:blipFill>
          <a:blip r:embed="rId3"/>
          <a:stretch>
            <a:fillRect/>
          </a:stretch>
        </p:blipFill>
        <p:spPr>
          <a:xfrm>
            <a:off x="8441741" y="1949501"/>
            <a:ext cx="307238" cy="307238"/>
          </a:xfrm>
          <a:prstGeom prst="rect">
            <a:avLst/>
          </a:prstGeom>
        </p:spPr>
      </p:pic>
      <p:sp>
        <p:nvSpPr>
          <p:cNvPr id="19" name="Text 14"/>
          <p:cNvSpPr txBox="1"/>
          <p:nvPr/>
        </p:nvSpPr>
        <p:spPr>
          <a:xfrm>
            <a:off x="9006840" y="1828800"/>
            <a:ext cx="251460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Modelo canónico</a:t>
            </a:r>
            <a:endParaRPr lang="en-US" sz="1700" dirty="0"/>
          </a:p>
        </p:txBody>
      </p:sp>
      <p:sp>
        <p:nvSpPr>
          <p:cNvPr id="20" name="Text 15"/>
          <p:cNvSpPr txBox="1"/>
          <p:nvPr/>
        </p:nvSpPr>
        <p:spPr>
          <a:xfrm>
            <a:off x="8321040" y="2514600"/>
            <a:ext cx="310896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Eventos de falla, catálogos de modo y causa, mapeo de códigos y trazabilidad por lote.</a:t>
            </a:r>
            <a:endParaRPr lang="en-US" sz="1300" dirty="0"/>
          </a:p>
        </p:txBody>
      </p:sp>
      <p:sp>
        <p:nvSpPr>
          <p:cNvPr id="21" name="Shape 16"/>
          <p:cNvSpPr/>
          <p:nvPr/>
        </p:nvSpPr>
        <p:spPr>
          <a:xfrm>
            <a:off x="548640" y="3931920"/>
            <a:ext cx="3611880" cy="2194560"/>
          </a:xfrm>
          <a:prstGeom prst="roundRect">
            <a:avLst>
              <a:gd name="adj" fmla="val 3333"/>
            </a:avLst>
          </a:prstGeom>
          <a:solidFill>
            <a:srgbClr val="FFFFFF"/>
          </a:solidFill>
          <a:ln w="12700">
            <a:solidFill>
              <a:srgbClr val="DDE3EA"/>
            </a:solidFill>
            <a:prstDash val="solid"/>
          </a:ln>
        </p:spPr>
      </p:sp>
      <p:sp>
        <p:nvSpPr>
          <p:cNvPr id="22" name="Shape 17"/>
          <p:cNvSpPr/>
          <p:nvPr/>
        </p:nvSpPr>
        <p:spPr>
          <a:xfrm>
            <a:off x="822960" y="4206240"/>
            <a:ext cx="548640" cy="548640"/>
          </a:xfrm>
          <a:prstGeom prst="ellipse">
            <a:avLst/>
          </a:prstGeom>
          <a:solidFill>
            <a:srgbClr val="FDF3DC"/>
          </a:solidFill>
          <a:ln w="12700">
            <a:solidFill>
              <a:srgbClr val="FDF3DC"/>
            </a:solidFill>
            <a:prstDash val="solid"/>
          </a:ln>
        </p:spPr>
      </p:sp>
      <p:pic>
        <p:nvPicPr>
          <p:cNvPr id="23" name="Image 3" descr="preencoded.png">    </p:cNvPr>
          <p:cNvPicPr>
            <a:picLocks noChangeAspect="1"/>
          </p:cNvPicPr>
          <p:nvPr/>
        </p:nvPicPr>
        <p:blipFill>
          <a:blip r:embed="rId4"/>
          <a:stretch>
            <a:fillRect/>
          </a:stretch>
        </p:blipFill>
        <p:spPr>
          <a:xfrm>
            <a:off x="943661" y="4326941"/>
            <a:ext cx="307238" cy="307238"/>
          </a:xfrm>
          <a:prstGeom prst="rect">
            <a:avLst/>
          </a:prstGeom>
        </p:spPr>
      </p:pic>
      <p:sp>
        <p:nvSpPr>
          <p:cNvPr id="24" name="Text 18"/>
          <p:cNvSpPr txBox="1"/>
          <p:nvPr/>
        </p:nvSpPr>
        <p:spPr>
          <a:xfrm>
            <a:off x="1508760" y="4206240"/>
            <a:ext cx="251460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Indicadores</a:t>
            </a:r>
            <a:endParaRPr lang="en-US" sz="1700" dirty="0"/>
          </a:p>
        </p:txBody>
      </p:sp>
      <p:sp>
        <p:nvSpPr>
          <p:cNvPr id="25" name="Text 19"/>
          <p:cNvSpPr txBox="1"/>
          <p:nvPr/>
        </p:nvSpPr>
        <p:spPr>
          <a:xfrm>
            <a:off x="822960" y="4892040"/>
            <a:ext cx="310896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MTBF y MTTR por máquina calculados desde los eventos consolidados.</a:t>
            </a:r>
            <a:endParaRPr lang="en-US" sz="1300" dirty="0"/>
          </a:p>
        </p:txBody>
      </p:sp>
      <p:sp>
        <p:nvSpPr>
          <p:cNvPr id="26" name="Shape 20"/>
          <p:cNvSpPr/>
          <p:nvPr/>
        </p:nvSpPr>
        <p:spPr>
          <a:xfrm>
            <a:off x="4297680" y="3931920"/>
            <a:ext cx="3611880" cy="2194560"/>
          </a:xfrm>
          <a:prstGeom prst="roundRect">
            <a:avLst>
              <a:gd name="adj" fmla="val 3333"/>
            </a:avLst>
          </a:prstGeom>
          <a:solidFill>
            <a:srgbClr val="EDF0F3"/>
          </a:solidFill>
          <a:ln w="12700">
            <a:solidFill>
              <a:srgbClr val="EDF0F3"/>
            </a:solidFill>
            <a:prstDash val="solid"/>
          </a:ln>
        </p:spPr>
      </p:sp>
      <p:sp>
        <p:nvSpPr>
          <p:cNvPr id="27" name="Shape 21"/>
          <p:cNvSpPr/>
          <p:nvPr/>
        </p:nvSpPr>
        <p:spPr>
          <a:xfrm>
            <a:off x="4572000" y="4206240"/>
            <a:ext cx="548640" cy="548640"/>
          </a:xfrm>
          <a:prstGeom prst="ellipse">
            <a:avLst/>
          </a:prstGeom>
          <a:solidFill>
            <a:srgbClr val="D5DBE1"/>
          </a:solidFill>
          <a:ln w="12700">
            <a:solidFill>
              <a:srgbClr val="D5DBE1"/>
            </a:solidFill>
            <a:prstDash val="solid"/>
          </a:ln>
        </p:spPr>
      </p:sp>
      <p:pic>
        <p:nvPicPr>
          <p:cNvPr id="28" name="Image 4" descr="preencoded.png">    </p:cNvPr>
          <p:cNvPicPr>
            <a:picLocks noChangeAspect="1"/>
          </p:cNvPicPr>
          <p:nvPr/>
        </p:nvPicPr>
        <p:blipFill>
          <a:blip r:embed="rId5"/>
          <a:stretch>
            <a:fillRect/>
          </a:stretch>
        </p:blipFill>
        <p:spPr>
          <a:xfrm>
            <a:off x="4692701" y="4326941"/>
            <a:ext cx="307238" cy="307238"/>
          </a:xfrm>
          <a:prstGeom prst="rect">
            <a:avLst/>
          </a:prstGeom>
        </p:spPr>
      </p:pic>
      <p:sp>
        <p:nvSpPr>
          <p:cNvPr id="29" name="Text 22"/>
          <p:cNvSpPr txBox="1"/>
          <p:nvPr/>
        </p:nvSpPr>
        <p:spPr>
          <a:xfrm>
            <a:off x="5257800" y="4206240"/>
            <a:ext cx="251460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Fuera de alcance</a:t>
            </a:r>
            <a:endParaRPr lang="en-US" sz="1700" dirty="0"/>
          </a:p>
        </p:txBody>
      </p:sp>
      <p:sp>
        <p:nvSpPr>
          <p:cNvPr id="30" name="Text 23"/>
          <p:cNvSpPr txBox="1"/>
          <p:nvPr/>
        </p:nvSpPr>
        <p:spPr>
          <a:xfrm>
            <a:off x="4572000" y="4892040"/>
            <a:ext cx="3108960" cy="114300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Módulos ya existentes (OT, activos, topología, consulta documental) y el modelo predictivo avanzado.</a:t>
            </a:r>
            <a:endParaRPr lang="en-US" sz="1300" dirty="0"/>
          </a:p>
        </p:txBody>
      </p:sp>
      <p:sp>
        <p:nvSpPr>
          <p:cNvPr id="31" name="Shape 24"/>
          <p:cNvSpPr/>
          <p:nvPr/>
        </p:nvSpPr>
        <p:spPr>
          <a:xfrm>
            <a:off x="8046720" y="3931920"/>
            <a:ext cx="3611880" cy="2194560"/>
          </a:xfrm>
          <a:prstGeom prst="roundRect">
            <a:avLst>
              <a:gd name="adj" fmla="val 3333"/>
            </a:avLst>
          </a:prstGeom>
          <a:solidFill>
            <a:srgbClr val="EDF0F3"/>
          </a:solidFill>
          <a:ln w="12700">
            <a:solidFill>
              <a:srgbClr val="EDF0F3"/>
            </a:solidFill>
            <a:prstDash val="solid"/>
          </a:ln>
        </p:spPr>
      </p:sp>
      <p:sp>
        <p:nvSpPr>
          <p:cNvPr id="32" name="Shape 25"/>
          <p:cNvSpPr/>
          <p:nvPr/>
        </p:nvSpPr>
        <p:spPr>
          <a:xfrm>
            <a:off x="8321040" y="4206240"/>
            <a:ext cx="548640" cy="548640"/>
          </a:xfrm>
          <a:prstGeom prst="ellipse">
            <a:avLst/>
          </a:prstGeom>
          <a:solidFill>
            <a:srgbClr val="D5DBE1"/>
          </a:solidFill>
          <a:ln w="12700">
            <a:solidFill>
              <a:srgbClr val="D5DBE1"/>
            </a:solidFill>
            <a:prstDash val="solid"/>
          </a:ln>
        </p:spPr>
      </p:sp>
      <p:pic>
        <p:nvPicPr>
          <p:cNvPr id="33" name="Image 5" descr="preencoded.png">    </p:cNvPr>
          <p:cNvPicPr>
            <a:picLocks noChangeAspect="1"/>
          </p:cNvPicPr>
          <p:nvPr/>
        </p:nvPicPr>
        <p:blipFill>
          <a:blip r:embed="rId6"/>
          <a:stretch>
            <a:fillRect/>
          </a:stretch>
        </p:blipFill>
        <p:spPr>
          <a:xfrm>
            <a:off x="8441741" y="4326941"/>
            <a:ext cx="307238" cy="307238"/>
          </a:xfrm>
          <a:prstGeom prst="rect">
            <a:avLst/>
          </a:prstGeom>
        </p:spPr>
      </p:pic>
      <p:sp>
        <p:nvSpPr>
          <p:cNvPr id="34" name="Text 26"/>
          <p:cNvSpPr txBox="1"/>
          <p:nvPr/>
        </p:nvSpPr>
        <p:spPr>
          <a:xfrm>
            <a:off x="9006840" y="4206240"/>
            <a:ext cx="251460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Restricciones</a:t>
            </a:r>
            <a:endParaRPr lang="en-US" sz="1700" dirty="0"/>
          </a:p>
        </p:txBody>
      </p:sp>
      <p:sp>
        <p:nvSpPr>
          <p:cNvPr id="35" name="Text 27"/>
          <p:cNvSpPr txBox="1"/>
          <p:nvPr/>
        </p:nvSpPr>
        <p:spPr>
          <a:xfrm>
            <a:off x="8321040" y="4892040"/>
            <a:ext cx="3108960" cy="114300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Sin acceso a un ERP real; los cambios al modelo de datos deben ser solo aditivos.</a:t>
            </a:r>
            <a:endParaRPr lang="en-US" sz="1300" dirty="0"/>
          </a:p>
        </p:txBody>
      </p:sp>
      <p:sp>
        <p:nvSpPr>
          <p:cNvPr id="36" name="Text 28"/>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37" name="Text 29"/>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7 / 17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ESPECIFICACIÓN DE INGENIERÍA</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Requerimientos funcionales y no funcionales</a:t>
            </a:r>
            <a:endParaRPr lang="en-US" sz="2800" dirty="0"/>
          </a:p>
        </p:txBody>
      </p:sp>
      <p:sp>
        <p:nvSpPr>
          <p:cNvPr id="4" name="Shape 2"/>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5" name="Text 3"/>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6" name="Shape 4"/>
          <p:cNvSpPr/>
          <p:nvPr/>
        </p:nvSpPr>
        <p:spPr>
          <a:xfrm>
            <a:off x="548640" y="1508760"/>
            <a:ext cx="5458968" cy="4663440"/>
          </a:xfrm>
          <a:prstGeom prst="roundRect">
            <a:avLst>
              <a:gd name="adj" fmla="val 1569"/>
            </a:avLst>
          </a:prstGeom>
          <a:solidFill>
            <a:srgbClr val="FFFFFF"/>
          </a:solidFill>
          <a:ln w="12700">
            <a:solidFill>
              <a:srgbClr val="DDE3EA"/>
            </a:solidFill>
            <a:prstDash val="solid"/>
          </a:ln>
        </p:spPr>
      </p:sp>
      <p:sp>
        <p:nvSpPr>
          <p:cNvPr id="7" name="Text 5"/>
          <p:cNvSpPr txBox="1"/>
          <p:nvPr/>
        </p:nvSpPr>
        <p:spPr>
          <a:xfrm>
            <a:off x="822960" y="1645920"/>
            <a:ext cx="4937760" cy="365760"/>
          </a:xfrm>
          <a:prstGeom prst="rect">
            <a:avLst/>
          </a:prstGeom>
          <a:noFill/>
          <a:ln/>
        </p:spPr>
        <p:txBody>
          <a:bodyPr wrap="square" lIns="0" tIns="0" rIns="0" bIns="0" rtlCol="0" anchor="t"/>
          <a:lstStyle/>
          <a:p>
            <a:pPr indent="0" marL="0">
              <a:buNone/>
            </a:pPr>
            <a:r>
              <a:rPr lang="en-US" sz="1400" b="1" spc="100" kern="0" dirty="0">
                <a:solidFill>
                  <a:srgbClr val="9A5B00"/>
                </a:solidFill>
                <a:latin typeface="Calibri" pitchFamily="34" charset="0"/>
                <a:ea typeface="Calibri" pitchFamily="34" charset="-122"/>
                <a:cs typeface="Calibri" pitchFamily="34" charset="-120"/>
              </a:rPr>
              <a:t>REQUERIMIENTOS FUNCIONALES (RF)</a:t>
            </a:r>
            <a:endParaRPr lang="en-US" sz="1400" dirty="0"/>
          </a:p>
        </p:txBody>
      </p:sp>
      <p:sp>
        <p:nvSpPr>
          <p:cNvPr id="8" name="Shape 6"/>
          <p:cNvSpPr/>
          <p:nvPr/>
        </p:nvSpPr>
        <p:spPr>
          <a:xfrm>
            <a:off x="822960" y="2157984"/>
            <a:ext cx="777240" cy="329184"/>
          </a:xfrm>
          <a:prstGeom prst="roundRect">
            <a:avLst>
              <a:gd name="adj" fmla="val 16667"/>
            </a:avLst>
          </a:prstGeom>
          <a:solidFill>
            <a:srgbClr val="FDF3DC"/>
          </a:solidFill>
          <a:ln w="12700">
            <a:solidFill>
              <a:srgbClr val="FDF3DC"/>
            </a:solidFill>
            <a:prstDash val="solid"/>
          </a:ln>
        </p:spPr>
      </p:sp>
      <p:sp>
        <p:nvSpPr>
          <p:cNvPr id="9" name="Text 7"/>
          <p:cNvSpPr txBox="1"/>
          <p:nvPr/>
        </p:nvSpPr>
        <p:spPr>
          <a:xfrm>
            <a:off x="822960" y="2157984"/>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RF-01</a:t>
            </a:r>
            <a:endParaRPr lang="en-US" sz="1100" dirty="0"/>
          </a:p>
        </p:txBody>
      </p:sp>
      <p:sp>
        <p:nvSpPr>
          <p:cNvPr id="10" name="Text 8"/>
          <p:cNvSpPr txBox="1"/>
          <p:nvPr/>
        </p:nvSpPr>
        <p:spPr>
          <a:xfrm>
            <a:off x="1737360" y="2103120"/>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Configurar conectores ERP desde la interfaz</a:t>
            </a:r>
            <a:endParaRPr lang="en-US" sz="1300" dirty="0"/>
          </a:p>
        </p:txBody>
      </p:sp>
      <p:sp>
        <p:nvSpPr>
          <p:cNvPr id="11" name="Shape 9"/>
          <p:cNvSpPr/>
          <p:nvPr/>
        </p:nvSpPr>
        <p:spPr>
          <a:xfrm>
            <a:off x="822960" y="2651760"/>
            <a:ext cx="777240" cy="329184"/>
          </a:xfrm>
          <a:prstGeom prst="roundRect">
            <a:avLst>
              <a:gd name="adj" fmla="val 16667"/>
            </a:avLst>
          </a:prstGeom>
          <a:solidFill>
            <a:srgbClr val="FDF3DC"/>
          </a:solidFill>
          <a:ln w="12700">
            <a:solidFill>
              <a:srgbClr val="FDF3DC"/>
            </a:solidFill>
            <a:prstDash val="solid"/>
          </a:ln>
        </p:spPr>
      </p:sp>
      <p:sp>
        <p:nvSpPr>
          <p:cNvPr id="12" name="Text 10"/>
          <p:cNvSpPr txBox="1"/>
          <p:nvPr/>
        </p:nvSpPr>
        <p:spPr>
          <a:xfrm>
            <a:off x="822960" y="2651760"/>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RF-02</a:t>
            </a:r>
            <a:endParaRPr lang="en-US" sz="1100" dirty="0"/>
          </a:p>
        </p:txBody>
      </p:sp>
      <p:sp>
        <p:nvSpPr>
          <p:cNvPr id="13" name="Text 11"/>
          <p:cNvSpPr txBox="1"/>
          <p:nvPr/>
        </p:nvSpPr>
        <p:spPr>
          <a:xfrm>
            <a:off x="1737360" y="2596896"/>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Seleccionar el conector activo por usuario</a:t>
            </a:r>
            <a:endParaRPr lang="en-US" sz="1300" dirty="0"/>
          </a:p>
        </p:txBody>
      </p:sp>
      <p:sp>
        <p:nvSpPr>
          <p:cNvPr id="14" name="Shape 12"/>
          <p:cNvSpPr/>
          <p:nvPr/>
        </p:nvSpPr>
        <p:spPr>
          <a:xfrm>
            <a:off x="822960" y="3145536"/>
            <a:ext cx="777240" cy="329184"/>
          </a:xfrm>
          <a:prstGeom prst="roundRect">
            <a:avLst>
              <a:gd name="adj" fmla="val 16667"/>
            </a:avLst>
          </a:prstGeom>
          <a:solidFill>
            <a:srgbClr val="FDF3DC"/>
          </a:solidFill>
          <a:ln w="12700">
            <a:solidFill>
              <a:srgbClr val="FDF3DC"/>
            </a:solidFill>
            <a:prstDash val="solid"/>
          </a:ln>
        </p:spPr>
      </p:sp>
      <p:sp>
        <p:nvSpPr>
          <p:cNvPr id="15" name="Text 13"/>
          <p:cNvSpPr txBox="1"/>
          <p:nvPr/>
        </p:nvSpPr>
        <p:spPr>
          <a:xfrm>
            <a:off x="822960" y="3145536"/>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RF-03</a:t>
            </a:r>
            <a:endParaRPr lang="en-US" sz="1100" dirty="0"/>
          </a:p>
        </p:txBody>
      </p:sp>
      <p:sp>
        <p:nvSpPr>
          <p:cNvPr id="16" name="Text 14"/>
          <p:cNvSpPr txBox="1"/>
          <p:nvPr/>
        </p:nvSpPr>
        <p:spPr>
          <a:xfrm>
            <a:off x="1737360" y="3090672"/>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Extraer fallas, OT y activos desde el ERP</a:t>
            </a:r>
            <a:endParaRPr lang="en-US" sz="1300" dirty="0"/>
          </a:p>
        </p:txBody>
      </p:sp>
      <p:sp>
        <p:nvSpPr>
          <p:cNvPr id="17" name="Shape 15"/>
          <p:cNvSpPr/>
          <p:nvPr/>
        </p:nvSpPr>
        <p:spPr>
          <a:xfrm>
            <a:off x="822960" y="3639312"/>
            <a:ext cx="777240" cy="329184"/>
          </a:xfrm>
          <a:prstGeom prst="roundRect">
            <a:avLst>
              <a:gd name="adj" fmla="val 16667"/>
            </a:avLst>
          </a:prstGeom>
          <a:solidFill>
            <a:srgbClr val="FDF3DC"/>
          </a:solidFill>
          <a:ln w="12700">
            <a:solidFill>
              <a:srgbClr val="FDF3DC"/>
            </a:solidFill>
            <a:prstDash val="solid"/>
          </a:ln>
        </p:spPr>
      </p:sp>
      <p:sp>
        <p:nvSpPr>
          <p:cNvPr id="18" name="Text 16"/>
          <p:cNvSpPr txBox="1"/>
          <p:nvPr/>
        </p:nvSpPr>
        <p:spPr>
          <a:xfrm>
            <a:off x="822960" y="3639312"/>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RF-04</a:t>
            </a:r>
            <a:endParaRPr lang="en-US" sz="1100" dirty="0"/>
          </a:p>
        </p:txBody>
      </p:sp>
      <p:sp>
        <p:nvSpPr>
          <p:cNvPr id="19" name="Text 17"/>
          <p:cNvSpPr txBox="1"/>
          <p:nvPr/>
        </p:nvSpPr>
        <p:spPr>
          <a:xfrm>
            <a:off x="1737360" y="3584448"/>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Traducir códigos del ERP al catálogo de Barb</a:t>
            </a:r>
            <a:endParaRPr lang="en-US" sz="1300" dirty="0"/>
          </a:p>
        </p:txBody>
      </p:sp>
      <p:sp>
        <p:nvSpPr>
          <p:cNvPr id="20" name="Shape 18"/>
          <p:cNvSpPr/>
          <p:nvPr/>
        </p:nvSpPr>
        <p:spPr>
          <a:xfrm>
            <a:off x="822960" y="4133088"/>
            <a:ext cx="777240" cy="329184"/>
          </a:xfrm>
          <a:prstGeom prst="roundRect">
            <a:avLst>
              <a:gd name="adj" fmla="val 16667"/>
            </a:avLst>
          </a:prstGeom>
          <a:solidFill>
            <a:srgbClr val="FDF3DC"/>
          </a:solidFill>
          <a:ln w="12700">
            <a:solidFill>
              <a:srgbClr val="FDF3DC"/>
            </a:solidFill>
            <a:prstDash val="solid"/>
          </a:ln>
        </p:spPr>
      </p:sp>
      <p:sp>
        <p:nvSpPr>
          <p:cNvPr id="21" name="Text 19"/>
          <p:cNvSpPr txBox="1"/>
          <p:nvPr/>
        </p:nvSpPr>
        <p:spPr>
          <a:xfrm>
            <a:off x="822960" y="4133088"/>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RF-05</a:t>
            </a:r>
            <a:endParaRPr lang="en-US" sz="1100" dirty="0"/>
          </a:p>
        </p:txBody>
      </p:sp>
      <p:sp>
        <p:nvSpPr>
          <p:cNvPr id="22" name="Text 20"/>
          <p:cNvSpPr txBox="1"/>
          <p:nvPr/>
        </p:nvSpPr>
        <p:spPr>
          <a:xfrm>
            <a:off x="1737360" y="4078224"/>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Registrar eventos de falla con origen trazable</a:t>
            </a:r>
            <a:endParaRPr lang="en-US" sz="1300" dirty="0"/>
          </a:p>
        </p:txBody>
      </p:sp>
      <p:sp>
        <p:nvSpPr>
          <p:cNvPr id="23" name="Shape 21"/>
          <p:cNvSpPr/>
          <p:nvPr/>
        </p:nvSpPr>
        <p:spPr>
          <a:xfrm>
            <a:off x="822960" y="4626864"/>
            <a:ext cx="777240" cy="329184"/>
          </a:xfrm>
          <a:prstGeom prst="roundRect">
            <a:avLst>
              <a:gd name="adj" fmla="val 16667"/>
            </a:avLst>
          </a:prstGeom>
          <a:solidFill>
            <a:srgbClr val="FDF3DC"/>
          </a:solidFill>
          <a:ln w="12700">
            <a:solidFill>
              <a:srgbClr val="FDF3DC"/>
            </a:solidFill>
            <a:prstDash val="solid"/>
          </a:ln>
        </p:spPr>
      </p:sp>
      <p:sp>
        <p:nvSpPr>
          <p:cNvPr id="24" name="Text 22"/>
          <p:cNvSpPr txBox="1"/>
          <p:nvPr/>
        </p:nvSpPr>
        <p:spPr>
          <a:xfrm>
            <a:off x="822960" y="4626864"/>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RF-06</a:t>
            </a:r>
            <a:endParaRPr lang="en-US" sz="1100" dirty="0"/>
          </a:p>
        </p:txBody>
      </p:sp>
      <p:sp>
        <p:nvSpPr>
          <p:cNvPr id="25" name="Text 23"/>
          <p:cNvSpPr txBox="1"/>
          <p:nvPr/>
        </p:nvSpPr>
        <p:spPr>
          <a:xfrm>
            <a:off x="1737360" y="4572000"/>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Registrar lotes de ingesta y rechazos</a:t>
            </a:r>
            <a:endParaRPr lang="en-US" sz="1300" dirty="0"/>
          </a:p>
        </p:txBody>
      </p:sp>
      <p:sp>
        <p:nvSpPr>
          <p:cNvPr id="26" name="Shape 24"/>
          <p:cNvSpPr/>
          <p:nvPr/>
        </p:nvSpPr>
        <p:spPr>
          <a:xfrm>
            <a:off x="822960" y="5120640"/>
            <a:ext cx="777240" cy="329184"/>
          </a:xfrm>
          <a:prstGeom prst="roundRect">
            <a:avLst>
              <a:gd name="adj" fmla="val 16667"/>
            </a:avLst>
          </a:prstGeom>
          <a:solidFill>
            <a:srgbClr val="FDF3DC"/>
          </a:solidFill>
          <a:ln w="12700">
            <a:solidFill>
              <a:srgbClr val="FDF3DC"/>
            </a:solidFill>
            <a:prstDash val="solid"/>
          </a:ln>
        </p:spPr>
      </p:sp>
      <p:sp>
        <p:nvSpPr>
          <p:cNvPr id="27" name="Text 25"/>
          <p:cNvSpPr txBox="1"/>
          <p:nvPr/>
        </p:nvSpPr>
        <p:spPr>
          <a:xfrm>
            <a:off x="822960" y="5120640"/>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RF-07</a:t>
            </a:r>
            <a:endParaRPr lang="en-US" sz="1100" dirty="0"/>
          </a:p>
        </p:txBody>
      </p:sp>
      <p:sp>
        <p:nvSpPr>
          <p:cNvPr id="28" name="Text 26"/>
          <p:cNvSpPr txBox="1"/>
          <p:nvPr/>
        </p:nvSpPr>
        <p:spPr>
          <a:xfrm>
            <a:off x="1737360" y="5065776"/>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Sincronizar de forma programada y manual</a:t>
            </a:r>
            <a:endParaRPr lang="en-US" sz="1300" dirty="0"/>
          </a:p>
        </p:txBody>
      </p:sp>
      <p:sp>
        <p:nvSpPr>
          <p:cNvPr id="29" name="Shape 27"/>
          <p:cNvSpPr/>
          <p:nvPr/>
        </p:nvSpPr>
        <p:spPr>
          <a:xfrm>
            <a:off x="822960" y="5614416"/>
            <a:ext cx="777240" cy="329184"/>
          </a:xfrm>
          <a:prstGeom prst="roundRect">
            <a:avLst>
              <a:gd name="adj" fmla="val 16667"/>
            </a:avLst>
          </a:prstGeom>
          <a:solidFill>
            <a:srgbClr val="FDF3DC"/>
          </a:solidFill>
          <a:ln w="12700">
            <a:solidFill>
              <a:srgbClr val="FDF3DC"/>
            </a:solidFill>
            <a:prstDash val="solid"/>
          </a:ln>
        </p:spPr>
      </p:sp>
      <p:sp>
        <p:nvSpPr>
          <p:cNvPr id="30" name="Text 28"/>
          <p:cNvSpPr txBox="1"/>
          <p:nvPr/>
        </p:nvSpPr>
        <p:spPr>
          <a:xfrm>
            <a:off x="822960" y="5614416"/>
            <a:ext cx="777240" cy="329184"/>
          </a:xfrm>
          <a:prstGeom prst="rect">
            <a:avLst/>
          </a:prstGeom>
          <a:noFill/>
          <a:ln/>
        </p:spPr>
        <p:txBody>
          <a:bodyPr wrap="square" lIns="0" tIns="0" rIns="0" bIns="0" rtlCol="0" anchor="ctr"/>
          <a:lstStyle/>
          <a:p>
            <a:pPr algn="ctr" indent="0" marL="0">
              <a:buNone/>
            </a:pPr>
            <a:r>
              <a:rPr lang="en-US" sz="1100" b="1" dirty="0">
                <a:solidFill>
                  <a:srgbClr val="9A5B00"/>
                </a:solidFill>
                <a:latin typeface="Calibri" pitchFamily="34" charset="0"/>
                <a:ea typeface="Calibri" pitchFamily="34" charset="-122"/>
                <a:cs typeface="Calibri" pitchFamily="34" charset="-120"/>
              </a:rPr>
              <a:t>RF-08</a:t>
            </a:r>
            <a:endParaRPr lang="en-US" sz="1100" dirty="0"/>
          </a:p>
        </p:txBody>
      </p:sp>
      <p:sp>
        <p:nvSpPr>
          <p:cNvPr id="31" name="Text 29"/>
          <p:cNvSpPr txBox="1"/>
          <p:nvPr/>
        </p:nvSpPr>
        <p:spPr>
          <a:xfrm>
            <a:off x="1737360" y="5559552"/>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Calcular MTBF y MTTR por máquina</a:t>
            </a:r>
            <a:endParaRPr lang="en-US" sz="1300" dirty="0"/>
          </a:p>
        </p:txBody>
      </p:sp>
      <p:sp>
        <p:nvSpPr>
          <p:cNvPr id="32" name="Shape 30"/>
          <p:cNvSpPr/>
          <p:nvPr/>
        </p:nvSpPr>
        <p:spPr>
          <a:xfrm>
            <a:off x="6199632" y="1508760"/>
            <a:ext cx="5458968" cy="4663440"/>
          </a:xfrm>
          <a:prstGeom prst="roundRect">
            <a:avLst>
              <a:gd name="adj" fmla="val 1569"/>
            </a:avLst>
          </a:prstGeom>
          <a:solidFill>
            <a:srgbClr val="FFFFFF"/>
          </a:solidFill>
          <a:ln w="12700">
            <a:solidFill>
              <a:srgbClr val="DDE3EA"/>
            </a:solidFill>
            <a:prstDash val="solid"/>
          </a:ln>
        </p:spPr>
      </p:sp>
      <p:sp>
        <p:nvSpPr>
          <p:cNvPr id="33" name="Text 31"/>
          <p:cNvSpPr txBox="1"/>
          <p:nvPr/>
        </p:nvSpPr>
        <p:spPr>
          <a:xfrm>
            <a:off x="6473952" y="1645920"/>
            <a:ext cx="4937760" cy="365760"/>
          </a:xfrm>
          <a:prstGeom prst="rect">
            <a:avLst/>
          </a:prstGeom>
          <a:noFill/>
          <a:ln/>
        </p:spPr>
        <p:txBody>
          <a:bodyPr wrap="square" lIns="0" tIns="0" rIns="0" bIns="0" rtlCol="0" anchor="t"/>
          <a:lstStyle/>
          <a:p>
            <a:pPr indent="0" marL="0">
              <a:buNone/>
            </a:pPr>
            <a:r>
              <a:rPr lang="en-US" sz="1400" b="1" spc="100" kern="0" dirty="0">
                <a:solidFill>
                  <a:srgbClr val="2E5A87"/>
                </a:solidFill>
                <a:latin typeface="Calibri" pitchFamily="34" charset="0"/>
                <a:ea typeface="Calibri" pitchFamily="34" charset="-122"/>
                <a:cs typeface="Calibri" pitchFamily="34" charset="-120"/>
              </a:rPr>
              <a:t>REQUERIMIENTOS NO FUNCIONALES (RNF)</a:t>
            </a:r>
            <a:endParaRPr lang="en-US" sz="1400" dirty="0"/>
          </a:p>
        </p:txBody>
      </p:sp>
      <p:sp>
        <p:nvSpPr>
          <p:cNvPr id="34" name="Shape 32"/>
          <p:cNvSpPr/>
          <p:nvPr/>
        </p:nvSpPr>
        <p:spPr>
          <a:xfrm>
            <a:off x="6473952" y="2157984"/>
            <a:ext cx="777240" cy="329184"/>
          </a:xfrm>
          <a:prstGeom prst="roundRect">
            <a:avLst>
              <a:gd name="adj" fmla="val 16667"/>
            </a:avLst>
          </a:prstGeom>
          <a:solidFill>
            <a:srgbClr val="E8EFF6"/>
          </a:solidFill>
          <a:ln w="12700">
            <a:solidFill>
              <a:srgbClr val="E8EFF6"/>
            </a:solidFill>
            <a:prstDash val="solid"/>
          </a:ln>
        </p:spPr>
      </p:sp>
      <p:sp>
        <p:nvSpPr>
          <p:cNvPr id="35" name="Text 33"/>
          <p:cNvSpPr txBox="1"/>
          <p:nvPr/>
        </p:nvSpPr>
        <p:spPr>
          <a:xfrm>
            <a:off x="6473952" y="2157984"/>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RNF-01</a:t>
            </a:r>
            <a:endParaRPr lang="en-US" sz="1100" dirty="0"/>
          </a:p>
        </p:txBody>
      </p:sp>
      <p:sp>
        <p:nvSpPr>
          <p:cNvPr id="36" name="Text 34"/>
          <p:cNvSpPr txBox="1"/>
          <p:nvPr/>
        </p:nvSpPr>
        <p:spPr>
          <a:xfrm>
            <a:off x="7388352" y="2103120"/>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Migraciones solo aditivas e idempotentes</a:t>
            </a:r>
            <a:endParaRPr lang="en-US" sz="1300" dirty="0"/>
          </a:p>
        </p:txBody>
      </p:sp>
      <p:sp>
        <p:nvSpPr>
          <p:cNvPr id="37" name="Shape 35"/>
          <p:cNvSpPr/>
          <p:nvPr/>
        </p:nvSpPr>
        <p:spPr>
          <a:xfrm>
            <a:off x="6473952" y="2651760"/>
            <a:ext cx="777240" cy="329184"/>
          </a:xfrm>
          <a:prstGeom prst="roundRect">
            <a:avLst>
              <a:gd name="adj" fmla="val 16667"/>
            </a:avLst>
          </a:prstGeom>
          <a:solidFill>
            <a:srgbClr val="E8EFF6"/>
          </a:solidFill>
          <a:ln w="12700">
            <a:solidFill>
              <a:srgbClr val="E8EFF6"/>
            </a:solidFill>
            <a:prstDash val="solid"/>
          </a:ln>
        </p:spPr>
      </p:sp>
      <p:sp>
        <p:nvSpPr>
          <p:cNvPr id="38" name="Text 36"/>
          <p:cNvSpPr txBox="1"/>
          <p:nvPr/>
        </p:nvSpPr>
        <p:spPr>
          <a:xfrm>
            <a:off x="6473952" y="2651760"/>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RNF-02</a:t>
            </a:r>
            <a:endParaRPr lang="en-US" sz="1100" dirty="0"/>
          </a:p>
        </p:txBody>
      </p:sp>
      <p:sp>
        <p:nvSpPr>
          <p:cNvPr id="39" name="Text 37"/>
          <p:cNvSpPr txBox="1"/>
          <p:nvPr/>
        </p:nvSpPr>
        <p:spPr>
          <a:xfrm>
            <a:off x="7388352" y="2596896"/>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Credenciales cifradas, nunca expuestas al frontend</a:t>
            </a:r>
            <a:endParaRPr lang="en-US" sz="1300" dirty="0"/>
          </a:p>
        </p:txBody>
      </p:sp>
      <p:sp>
        <p:nvSpPr>
          <p:cNvPr id="40" name="Shape 38"/>
          <p:cNvSpPr/>
          <p:nvPr/>
        </p:nvSpPr>
        <p:spPr>
          <a:xfrm>
            <a:off x="6473952" y="3145536"/>
            <a:ext cx="777240" cy="329184"/>
          </a:xfrm>
          <a:prstGeom prst="roundRect">
            <a:avLst>
              <a:gd name="adj" fmla="val 16667"/>
            </a:avLst>
          </a:prstGeom>
          <a:solidFill>
            <a:srgbClr val="E8EFF6"/>
          </a:solidFill>
          <a:ln w="12700">
            <a:solidFill>
              <a:srgbClr val="E8EFF6"/>
            </a:solidFill>
            <a:prstDash val="solid"/>
          </a:ln>
        </p:spPr>
      </p:sp>
      <p:sp>
        <p:nvSpPr>
          <p:cNvPr id="41" name="Text 39"/>
          <p:cNvSpPr txBox="1"/>
          <p:nvPr/>
        </p:nvSpPr>
        <p:spPr>
          <a:xfrm>
            <a:off x="6473952" y="3145536"/>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RNF-03</a:t>
            </a:r>
            <a:endParaRPr lang="en-US" sz="1100" dirty="0"/>
          </a:p>
        </p:txBody>
      </p:sp>
      <p:sp>
        <p:nvSpPr>
          <p:cNvPr id="42" name="Text 40"/>
          <p:cNvSpPr txBox="1"/>
          <p:nvPr/>
        </p:nvSpPr>
        <p:spPr>
          <a:xfrm>
            <a:off x="7388352" y="3090672"/>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Aislamiento por empresa en toda tabla nueva</a:t>
            </a:r>
            <a:endParaRPr lang="en-US" sz="1300" dirty="0"/>
          </a:p>
        </p:txBody>
      </p:sp>
      <p:sp>
        <p:nvSpPr>
          <p:cNvPr id="43" name="Shape 41"/>
          <p:cNvSpPr/>
          <p:nvPr/>
        </p:nvSpPr>
        <p:spPr>
          <a:xfrm>
            <a:off x="6473952" y="3639312"/>
            <a:ext cx="777240" cy="329184"/>
          </a:xfrm>
          <a:prstGeom prst="roundRect">
            <a:avLst>
              <a:gd name="adj" fmla="val 16667"/>
            </a:avLst>
          </a:prstGeom>
          <a:solidFill>
            <a:srgbClr val="E8EFF6"/>
          </a:solidFill>
          <a:ln w="12700">
            <a:solidFill>
              <a:srgbClr val="E8EFF6"/>
            </a:solidFill>
            <a:prstDash val="solid"/>
          </a:ln>
        </p:spPr>
      </p:sp>
      <p:sp>
        <p:nvSpPr>
          <p:cNvPr id="44" name="Text 42"/>
          <p:cNvSpPr txBox="1"/>
          <p:nvPr/>
        </p:nvSpPr>
        <p:spPr>
          <a:xfrm>
            <a:off x="6473952" y="3639312"/>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RNF-04</a:t>
            </a:r>
            <a:endParaRPr lang="en-US" sz="1100" dirty="0"/>
          </a:p>
        </p:txBody>
      </p:sp>
      <p:sp>
        <p:nvSpPr>
          <p:cNvPr id="45" name="Text 43"/>
          <p:cNvSpPr txBox="1"/>
          <p:nvPr/>
        </p:nvSpPr>
        <p:spPr>
          <a:xfrm>
            <a:off x="7388352" y="3584448"/>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Control de acceso por rol en backend y frontend</a:t>
            </a:r>
            <a:endParaRPr lang="en-US" sz="1300" dirty="0"/>
          </a:p>
        </p:txBody>
      </p:sp>
      <p:sp>
        <p:nvSpPr>
          <p:cNvPr id="46" name="Shape 44"/>
          <p:cNvSpPr/>
          <p:nvPr/>
        </p:nvSpPr>
        <p:spPr>
          <a:xfrm>
            <a:off x="6473952" y="4133088"/>
            <a:ext cx="777240" cy="329184"/>
          </a:xfrm>
          <a:prstGeom prst="roundRect">
            <a:avLst>
              <a:gd name="adj" fmla="val 16667"/>
            </a:avLst>
          </a:prstGeom>
          <a:solidFill>
            <a:srgbClr val="E8EFF6"/>
          </a:solidFill>
          <a:ln w="12700">
            <a:solidFill>
              <a:srgbClr val="E8EFF6"/>
            </a:solidFill>
            <a:prstDash val="solid"/>
          </a:ln>
        </p:spPr>
      </p:sp>
      <p:sp>
        <p:nvSpPr>
          <p:cNvPr id="47" name="Text 45"/>
          <p:cNvSpPr txBox="1"/>
          <p:nvPr/>
        </p:nvSpPr>
        <p:spPr>
          <a:xfrm>
            <a:off x="6473952" y="4133088"/>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RNF-05</a:t>
            </a:r>
            <a:endParaRPr lang="en-US" sz="1100" dirty="0"/>
          </a:p>
        </p:txBody>
      </p:sp>
      <p:sp>
        <p:nvSpPr>
          <p:cNvPr id="48" name="Text 46"/>
          <p:cNvSpPr txBox="1"/>
          <p:nvPr/>
        </p:nvSpPr>
        <p:spPr>
          <a:xfrm>
            <a:off x="7388352" y="4078224"/>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Reprocesar un lote no duplica registros</a:t>
            </a:r>
            <a:endParaRPr lang="en-US" sz="1300" dirty="0"/>
          </a:p>
        </p:txBody>
      </p:sp>
      <p:sp>
        <p:nvSpPr>
          <p:cNvPr id="49" name="Shape 47"/>
          <p:cNvSpPr/>
          <p:nvPr/>
        </p:nvSpPr>
        <p:spPr>
          <a:xfrm>
            <a:off x="6473952" y="4626864"/>
            <a:ext cx="777240" cy="329184"/>
          </a:xfrm>
          <a:prstGeom prst="roundRect">
            <a:avLst>
              <a:gd name="adj" fmla="val 16667"/>
            </a:avLst>
          </a:prstGeom>
          <a:solidFill>
            <a:srgbClr val="E8EFF6"/>
          </a:solidFill>
          <a:ln w="12700">
            <a:solidFill>
              <a:srgbClr val="E8EFF6"/>
            </a:solidFill>
            <a:prstDash val="solid"/>
          </a:ln>
        </p:spPr>
      </p:sp>
      <p:sp>
        <p:nvSpPr>
          <p:cNvPr id="50" name="Text 48"/>
          <p:cNvSpPr txBox="1"/>
          <p:nvPr/>
        </p:nvSpPr>
        <p:spPr>
          <a:xfrm>
            <a:off x="6473952" y="4626864"/>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RNF-06</a:t>
            </a:r>
            <a:endParaRPr lang="en-US" sz="1100" dirty="0"/>
          </a:p>
        </p:txBody>
      </p:sp>
      <p:sp>
        <p:nvSpPr>
          <p:cNvPr id="51" name="Text 49"/>
          <p:cNvSpPr txBox="1"/>
          <p:nvPr/>
        </p:nvSpPr>
        <p:spPr>
          <a:xfrm>
            <a:off x="7388352" y="4572000"/>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Nuevo ERP = solo un conector nuevo</a:t>
            </a:r>
            <a:endParaRPr lang="en-US" sz="1300" dirty="0"/>
          </a:p>
        </p:txBody>
      </p:sp>
      <p:sp>
        <p:nvSpPr>
          <p:cNvPr id="52" name="Shape 50"/>
          <p:cNvSpPr/>
          <p:nvPr/>
        </p:nvSpPr>
        <p:spPr>
          <a:xfrm>
            <a:off x="6473952" y="5120640"/>
            <a:ext cx="777240" cy="329184"/>
          </a:xfrm>
          <a:prstGeom prst="roundRect">
            <a:avLst>
              <a:gd name="adj" fmla="val 16667"/>
            </a:avLst>
          </a:prstGeom>
          <a:solidFill>
            <a:srgbClr val="E8EFF6"/>
          </a:solidFill>
          <a:ln w="12700">
            <a:solidFill>
              <a:srgbClr val="E8EFF6"/>
            </a:solidFill>
            <a:prstDash val="solid"/>
          </a:ln>
        </p:spPr>
      </p:sp>
      <p:sp>
        <p:nvSpPr>
          <p:cNvPr id="53" name="Text 51"/>
          <p:cNvSpPr txBox="1"/>
          <p:nvPr/>
        </p:nvSpPr>
        <p:spPr>
          <a:xfrm>
            <a:off x="6473952" y="5120640"/>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RNF-07</a:t>
            </a:r>
            <a:endParaRPr lang="en-US" sz="1100" dirty="0"/>
          </a:p>
        </p:txBody>
      </p:sp>
      <p:sp>
        <p:nvSpPr>
          <p:cNvPr id="54" name="Text 52"/>
          <p:cNvSpPr txBox="1"/>
          <p:nvPr/>
        </p:nvSpPr>
        <p:spPr>
          <a:xfrm>
            <a:off x="7388352" y="5065776"/>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Fechas con zona horaria por fuente (TIMESTAMPTZ)</a:t>
            </a:r>
            <a:endParaRPr lang="en-US" sz="1300" dirty="0"/>
          </a:p>
        </p:txBody>
      </p:sp>
      <p:sp>
        <p:nvSpPr>
          <p:cNvPr id="55" name="Shape 53"/>
          <p:cNvSpPr/>
          <p:nvPr/>
        </p:nvSpPr>
        <p:spPr>
          <a:xfrm>
            <a:off x="6473952" y="5614416"/>
            <a:ext cx="777240" cy="329184"/>
          </a:xfrm>
          <a:prstGeom prst="roundRect">
            <a:avLst>
              <a:gd name="adj" fmla="val 16667"/>
            </a:avLst>
          </a:prstGeom>
          <a:solidFill>
            <a:srgbClr val="E8EFF6"/>
          </a:solidFill>
          <a:ln w="12700">
            <a:solidFill>
              <a:srgbClr val="E8EFF6"/>
            </a:solidFill>
            <a:prstDash val="solid"/>
          </a:ln>
        </p:spPr>
      </p:sp>
      <p:sp>
        <p:nvSpPr>
          <p:cNvPr id="56" name="Text 54"/>
          <p:cNvSpPr txBox="1"/>
          <p:nvPr/>
        </p:nvSpPr>
        <p:spPr>
          <a:xfrm>
            <a:off x="6473952" y="5614416"/>
            <a:ext cx="777240" cy="329184"/>
          </a:xfrm>
          <a:prstGeom prst="rect">
            <a:avLst/>
          </a:prstGeom>
          <a:noFill/>
          <a:ln/>
        </p:spPr>
        <p:txBody>
          <a:bodyPr wrap="square" lIns="0" tIns="0" rIns="0" bIns="0" rtlCol="0" anchor="ctr"/>
          <a:lstStyle/>
          <a:p>
            <a:pPr algn="ctr" indent="0" marL="0">
              <a:buNone/>
            </a:pPr>
            <a:r>
              <a:rPr lang="en-US" sz="1100" b="1" dirty="0">
                <a:solidFill>
                  <a:srgbClr val="2E5A87"/>
                </a:solidFill>
                <a:latin typeface="Calibri" pitchFamily="34" charset="0"/>
                <a:ea typeface="Calibri" pitchFamily="34" charset="-122"/>
                <a:cs typeface="Calibri" pitchFamily="34" charset="-120"/>
              </a:rPr>
              <a:t>RNF-08</a:t>
            </a:r>
            <a:endParaRPr lang="en-US" sz="1100" dirty="0"/>
          </a:p>
        </p:txBody>
      </p:sp>
      <p:sp>
        <p:nvSpPr>
          <p:cNvPr id="57" name="Text 55"/>
          <p:cNvSpPr txBox="1"/>
          <p:nvPr/>
        </p:nvSpPr>
        <p:spPr>
          <a:xfrm>
            <a:off x="7388352" y="5559552"/>
            <a:ext cx="4114800" cy="43891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Auditoría de acciones sobre conectores</a:t>
            </a:r>
            <a:endParaRPr lang="en-US" sz="1300" dirty="0"/>
          </a:p>
        </p:txBody>
      </p:sp>
      <p:sp>
        <p:nvSpPr>
          <p:cNvPr id="58" name="Text 56"/>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59" name="Text 57"/>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8 / 17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PROCESO DE INGENIERÍA DE SOFTWARE</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Metodología: Scrum adaptado al trabajo individual</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Sprints de dos semanas con incremento funcional al cierre; Alloxentric valida cada incremento</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783080"/>
            <a:ext cx="3611880" cy="3246120"/>
          </a:xfrm>
          <a:prstGeom prst="roundRect">
            <a:avLst>
              <a:gd name="adj" fmla="val 2254"/>
            </a:avLst>
          </a:prstGeom>
          <a:solidFill>
            <a:srgbClr val="FFFFFF"/>
          </a:solidFill>
          <a:ln w="12700">
            <a:solidFill>
              <a:srgbClr val="DDE3EA"/>
            </a:solidFill>
            <a:prstDash val="solid"/>
          </a:ln>
        </p:spPr>
      </p:sp>
      <p:sp>
        <p:nvSpPr>
          <p:cNvPr id="8" name="Text 6"/>
          <p:cNvSpPr txBox="1"/>
          <p:nvPr/>
        </p:nvSpPr>
        <p:spPr>
          <a:xfrm>
            <a:off x="822960" y="1965960"/>
            <a:ext cx="30175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FASE 1</a:t>
            </a:r>
            <a:endParaRPr lang="en-US" sz="1100" dirty="0"/>
          </a:p>
        </p:txBody>
      </p:sp>
      <p:sp>
        <p:nvSpPr>
          <p:cNvPr id="9" name="Text 7"/>
          <p:cNvSpPr txBox="1"/>
          <p:nvPr/>
        </p:nvSpPr>
        <p:spPr>
          <a:xfrm>
            <a:off x="822960" y="2240280"/>
            <a:ext cx="3108960" cy="411480"/>
          </a:xfrm>
          <a:prstGeom prst="rect">
            <a:avLst/>
          </a:prstGeom>
          <a:noFill/>
          <a:ln/>
        </p:spPr>
        <p:txBody>
          <a:bodyPr wrap="square" lIns="0" tIns="0" rIns="0" bIns="0" rtlCol="0" anchor="t"/>
          <a:lstStyle/>
          <a:p>
            <a:pPr indent="0" marL="0">
              <a:buNone/>
            </a:pPr>
            <a:r>
              <a:rPr lang="en-US" sz="1900" b="1" dirty="0">
                <a:solidFill>
                  <a:srgbClr val="1F2933"/>
                </a:solidFill>
                <a:latin typeface="Calibri" pitchFamily="34" charset="0"/>
                <a:ea typeface="Calibri" pitchFamily="34" charset="-122"/>
                <a:cs typeface="Calibri" pitchFamily="34" charset="-120"/>
              </a:rPr>
              <a:t>Definición</a:t>
            </a:r>
            <a:endParaRPr lang="en-US" sz="1900" dirty="0"/>
          </a:p>
        </p:txBody>
      </p:sp>
      <p:sp>
        <p:nvSpPr>
          <p:cNvPr id="10" name="Text 8"/>
          <p:cNvSpPr txBox="1"/>
          <p:nvPr/>
        </p:nvSpPr>
        <p:spPr>
          <a:xfrm>
            <a:off x="822960" y="2651760"/>
            <a:ext cx="3108960" cy="3200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Semanas 1 – 4</a:t>
            </a:r>
            <a:endParaRPr lang="en-US" sz="1300" dirty="0"/>
          </a:p>
        </p:txBody>
      </p:sp>
      <p:sp>
        <p:nvSpPr>
          <p:cNvPr id="11" name="Text 9"/>
          <p:cNvSpPr txBox="1"/>
          <p:nvPr/>
        </p:nvSpPr>
        <p:spPr>
          <a:xfrm>
            <a:off x="822960" y="3108960"/>
            <a:ext cx="3154680" cy="182880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Análisis de la especificación y del esquema existente</a:t>
            </a:r>
            <a:endParaRPr lang="en-US" sz="1400" dirty="0"/>
          </a:p>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Delimitación del requerimiento asignado</a:t>
            </a:r>
            <a:endParaRPr lang="en-US" sz="1400" dirty="0"/>
          </a:p>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Backlog priorizado con criterios de aceptación</a:t>
            </a:r>
            <a:endParaRPr lang="en-US" sz="1400" dirty="0"/>
          </a:p>
        </p:txBody>
      </p:sp>
      <p:sp>
        <p:nvSpPr>
          <p:cNvPr id="12" name="Shape 10"/>
          <p:cNvSpPr/>
          <p:nvPr/>
        </p:nvSpPr>
        <p:spPr>
          <a:xfrm>
            <a:off x="4178808" y="3246120"/>
            <a:ext cx="100584" cy="274320"/>
          </a:xfrm>
          <a:prstGeom prst="rightArrow">
            <a:avLst/>
          </a:prstGeom>
          <a:solidFill>
            <a:srgbClr val="E69B00"/>
          </a:solidFill>
          <a:ln w="12700">
            <a:solidFill>
              <a:srgbClr val="E69B00"/>
            </a:solidFill>
            <a:prstDash val="solid"/>
          </a:ln>
        </p:spPr>
      </p:sp>
      <p:sp>
        <p:nvSpPr>
          <p:cNvPr id="13" name="Shape 11"/>
          <p:cNvSpPr/>
          <p:nvPr/>
        </p:nvSpPr>
        <p:spPr>
          <a:xfrm>
            <a:off x="4297680" y="1783080"/>
            <a:ext cx="3611880" cy="3246120"/>
          </a:xfrm>
          <a:prstGeom prst="roundRect">
            <a:avLst>
              <a:gd name="adj" fmla="val 2254"/>
            </a:avLst>
          </a:prstGeom>
          <a:solidFill>
            <a:srgbClr val="FFFFFF"/>
          </a:solidFill>
          <a:ln w="12700">
            <a:solidFill>
              <a:srgbClr val="E69B00"/>
            </a:solidFill>
            <a:prstDash val="solid"/>
          </a:ln>
        </p:spPr>
      </p:sp>
      <p:sp>
        <p:nvSpPr>
          <p:cNvPr id="14" name="Text 12"/>
          <p:cNvSpPr txBox="1"/>
          <p:nvPr/>
        </p:nvSpPr>
        <p:spPr>
          <a:xfrm>
            <a:off x="4572000" y="1965960"/>
            <a:ext cx="30175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FASE 2</a:t>
            </a:r>
            <a:endParaRPr lang="en-US" sz="1100" dirty="0"/>
          </a:p>
        </p:txBody>
      </p:sp>
      <p:sp>
        <p:nvSpPr>
          <p:cNvPr id="15" name="Text 13"/>
          <p:cNvSpPr txBox="1"/>
          <p:nvPr/>
        </p:nvSpPr>
        <p:spPr>
          <a:xfrm>
            <a:off x="4572000" y="2240280"/>
            <a:ext cx="3108960" cy="411480"/>
          </a:xfrm>
          <a:prstGeom prst="rect">
            <a:avLst/>
          </a:prstGeom>
          <a:noFill/>
          <a:ln/>
        </p:spPr>
        <p:txBody>
          <a:bodyPr wrap="square" lIns="0" tIns="0" rIns="0" bIns="0" rtlCol="0" anchor="t"/>
          <a:lstStyle/>
          <a:p>
            <a:pPr indent="0" marL="0">
              <a:buNone/>
            </a:pPr>
            <a:r>
              <a:rPr lang="en-US" sz="1900" b="1" dirty="0">
                <a:solidFill>
                  <a:srgbClr val="1F2933"/>
                </a:solidFill>
                <a:latin typeface="Calibri" pitchFamily="34" charset="0"/>
                <a:ea typeface="Calibri" pitchFamily="34" charset="-122"/>
                <a:cs typeface="Calibri" pitchFamily="34" charset="-120"/>
              </a:rPr>
              <a:t>Construcción incremental</a:t>
            </a:r>
            <a:endParaRPr lang="en-US" sz="1900" dirty="0"/>
          </a:p>
        </p:txBody>
      </p:sp>
      <p:sp>
        <p:nvSpPr>
          <p:cNvPr id="16" name="Text 14"/>
          <p:cNvSpPr txBox="1"/>
          <p:nvPr/>
        </p:nvSpPr>
        <p:spPr>
          <a:xfrm>
            <a:off x="4572000" y="2651760"/>
            <a:ext cx="3108960" cy="3200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Semanas 5 – 16</a:t>
            </a:r>
            <a:endParaRPr lang="en-US" sz="1300" dirty="0"/>
          </a:p>
        </p:txBody>
      </p:sp>
      <p:sp>
        <p:nvSpPr>
          <p:cNvPr id="17" name="Text 15"/>
          <p:cNvSpPr txBox="1"/>
          <p:nvPr/>
        </p:nvSpPr>
        <p:spPr>
          <a:xfrm>
            <a:off x="4572000" y="3108960"/>
            <a:ext cx="3154680" cy="182880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Modelo canónico y extensión del modelo de datos</a:t>
            </a:r>
            <a:endParaRPr lang="en-US" sz="1400" dirty="0"/>
          </a:p>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Interfaz y API de conectores</a:t>
            </a:r>
            <a:endParaRPr lang="en-US" sz="1400" dirty="0"/>
          </a:p>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Conector de referencia, ingesta e indicadores</a:t>
            </a:r>
            <a:endParaRPr lang="en-US" sz="1400" dirty="0"/>
          </a:p>
        </p:txBody>
      </p:sp>
      <p:sp>
        <p:nvSpPr>
          <p:cNvPr id="18" name="Shape 16"/>
          <p:cNvSpPr/>
          <p:nvPr/>
        </p:nvSpPr>
        <p:spPr>
          <a:xfrm>
            <a:off x="7927848" y="3246120"/>
            <a:ext cx="100584" cy="274320"/>
          </a:xfrm>
          <a:prstGeom prst="rightArrow">
            <a:avLst/>
          </a:prstGeom>
          <a:solidFill>
            <a:srgbClr val="E69B00"/>
          </a:solidFill>
          <a:ln w="12700">
            <a:solidFill>
              <a:srgbClr val="E69B00"/>
            </a:solidFill>
            <a:prstDash val="solid"/>
          </a:ln>
        </p:spPr>
      </p:sp>
      <p:sp>
        <p:nvSpPr>
          <p:cNvPr id="19" name="Shape 17"/>
          <p:cNvSpPr/>
          <p:nvPr/>
        </p:nvSpPr>
        <p:spPr>
          <a:xfrm>
            <a:off x="8046720" y="1783080"/>
            <a:ext cx="3611880" cy="3246120"/>
          </a:xfrm>
          <a:prstGeom prst="roundRect">
            <a:avLst>
              <a:gd name="adj" fmla="val 2254"/>
            </a:avLst>
          </a:prstGeom>
          <a:solidFill>
            <a:srgbClr val="FFFFFF"/>
          </a:solidFill>
          <a:ln w="12700">
            <a:solidFill>
              <a:srgbClr val="DDE3EA"/>
            </a:solidFill>
            <a:prstDash val="solid"/>
          </a:ln>
        </p:spPr>
      </p:sp>
      <p:sp>
        <p:nvSpPr>
          <p:cNvPr id="20" name="Text 18"/>
          <p:cNvSpPr txBox="1"/>
          <p:nvPr/>
        </p:nvSpPr>
        <p:spPr>
          <a:xfrm>
            <a:off x="8321040" y="1965960"/>
            <a:ext cx="30175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FASE 3</a:t>
            </a:r>
            <a:endParaRPr lang="en-US" sz="1100" dirty="0"/>
          </a:p>
        </p:txBody>
      </p:sp>
      <p:sp>
        <p:nvSpPr>
          <p:cNvPr id="21" name="Text 19"/>
          <p:cNvSpPr txBox="1"/>
          <p:nvPr/>
        </p:nvSpPr>
        <p:spPr>
          <a:xfrm>
            <a:off x="8321040" y="2240280"/>
            <a:ext cx="3108960" cy="411480"/>
          </a:xfrm>
          <a:prstGeom prst="rect">
            <a:avLst/>
          </a:prstGeom>
          <a:noFill/>
          <a:ln/>
        </p:spPr>
        <p:txBody>
          <a:bodyPr wrap="square" lIns="0" tIns="0" rIns="0" bIns="0" rtlCol="0" anchor="t"/>
          <a:lstStyle/>
          <a:p>
            <a:pPr indent="0" marL="0">
              <a:buNone/>
            </a:pPr>
            <a:r>
              <a:rPr lang="en-US" sz="1900" b="1" dirty="0">
                <a:solidFill>
                  <a:srgbClr val="1F2933"/>
                </a:solidFill>
                <a:latin typeface="Calibri" pitchFamily="34" charset="0"/>
                <a:ea typeface="Calibri" pitchFamily="34" charset="-122"/>
                <a:cs typeface="Calibri" pitchFamily="34" charset="-120"/>
              </a:rPr>
              <a:t>Validación y cierre</a:t>
            </a:r>
            <a:endParaRPr lang="en-US" sz="1900" dirty="0"/>
          </a:p>
        </p:txBody>
      </p:sp>
      <p:sp>
        <p:nvSpPr>
          <p:cNvPr id="22" name="Text 20"/>
          <p:cNvSpPr txBox="1"/>
          <p:nvPr/>
        </p:nvSpPr>
        <p:spPr>
          <a:xfrm>
            <a:off x="8321040" y="2651760"/>
            <a:ext cx="3108960" cy="3200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Semanas 17 – 18</a:t>
            </a:r>
            <a:endParaRPr lang="en-US" sz="1300" dirty="0"/>
          </a:p>
        </p:txBody>
      </p:sp>
      <p:sp>
        <p:nvSpPr>
          <p:cNvPr id="23" name="Text 21"/>
          <p:cNvSpPr txBox="1"/>
          <p:nvPr/>
        </p:nvSpPr>
        <p:spPr>
          <a:xfrm>
            <a:off x="8321040" y="3108960"/>
            <a:ext cx="3154680" cy="182880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Pruebas automatizadas y corrección</a:t>
            </a:r>
            <a:endParaRPr lang="en-US" sz="1400" dirty="0"/>
          </a:p>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Revisión con Alloxentric</a:t>
            </a:r>
            <a:endParaRPr lang="en-US" sz="1400" dirty="0"/>
          </a:p>
          <a:p>
            <a:pPr marL="177800" indent="-1778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Documentación técnica y entrega</a:t>
            </a:r>
            <a:endParaRPr lang="en-US" sz="1400" dirty="0"/>
          </a:p>
        </p:txBody>
      </p:sp>
      <p:sp>
        <p:nvSpPr>
          <p:cNvPr id="24" name="Shape 22"/>
          <p:cNvSpPr/>
          <p:nvPr/>
        </p:nvSpPr>
        <p:spPr>
          <a:xfrm>
            <a:off x="548640" y="5257800"/>
            <a:ext cx="11109960" cy="914400"/>
          </a:xfrm>
          <a:prstGeom prst="roundRect">
            <a:avLst>
              <a:gd name="adj" fmla="val 8000"/>
            </a:avLst>
          </a:prstGeom>
          <a:solidFill>
            <a:srgbClr val="E8EFF6"/>
          </a:solidFill>
          <a:ln w="12700">
            <a:solidFill>
              <a:srgbClr val="E8EFF6"/>
            </a:solidFill>
            <a:prstDash val="solid"/>
          </a:ln>
        </p:spPr>
      </p:sp>
      <p:sp>
        <p:nvSpPr>
          <p:cNvPr id="25" name="Shape 23"/>
          <p:cNvSpPr/>
          <p:nvPr/>
        </p:nvSpPr>
        <p:spPr>
          <a:xfrm>
            <a:off x="777240" y="5440680"/>
            <a:ext cx="548640" cy="548640"/>
          </a:xfrm>
          <a:prstGeom prst="ellipse">
            <a:avLst/>
          </a:prstGeom>
          <a:solidFill>
            <a:srgbClr val="2E5A87"/>
          </a:solidFill>
          <a:ln w="12700">
            <a:solidFill>
              <a:srgbClr val="2E5A87"/>
            </a:solidFill>
            <a:prstDash val="solid"/>
          </a:ln>
        </p:spPr>
      </p:sp>
      <p:pic>
        <p:nvPicPr>
          <p:cNvPr id="26" name="Image 0" descr="preencoded.png">    </p:cNvPr>
          <p:cNvPicPr>
            <a:picLocks noChangeAspect="1"/>
          </p:cNvPicPr>
          <p:nvPr/>
        </p:nvPicPr>
        <p:blipFill>
          <a:blip r:embed="rId1"/>
          <a:stretch>
            <a:fillRect/>
          </a:stretch>
        </p:blipFill>
        <p:spPr>
          <a:xfrm>
            <a:off x="897941" y="5561381"/>
            <a:ext cx="307238" cy="307238"/>
          </a:xfrm>
          <a:prstGeom prst="rect">
            <a:avLst/>
          </a:prstGeom>
        </p:spPr>
      </p:pic>
      <p:sp>
        <p:nvSpPr>
          <p:cNvPr id="27" name="Text 24"/>
          <p:cNvSpPr txBox="1"/>
          <p:nvPr/>
        </p:nvSpPr>
        <p:spPr>
          <a:xfrm>
            <a:off x="1508760" y="5257800"/>
            <a:ext cx="9966960" cy="91440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Definición de terminado: </a:t>
            </a:r>
            <a:pPr indent="0" marL="0">
              <a:buNone/>
            </a:pPr>
            <a:r>
              <a:rPr lang="en-US" sz="1400" dirty="0">
                <a:solidFill>
                  <a:srgbClr val="1F2933"/>
                </a:solidFill>
                <a:latin typeface="Calibri" pitchFamily="34" charset="0"/>
                <a:ea typeface="Calibri" pitchFamily="34" charset="-122"/>
                <a:cs typeface="Calibri" pitchFamily="34" charset="-120"/>
              </a:rPr>
              <a:t>cada incremento queda versionado en Git, con su prueba ejecutada y su documentación actualizada. Los cambios a la base de datos se aplican solo con migraciones idempotentes.</a:t>
            </a:r>
            <a:endParaRPr lang="en-US" sz="1400" dirty="0"/>
          </a:p>
        </p:txBody>
      </p:sp>
      <p:sp>
        <p:nvSpPr>
          <p:cNvPr id="28" name="Text 25"/>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29" name="Text 26"/>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9 / 17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PLANIFICACIÓN TEMPORAL</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Cronograma de 18 semanas</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Plan ajustado · estado a la semana 7</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600200"/>
            <a:ext cx="11109960" cy="4572000"/>
          </a:xfrm>
          <a:prstGeom prst="roundRect">
            <a:avLst>
              <a:gd name="adj" fmla="val 1600"/>
            </a:avLst>
          </a:prstGeom>
          <a:solidFill>
            <a:srgbClr val="FFFFFF"/>
          </a:solidFill>
          <a:ln w="12700">
            <a:solidFill>
              <a:srgbClr val="DDE3EA"/>
            </a:solidFill>
            <a:prstDash val="solid"/>
          </a:ln>
        </p:spPr>
      </p:sp>
      <p:sp>
        <p:nvSpPr>
          <p:cNvPr id="8" name="Text 6"/>
          <p:cNvSpPr txBox="1"/>
          <p:nvPr/>
        </p:nvSpPr>
        <p:spPr>
          <a:xfrm>
            <a:off x="4160520"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a:t>
            </a:r>
            <a:endParaRPr lang="en-US" sz="900" dirty="0"/>
          </a:p>
        </p:txBody>
      </p:sp>
      <p:sp>
        <p:nvSpPr>
          <p:cNvPr id="9" name="Text 7"/>
          <p:cNvSpPr txBox="1"/>
          <p:nvPr/>
        </p:nvSpPr>
        <p:spPr>
          <a:xfrm>
            <a:off x="4576572"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S2</a:t>
            </a:r>
            <a:endParaRPr lang="en-US" sz="900" dirty="0"/>
          </a:p>
        </p:txBody>
      </p:sp>
      <p:sp>
        <p:nvSpPr>
          <p:cNvPr id="10" name="Text 8"/>
          <p:cNvSpPr txBox="1"/>
          <p:nvPr/>
        </p:nvSpPr>
        <p:spPr>
          <a:xfrm>
            <a:off x="4992624"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S3</a:t>
            </a:r>
            <a:endParaRPr lang="en-US" sz="900" dirty="0"/>
          </a:p>
        </p:txBody>
      </p:sp>
      <p:sp>
        <p:nvSpPr>
          <p:cNvPr id="11" name="Text 9"/>
          <p:cNvSpPr txBox="1"/>
          <p:nvPr/>
        </p:nvSpPr>
        <p:spPr>
          <a:xfrm>
            <a:off x="5408676"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S4</a:t>
            </a:r>
            <a:endParaRPr lang="en-US" sz="900" dirty="0"/>
          </a:p>
        </p:txBody>
      </p:sp>
      <p:sp>
        <p:nvSpPr>
          <p:cNvPr id="12" name="Text 10"/>
          <p:cNvSpPr txBox="1"/>
          <p:nvPr/>
        </p:nvSpPr>
        <p:spPr>
          <a:xfrm>
            <a:off x="5824728"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S5</a:t>
            </a:r>
            <a:endParaRPr lang="en-US" sz="900" dirty="0"/>
          </a:p>
        </p:txBody>
      </p:sp>
      <p:sp>
        <p:nvSpPr>
          <p:cNvPr id="13" name="Text 11"/>
          <p:cNvSpPr txBox="1"/>
          <p:nvPr/>
        </p:nvSpPr>
        <p:spPr>
          <a:xfrm>
            <a:off x="6240780"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S6</a:t>
            </a:r>
            <a:endParaRPr lang="en-US" sz="900" dirty="0"/>
          </a:p>
        </p:txBody>
      </p:sp>
      <p:sp>
        <p:nvSpPr>
          <p:cNvPr id="14" name="Text 12"/>
          <p:cNvSpPr txBox="1"/>
          <p:nvPr/>
        </p:nvSpPr>
        <p:spPr>
          <a:xfrm>
            <a:off x="6656832"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S7</a:t>
            </a:r>
            <a:endParaRPr lang="en-US" sz="900" dirty="0"/>
          </a:p>
        </p:txBody>
      </p:sp>
      <p:sp>
        <p:nvSpPr>
          <p:cNvPr id="15" name="Text 13"/>
          <p:cNvSpPr txBox="1"/>
          <p:nvPr/>
        </p:nvSpPr>
        <p:spPr>
          <a:xfrm>
            <a:off x="7072884"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S8</a:t>
            </a:r>
            <a:endParaRPr lang="en-US" sz="900" dirty="0"/>
          </a:p>
        </p:txBody>
      </p:sp>
      <p:sp>
        <p:nvSpPr>
          <p:cNvPr id="16" name="Text 14"/>
          <p:cNvSpPr txBox="1"/>
          <p:nvPr/>
        </p:nvSpPr>
        <p:spPr>
          <a:xfrm>
            <a:off x="7488936"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S9</a:t>
            </a:r>
            <a:endParaRPr lang="en-US" sz="900" dirty="0"/>
          </a:p>
        </p:txBody>
      </p:sp>
      <p:sp>
        <p:nvSpPr>
          <p:cNvPr id="17" name="Text 15"/>
          <p:cNvSpPr txBox="1"/>
          <p:nvPr/>
        </p:nvSpPr>
        <p:spPr>
          <a:xfrm>
            <a:off x="7904988"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S10</a:t>
            </a:r>
            <a:endParaRPr lang="en-US" sz="900" dirty="0"/>
          </a:p>
        </p:txBody>
      </p:sp>
      <p:sp>
        <p:nvSpPr>
          <p:cNvPr id="18" name="Text 16"/>
          <p:cNvSpPr txBox="1"/>
          <p:nvPr/>
        </p:nvSpPr>
        <p:spPr>
          <a:xfrm>
            <a:off x="8321040"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S11</a:t>
            </a:r>
            <a:endParaRPr lang="en-US" sz="900" dirty="0"/>
          </a:p>
        </p:txBody>
      </p:sp>
      <p:sp>
        <p:nvSpPr>
          <p:cNvPr id="19" name="Text 17"/>
          <p:cNvSpPr txBox="1"/>
          <p:nvPr/>
        </p:nvSpPr>
        <p:spPr>
          <a:xfrm>
            <a:off x="8737092"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S12</a:t>
            </a:r>
            <a:endParaRPr lang="en-US" sz="900" dirty="0"/>
          </a:p>
        </p:txBody>
      </p:sp>
      <p:sp>
        <p:nvSpPr>
          <p:cNvPr id="20" name="Text 18"/>
          <p:cNvSpPr txBox="1"/>
          <p:nvPr/>
        </p:nvSpPr>
        <p:spPr>
          <a:xfrm>
            <a:off x="9153144"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S13</a:t>
            </a:r>
            <a:endParaRPr lang="en-US" sz="900" dirty="0"/>
          </a:p>
        </p:txBody>
      </p:sp>
      <p:sp>
        <p:nvSpPr>
          <p:cNvPr id="21" name="Text 19"/>
          <p:cNvSpPr txBox="1"/>
          <p:nvPr/>
        </p:nvSpPr>
        <p:spPr>
          <a:xfrm>
            <a:off x="9569196"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S14</a:t>
            </a:r>
            <a:endParaRPr lang="en-US" sz="900" dirty="0"/>
          </a:p>
        </p:txBody>
      </p:sp>
      <p:sp>
        <p:nvSpPr>
          <p:cNvPr id="22" name="Text 20"/>
          <p:cNvSpPr txBox="1"/>
          <p:nvPr/>
        </p:nvSpPr>
        <p:spPr>
          <a:xfrm>
            <a:off x="9985248"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S15</a:t>
            </a:r>
            <a:endParaRPr lang="en-US" sz="900" dirty="0"/>
          </a:p>
        </p:txBody>
      </p:sp>
      <p:sp>
        <p:nvSpPr>
          <p:cNvPr id="23" name="Text 21"/>
          <p:cNvSpPr txBox="1"/>
          <p:nvPr/>
        </p:nvSpPr>
        <p:spPr>
          <a:xfrm>
            <a:off x="10401300"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S16</a:t>
            </a:r>
            <a:endParaRPr lang="en-US" sz="900" dirty="0"/>
          </a:p>
        </p:txBody>
      </p:sp>
      <p:sp>
        <p:nvSpPr>
          <p:cNvPr id="24" name="Text 22"/>
          <p:cNvSpPr txBox="1"/>
          <p:nvPr/>
        </p:nvSpPr>
        <p:spPr>
          <a:xfrm>
            <a:off x="10817352"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S17</a:t>
            </a:r>
            <a:endParaRPr lang="en-US" sz="900" dirty="0"/>
          </a:p>
        </p:txBody>
      </p:sp>
      <p:sp>
        <p:nvSpPr>
          <p:cNvPr id="25" name="Text 23"/>
          <p:cNvSpPr txBox="1"/>
          <p:nvPr/>
        </p:nvSpPr>
        <p:spPr>
          <a:xfrm>
            <a:off x="11233404" y="1691640"/>
            <a:ext cx="416052" cy="228600"/>
          </a:xfrm>
          <a:prstGeom prst="rect">
            <a:avLst/>
          </a:prstGeom>
          <a:noFill/>
          <a:ln/>
        </p:spPr>
        <p:txBody>
          <a:bodyPr wrap="square" lIns="0" tIns="0" rIns="0" bIns="0" rtlCol="0" anchor="t"/>
          <a:lstStyle/>
          <a:p>
            <a:pPr algn="ctr" indent="0" marL="0">
              <a:buNone/>
            </a:pPr>
            <a:r>
              <a:rPr lang="en-US" sz="900" dirty="0">
                <a:solidFill>
                  <a:srgbClr val="5B6770"/>
                </a:solidFill>
                <a:latin typeface="Calibri" pitchFamily="34" charset="0"/>
                <a:ea typeface="Calibri" pitchFamily="34" charset="-122"/>
                <a:cs typeface="Calibri" pitchFamily="34" charset="-120"/>
              </a:rPr>
              <a:t>S18</a:t>
            </a:r>
            <a:endParaRPr lang="en-US" sz="900" dirty="0"/>
          </a:p>
        </p:txBody>
      </p:sp>
      <p:sp>
        <p:nvSpPr>
          <p:cNvPr id="26" name="Shape 24"/>
          <p:cNvSpPr/>
          <p:nvPr/>
        </p:nvSpPr>
        <p:spPr>
          <a:xfrm>
            <a:off x="4160520" y="1965960"/>
            <a:ext cx="1664208" cy="3822192"/>
          </a:xfrm>
          <a:prstGeom prst="rect">
            <a:avLst/>
          </a:prstGeom>
          <a:solidFill>
            <a:srgbClr val="FAFBFC"/>
          </a:solidFill>
          <a:ln w="12700">
            <a:solidFill>
              <a:srgbClr val="FFFFFF"/>
            </a:solidFill>
            <a:prstDash val="solid"/>
          </a:ln>
        </p:spPr>
      </p:sp>
      <p:sp>
        <p:nvSpPr>
          <p:cNvPr id="27" name="Shape 25"/>
          <p:cNvSpPr/>
          <p:nvPr/>
        </p:nvSpPr>
        <p:spPr>
          <a:xfrm>
            <a:off x="5824728" y="1965960"/>
            <a:ext cx="4992624" cy="3822192"/>
          </a:xfrm>
          <a:prstGeom prst="rect">
            <a:avLst/>
          </a:prstGeom>
          <a:solidFill>
            <a:srgbClr val="F1F4F7"/>
          </a:solidFill>
          <a:ln w="12700">
            <a:solidFill>
              <a:srgbClr val="FFFFFF"/>
            </a:solidFill>
            <a:prstDash val="solid"/>
          </a:ln>
        </p:spPr>
      </p:sp>
      <p:sp>
        <p:nvSpPr>
          <p:cNvPr id="28" name="Shape 26"/>
          <p:cNvSpPr/>
          <p:nvPr/>
        </p:nvSpPr>
        <p:spPr>
          <a:xfrm>
            <a:off x="10817352" y="1965960"/>
            <a:ext cx="832104" cy="3822192"/>
          </a:xfrm>
          <a:prstGeom prst="rect">
            <a:avLst/>
          </a:prstGeom>
          <a:solidFill>
            <a:srgbClr val="FAFBFC"/>
          </a:solidFill>
          <a:ln w="12700">
            <a:solidFill>
              <a:srgbClr val="FFFFFF"/>
            </a:solidFill>
            <a:prstDash val="solid"/>
          </a:ln>
        </p:spPr>
      </p:sp>
      <p:sp>
        <p:nvSpPr>
          <p:cNvPr id="29" name="Text 27"/>
          <p:cNvSpPr txBox="1"/>
          <p:nvPr/>
        </p:nvSpPr>
        <p:spPr>
          <a:xfrm>
            <a:off x="777240" y="1965960"/>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E1 Análisis y planificación</a:t>
            </a:r>
            <a:endParaRPr lang="en-US" sz="1200" dirty="0"/>
          </a:p>
        </p:txBody>
      </p:sp>
      <p:sp>
        <p:nvSpPr>
          <p:cNvPr id="30" name="Shape 28"/>
          <p:cNvSpPr/>
          <p:nvPr/>
        </p:nvSpPr>
        <p:spPr>
          <a:xfrm>
            <a:off x="4197096" y="2039112"/>
            <a:ext cx="758952" cy="201168"/>
          </a:xfrm>
          <a:prstGeom prst="roundRect">
            <a:avLst>
              <a:gd name="adj" fmla="val 22727"/>
            </a:avLst>
          </a:prstGeom>
          <a:solidFill>
            <a:srgbClr val="2F855A"/>
          </a:solidFill>
          <a:ln w="12700">
            <a:solidFill>
              <a:srgbClr val="2F855A"/>
            </a:solidFill>
            <a:prstDash val="solid"/>
          </a:ln>
        </p:spPr>
      </p:sp>
      <p:sp>
        <p:nvSpPr>
          <p:cNvPr id="31" name="Text 29"/>
          <p:cNvSpPr txBox="1"/>
          <p:nvPr/>
        </p:nvSpPr>
        <p:spPr>
          <a:xfrm>
            <a:off x="777240" y="2313432"/>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E2 Validación del esquema y arquitectura</a:t>
            </a:r>
            <a:endParaRPr lang="en-US" sz="1200" dirty="0"/>
          </a:p>
        </p:txBody>
      </p:sp>
      <p:sp>
        <p:nvSpPr>
          <p:cNvPr id="32" name="Shape 30"/>
          <p:cNvSpPr/>
          <p:nvPr/>
        </p:nvSpPr>
        <p:spPr>
          <a:xfrm>
            <a:off x="5029200" y="2386584"/>
            <a:ext cx="758952" cy="201168"/>
          </a:xfrm>
          <a:prstGeom prst="roundRect">
            <a:avLst>
              <a:gd name="adj" fmla="val 22727"/>
            </a:avLst>
          </a:prstGeom>
          <a:solidFill>
            <a:srgbClr val="2F855A"/>
          </a:solidFill>
          <a:ln w="12700">
            <a:solidFill>
              <a:srgbClr val="2F855A"/>
            </a:solidFill>
            <a:prstDash val="solid"/>
          </a:ln>
        </p:spPr>
      </p:sp>
      <p:sp>
        <p:nvSpPr>
          <p:cNvPr id="33" name="Text 31"/>
          <p:cNvSpPr txBox="1"/>
          <p:nvPr/>
        </p:nvSpPr>
        <p:spPr>
          <a:xfrm>
            <a:off x="777240" y="2660904"/>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A1 Modelo canónico y arquitectura de ingesta</a:t>
            </a:r>
            <a:endParaRPr lang="en-US" sz="1200" dirty="0"/>
          </a:p>
        </p:txBody>
      </p:sp>
      <p:sp>
        <p:nvSpPr>
          <p:cNvPr id="34" name="Shape 32"/>
          <p:cNvSpPr/>
          <p:nvPr/>
        </p:nvSpPr>
        <p:spPr>
          <a:xfrm>
            <a:off x="5861304" y="2734056"/>
            <a:ext cx="758952" cy="201168"/>
          </a:xfrm>
          <a:prstGeom prst="roundRect">
            <a:avLst>
              <a:gd name="adj" fmla="val 22727"/>
            </a:avLst>
          </a:prstGeom>
          <a:solidFill>
            <a:srgbClr val="2F855A"/>
          </a:solidFill>
          <a:ln w="12700">
            <a:solidFill>
              <a:srgbClr val="2F855A"/>
            </a:solidFill>
            <a:prstDash val="solid"/>
          </a:ln>
        </p:spPr>
      </p:sp>
      <p:sp>
        <p:nvSpPr>
          <p:cNvPr id="35" name="Text 33"/>
          <p:cNvSpPr txBox="1"/>
          <p:nvPr/>
        </p:nvSpPr>
        <p:spPr>
          <a:xfrm>
            <a:off x="777240" y="3008376"/>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A2 Extensión del modelo de datos</a:t>
            </a:r>
            <a:endParaRPr lang="en-US" sz="1200" dirty="0"/>
          </a:p>
        </p:txBody>
      </p:sp>
      <p:sp>
        <p:nvSpPr>
          <p:cNvPr id="36" name="Shape 34"/>
          <p:cNvSpPr/>
          <p:nvPr/>
        </p:nvSpPr>
        <p:spPr>
          <a:xfrm>
            <a:off x="6277356" y="3081528"/>
            <a:ext cx="758952" cy="201168"/>
          </a:xfrm>
          <a:prstGeom prst="roundRect">
            <a:avLst>
              <a:gd name="adj" fmla="val 22727"/>
            </a:avLst>
          </a:prstGeom>
          <a:solidFill>
            <a:srgbClr val="2F855A"/>
          </a:solidFill>
          <a:ln w="12700">
            <a:solidFill>
              <a:srgbClr val="2F855A"/>
            </a:solidFill>
            <a:prstDash val="solid"/>
          </a:ln>
        </p:spPr>
      </p:sp>
      <p:sp>
        <p:nvSpPr>
          <p:cNvPr id="37" name="Text 35"/>
          <p:cNvSpPr txBox="1"/>
          <p:nvPr/>
        </p:nvSpPr>
        <p:spPr>
          <a:xfrm>
            <a:off x="777240" y="3355848"/>
            <a:ext cx="3291840" cy="347472"/>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A3 Selector de conectores</a:t>
            </a:r>
            <a:endParaRPr lang="en-US" sz="1200" dirty="0"/>
          </a:p>
        </p:txBody>
      </p:sp>
      <p:sp>
        <p:nvSpPr>
          <p:cNvPr id="38" name="Shape 36"/>
          <p:cNvSpPr/>
          <p:nvPr/>
        </p:nvSpPr>
        <p:spPr>
          <a:xfrm>
            <a:off x="6693408" y="3429000"/>
            <a:ext cx="758952" cy="201168"/>
          </a:xfrm>
          <a:prstGeom prst="roundRect">
            <a:avLst>
              <a:gd name="adj" fmla="val 22727"/>
            </a:avLst>
          </a:prstGeom>
          <a:solidFill>
            <a:srgbClr val="2B6CB0"/>
          </a:solidFill>
          <a:ln w="12700">
            <a:solidFill>
              <a:srgbClr val="2B6CB0"/>
            </a:solidFill>
            <a:prstDash val="solid"/>
          </a:ln>
        </p:spPr>
      </p:sp>
      <p:sp>
        <p:nvSpPr>
          <p:cNvPr id="39" name="Text 37"/>
          <p:cNvSpPr txBox="1"/>
          <p:nvPr/>
        </p:nvSpPr>
        <p:spPr>
          <a:xfrm>
            <a:off x="777240" y="3703320"/>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A4 API de conectores</a:t>
            </a:r>
            <a:endParaRPr lang="en-US" sz="1200" dirty="0"/>
          </a:p>
        </p:txBody>
      </p:sp>
      <p:sp>
        <p:nvSpPr>
          <p:cNvPr id="40" name="Shape 38"/>
          <p:cNvSpPr/>
          <p:nvPr/>
        </p:nvSpPr>
        <p:spPr>
          <a:xfrm>
            <a:off x="7109460" y="3776472"/>
            <a:ext cx="758952" cy="201168"/>
          </a:xfrm>
          <a:prstGeom prst="roundRect">
            <a:avLst>
              <a:gd name="adj" fmla="val 22727"/>
            </a:avLst>
          </a:prstGeom>
          <a:solidFill>
            <a:srgbClr val="B8C2CC"/>
          </a:solidFill>
          <a:ln w="12700">
            <a:solidFill>
              <a:srgbClr val="B8C2CC"/>
            </a:solidFill>
            <a:prstDash val="solid"/>
          </a:ln>
        </p:spPr>
      </p:sp>
      <p:sp>
        <p:nvSpPr>
          <p:cNvPr id="41" name="Text 39"/>
          <p:cNvSpPr txBox="1"/>
          <p:nvPr/>
        </p:nvSpPr>
        <p:spPr>
          <a:xfrm>
            <a:off x="777240" y="4050792"/>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A5 Pantalla de gestión de conectores</a:t>
            </a:r>
            <a:endParaRPr lang="en-US" sz="1200" dirty="0"/>
          </a:p>
        </p:txBody>
      </p:sp>
      <p:sp>
        <p:nvSpPr>
          <p:cNvPr id="42" name="Shape 40"/>
          <p:cNvSpPr/>
          <p:nvPr/>
        </p:nvSpPr>
        <p:spPr>
          <a:xfrm>
            <a:off x="7525512" y="4123944"/>
            <a:ext cx="758952" cy="201168"/>
          </a:xfrm>
          <a:prstGeom prst="roundRect">
            <a:avLst>
              <a:gd name="adj" fmla="val 22727"/>
            </a:avLst>
          </a:prstGeom>
          <a:solidFill>
            <a:srgbClr val="B8C2CC"/>
          </a:solidFill>
          <a:ln w="12700">
            <a:solidFill>
              <a:srgbClr val="B8C2CC"/>
            </a:solidFill>
            <a:prstDash val="solid"/>
          </a:ln>
        </p:spPr>
      </p:sp>
      <p:sp>
        <p:nvSpPr>
          <p:cNvPr id="43" name="Text 41"/>
          <p:cNvSpPr txBox="1"/>
          <p:nvPr/>
        </p:nvSpPr>
        <p:spPr>
          <a:xfrm>
            <a:off x="777240" y="4398264"/>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A6 Conector de referencia e ingesta</a:t>
            </a:r>
            <a:endParaRPr lang="en-US" sz="1200" dirty="0"/>
          </a:p>
        </p:txBody>
      </p:sp>
      <p:sp>
        <p:nvSpPr>
          <p:cNvPr id="44" name="Shape 42"/>
          <p:cNvSpPr/>
          <p:nvPr/>
        </p:nvSpPr>
        <p:spPr>
          <a:xfrm>
            <a:off x="7941564" y="4471416"/>
            <a:ext cx="1175004" cy="201168"/>
          </a:xfrm>
          <a:prstGeom prst="roundRect">
            <a:avLst>
              <a:gd name="adj" fmla="val 22727"/>
            </a:avLst>
          </a:prstGeom>
          <a:solidFill>
            <a:srgbClr val="B8C2CC"/>
          </a:solidFill>
          <a:ln w="12700">
            <a:solidFill>
              <a:srgbClr val="B8C2CC"/>
            </a:solidFill>
            <a:prstDash val="solid"/>
          </a:ln>
        </p:spPr>
      </p:sp>
      <p:sp>
        <p:nvSpPr>
          <p:cNvPr id="45" name="Text 43"/>
          <p:cNvSpPr txBox="1"/>
          <p:nvPr/>
        </p:nvSpPr>
        <p:spPr>
          <a:xfrm>
            <a:off x="777240" y="4745736"/>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A7 Indicadores MTBF y MTTR</a:t>
            </a:r>
            <a:endParaRPr lang="en-US" sz="1200" dirty="0"/>
          </a:p>
        </p:txBody>
      </p:sp>
      <p:sp>
        <p:nvSpPr>
          <p:cNvPr id="46" name="Shape 44"/>
          <p:cNvSpPr/>
          <p:nvPr/>
        </p:nvSpPr>
        <p:spPr>
          <a:xfrm>
            <a:off x="9189720" y="4818888"/>
            <a:ext cx="758952" cy="201168"/>
          </a:xfrm>
          <a:prstGeom prst="roundRect">
            <a:avLst>
              <a:gd name="adj" fmla="val 22727"/>
            </a:avLst>
          </a:prstGeom>
          <a:solidFill>
            <a:srgbClr val="B8C2CC"/>
          </a:solidFill>
          <a:ln w="12700">
            <a:solidFill>
              <a:srgbClr val="B8C2CC"/>
            </a:solidFill>
            <a:prstDash val="solid"/>
          </a:ln>
        </p:spPr>
      </p:sp>
      <p:sp>
        <p:nvSpPr>
          <p:cNvPr id="47" name="Text 45"/>
          <p:cNvSpPr txBox="1"/>
          <p:nvPr/>
        </p:nvSpPr>
        <p:spPr>
          <a:xfrm>
            <a:off x="777240" y="5093208"/>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A8 Pruebas y corrección</a:t>
            </a:r>
            <a:endParaRPr lang="en-US" sz="1200" dirty="0"/>
          </a:p>
        </p:txBody>
      </p:sp>
      <p:sp>
        <p:nvSpPr>
          <p:cNvPr id="48" name="Shape 46"/>
          <p:cNvSpPr/>
          <p:nvPr/>
        </p:nvSpPr>
        <p:spPr>
          <a:xfrm>
            <a:off x="10021824" y="5166360"/>
            <a:ext cx="758952" cy="201168"/>
          </a:xfrm>
          <a:prstGeom prst="roundRect">
            <a:avLst>
              <a:gd name="adj" fmla="val 22727"/>
            </a:avLst>
          </a:prstGeom>
          <a:solidFill>
            <a:srgbClr val="B8C2CC"/>
          </a:solidFill>
          <a:ln w="12700">
            <a:solidFill>
              <a:srgbClr val="B8C2CC"/>
            </a:solidFill>
            <a:prstDash val="solid"/>
          </a:ln>
        </p:spPr>
      </p:sp>
      <p:sp>
        <p:nvSpPr>
          <p:cNvPr id="49" name="Text 47"/>
          <p:cNvSpPr txBox="1"/>
          <p:nvPr/>
        </p:nvSpPr>
        <p:spPr>
          <a:xfrm>
            <a:off x="777240" y="5440680"/>
            <a:ext cx="3291840" cy="34747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A9 Validación, documentación y cierre</a:t>
            </a:r>
            <a:endParaRPr lang="en-US" sz="1200" dirty="0"/>
          </a:p>
        </p:txBody>
      </p:sp>
      <p:sp>
        <p:nvSpPr>
          <p:cNvPr id="50" name="Shape 48"/>
          <p:cNvSpPr/>
          <p:nvPr/>
        </p:nvSpPr>
        <p:spPr>
          <a:xfrm>
            <a:off x="10853928" y="5513832"/>
            <a:ext cx="758952" cy="201168"/>
          </a:xfrm>
          <a:prstGeom prst="roundRect">
            <a:avLst>
              <a:gd name="adj" fmla="val 22727"/>
            </a:avLst>
          </a:prstGeom>
          <a:solidFill>
            <a:srgbClr val="B8C2CC"/>
          </a:solidFill>
          <a:ln w="12700">
            <a:solidFill>
              <a:srgbClr val="B8C2CC"/>
            </a:solidFill>
            <a:prstDash val="solid"/>
          </a:ln>
        </p:spPr>
      </p:sp>
      <p:sp>
        <p:nvSpPr>
          <p:cNvPr id="51" name="Shape 49"/>
          <p:cNvSpPr/>
          <p:nvPr/>
        </p:nvSpPr>
        <p:spPr>
          <a:xfrm>
            <a:off x="6864858" y="1920240"/>
            <a:ext cx="0" cy="3913632"/>
          </a:xfrm>
          <a:prstGeom prst="line">
            <a:avLst/>
          </a:prstGeom>
          <a:noFill/>
          <a:ln w="25400">
            <a:solidFill>
              <a:srgbClr val="E69B00"/>
            </a:solidFill>
            <a:prstDash val="dash"/>
          </a:ln>
        </p:spPr>
      </p:sp>
      <p:sp>
        <p:nvSpPr>
          <p:cNvPr id="52" name="Text 50"/>
          <p:cNvSpPr txBox="1"/>
          <p:nvPr/>
        </p:nvSpPr>
        <p:spPr>
          <a:xfrm>
            <a:off x="6544818" y="5861304"/>
            <a:ext cx="640080" cy="228600"/>
          </a:xfrm>
          <a:prstGeom prst="rect">
            <a:avLst/>
          </a:prstGeom>
          <a:noFill/>
          <a:ln/>
        </p:spPr>
        <p:txBody>
          <a:bodyPr wrap="square" lIns="0" tIns="0" rIns="0" bIns="0" rtlCol="0" anchor="t"/>
          <a:lstStyle/>
          <a:p>
            <a:pPr algn="ctr" indent="0" marL="0">
              <a:buNone/>
            </a:pPr>
            <a:r>
              <a:rPr lang="en-US" sz="1000" b="1" dirty="0">
                <a:solidFill>
                  <a:srgbClr val="9A5B00"/>
                </a:solidFill>
                <a:latin typeface="Calibri" pitchFamily="34" charset="0"/>
                <a:ea typeface="Calibri" pitchFamily="34" charset="-122"/>
                <a:cs typeface="Calibri" pitchFamily="34" charset="-120"/>
              </a:rPr>
              <a:t>HOY</a:t>
            </a:r>
            <a:endParaRPr lang="en-US" sz="1000" dirty="0"/>
          </a:p>
        </p:txBody>
      </p:sp>
      <p:sp>
        <p:nvSpPr>
          <p:cNvPr id="53" name="Shape 51"/>
          <p:cNvSpPr/>
          <p:nvPr/>
        </p:nvSpPr>
        <p:spPr>
          <a:xfrm>
            <a:off x="777240" y="5833872"/>
            <a:ext cx="320040" cy="182880"/>
          </a:xfrm>
          <a:prstGeom prst="roundRect">
            <a:avLst>
              <a:gd name="adj" fmla="val 20000"/>
            </a:avLst>
          </a:prstGeom>
          <a:solidFill>
            <a:srgbClr val="2F855A"/>
          </a:solidFill>
          <a:ln w="12700">
            <a:solidFill>
              <a:srgbClr val="2F855A"/>
            </a:solidFill>
            <a:prstDash val="solid"/>
          </a:ln>
        </p:spPr>
      </p:sp>
      <p:sp>
        <p:nvSpPr>
          <p:cNvPr id="54" name="Text 52"/>
          <p:cNvSpPr txBox="1"/>
          <p:nvPr/>
        </p:nvSpPr>
        <p:spPr>
          <a:xfrm>
            <a:off x="1188720" y="5779008"/>
            <a:ext cx="1280160" cy="27432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Completado</a:t>
            </a:r>
            <a:endParaRPr lang="en-US" sz="1100" dirty="0"/>
          </a:p>
        </p:txBody>
      </p:sp>
      <p:sp>
        <p:nvSpPr>
          <p:cNvPr id="55" name="Shape 53"/>
          <p:cNvSpPr/>
          <p:nvPr/>
        </p:nvSpPr>
        <p:spPr>
          <a:xfrm>
            <a:off x="2514600" y="5833872"/>
            <a:ext cx="320040" cy="182880"/>
          </a:xfrm>
          <a:prstGeom prst="roundRect">
            <a:avLst>
              <a:gd name="adj" fmla="val 20000"/>
            </a:avLst>
          </a:prstGeom>
          <a:solidFill>
            <a:srgbClr val="2B6CB0"/>
          </a:solidFill>
          <a:ln w="12700">
            <a:solidFill>
              <a:srgbClr val="2B6CB0"/>
            </a:solidFill>
            <a:prstDash val="solid"/>
          </a:ln>
        </p:spPr>
      </p:sp>
      <p:sp>
        <p:nvSpPr>
          <p:cNvPr id="56" name="Text 54"/>
          <p:cNvSpPr txBox="1"/>
          <p:nvPr/>
        </p:nvSpPr>
        <p:spPr>
          <a:xfrm>
            <a:off x="2926080" y="5779008"/>
            <a:ext cx="1280160" cy="27432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En curso</a:t>
            </a:r>
            <a:endParaRPr lang="en-US" sz="1100" dirty="0"/>
          </a:p>
        </p:txBody>
      </p:sp>
      <p:sp>
        <p:nvSpPr>
          <p:cNvPr id="57" name="Shape 55"/>
          <p:cNvSpPr/>
          <p:nvPr/>
        </p:nvSpPr>
        <p:spPr>
          <a:xfrm>
            <a:off x="4251960" y="5833872"/>
            <a:ext cx="320040" cy="182880"/>
          </a:xfrm>
          <a:prstGeom prst="roundRect">
            <a:avLst>
              <a:gd name="adj" fmla="val 20000"/>
            </a:avLst>
          </a:prstGeom>
          <a:solidFill>
            <a:srgbClr val="B8C2CC"/>
          </a:solidFill>
          <a:ln w="12700">
            <a:solidFill>
              <a:srgbClr val="B8C2CC"/>
            </a:solidFill>
            <a:prstDash val="solid"/>
          </a:ln>
        </p:spPr>
      </p:sp>
      <p:sp>
        <p:nvSpPr>
          <p:cNvPr id="58" name="Text 56"/>
          <p:cNvSpPr txBox="1"/>
          <p:nvPr/>
        </p:nvSpPr>
        <p:spPr>
          <a:xfrm>
            <a:off x="4663440" y="5779008"/>
            <a:ext cx="1280160" cy="27432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No iniciado</a:t>
            </a:r>
            <a:endParaRPr lang="en-US" sz="1100" dirty="0"/>
          </a:p>
        </p:txBody>
      </p:sp>
      <p:sp>
        <p:nvSpPr>
          <p:cNvPr id="59" name="Text 57"/>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60" name="Text 58"/>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10 / 17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ECOSISTEMA DE DESARROLLO</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Stack tecnológico y herramientas</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Se mantiene el stack existente de Barb para integrar sin fricción</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691640"/>
            <a:ext cx="2679192" cy="4480560"/>
          </a:xfrm>
          <a:prstGeom prst="roundRect">
            <a:avLst>
              <a:gd name="adj" fmla="val 2730"/>
            </a:avLst>
          </a:prstGeom>
          <a:solidFill>
            <a:srgbClr val="FFFFFF"/>
          </a:solidFill>
          <a:ln w="12700">
            <a:solidFill>
              <a:srgbClr val="DDE3EA"/>
            </a:solidFill>
            <a:prstDash val="solid"/>
          </a:ln>
        </p:spPr>
      </p:sp>
      <p:sp>
        <p:nvSpPr>
          <p:cNvPr id="8" name="Shape 6"/>
          <p:cNvSpPr/>
          <p:nvPr/>
        </p:nvSpPr>
        <p:spPr>
          <a:xfrm>
            <a:off x="822960" y="1920240"/>
            <a:ext cx="548640" cy="548640"/>
          </a:xfrm>
          <a:prstGeom prst="ellipse">
            <a:avLst/>
          </a:prstGeom>
          <a:solidFill>
            <a:srgbClr val="FDF3DC"/>
          </a:solidFill>
          <a:ln w="12700">
            <a:solidFill>
              <a:srgbClr val="FDF3DC"/>
            </a:solidFill>
            <a:prstDash val="solid"/>
          </a:ln>
        </p:spPr>
      </p:sp>
      <p:pic>
        <p:nvPicPr>
          <p:cNvPr id="9" name="Image 0" descr="preencoded.png">    </p:cNvPr>
          <p:cNvPicPr>
            <a:picLocks noChangeAspect="1"/>
          </p:cNvPicPr>
          <p:nvPr/>
        </p:nvPicPr>
        <p:blipFill>
          <a:blip r:embed="rId1"/>
          <a:stretch>
            <a:fillRect/>
          </a:stretch>
        </p:blipFill>
        <p:spPr>
          <a:xfrm>
            <a:off x="943661" y="2040941"/>
            <a:ext cx="307238" cy="307238"/>
          </a:xfrm>
          <a:prstGeom prst="rect">
            <a:avLst/>
          </a:prstGeom>
        </p:spPr>
      </p:pic>
      <p:sp>
        <p:nvSpPr>
          <p:cNvPr id="10" name="Text 7"/>
          <p:cNvSpPr txBox="1"/>
          <p:nvPr/>
        </p:nvSpPr>
        <p:spPr>
          <a:xfrm>
            <a:off x="1463040" y="1920240"/>
            <a:ext cx="1691640" cy="548640"/>
          </a:xfrm>
          <a:prstGeom prst="rect">
            <a:avLst/>
          </a:prstGeom>
          <a:noFill/>
          <a:ln/>
        </p:spPr>
        <p:txBody>
          <a:bodyPr wrap="square" lIns="0" tIns="0" rIns="0" bIns="0" rtlCol="0" anchor="ctr"/>
          <a:lstStyle/>
          <a:p>
            <a:pPr indent="0" marL="0">
              <a:buNone/>
            </a:pPr>
            <a:r>
              <a:rPr lang="en-US" sz="1300" b="1" spc="100" kern="0" dirty="0">
                <a:solidFill>
                  <a:srgbClr val="9A5B00"/>
                </a:solidFill>
                <a:latin typeface="Calibri" pitchFamily="34" charset="0"/>
                <a:ea typeface="Calibri" pitchFamily="34" charset="-122"/>
                <a:cs typeface="Calibri" pitchFamily="34" charset="-120"/>
              </a:rPr>
              <a:t>FRONTEND</a:t>
            </a:r>
            <a:endParaRPr lang="en-US" sz="1300" dirty="0"/>
          </a:p>
        </p:txBody>
      </p:sp>
      <p:sp>
        <p:nvSpPr>
          <p:cNvPr id="11" name="Text 8"/>
          <p:cNvSpPr txBox="1"/>
          <p:nvPr/>
        </p:nvSpPr>
        <p:spPr>
          <a:xfrm>
            <a:off x="822960" y="274320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React 18 + Vite</a:t>
            </a:r>
            <a:endParaRPr lang="en-US" sz="1500" dirty="0"/>
          </a:p>
        </p:txBody>
      </p:sp>
      <p:sp>
        <p:nvSpPr>
          <p:cNvPr id="12" name="Text 9"/>
          <p:cNvSpPr txBox="1"/>
          <p:nvPr/>
        </p:nvSpPr>
        <p:spPr>
          <a:xfrm>
            <a:off x="822960" y="310896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Interfaz SPA de Barb</a:t>
            </a:r>
            <a:endParaRPr lang="en-US" sz="1200" dirty="0"/>
          </a:p>
        </p:txBody>
      </p:sp>
      <p:sp>
        <p:nvSpPr>
          <p:cNvPr id="13" name="Text 10"/>
          <p:cNvSpPr txBox="1"/>
          <p:nvPr/>
        </p:nvSpPr>
        <p:spPr>
          <a:xfrm>
            <a:off x="822960" y="384048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TypeScript</a:t>
            </a:r>
            <a:endParaRPr lang="en-US" sz="1500" dirty="0"/>
          </a:p>
        </p:txBody>
      </p:sp>
      <p:sp>
        <p:nvSpPr>
          <p:cNvPr id="14" name="Text 11"/>
          <p:cNvSpPr txBox="1"/>
          <p:nvPr/>
        </p:nvSpPr>
        <p:spPr>
          <a:xfrm>
            <a:off x="822960" y="420624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Tipado del componente de conectores</a:t>
            </a:r>
            <a:endParaRPr lang="en-US" sz="1200" dirty="0"/>
          </a:p>
        </p:txBody>
      </p:sp>
      <p:sp>
        <p:nvSpPr>
          <p:cNvPr id="15" name="Text 12"/>
          <p:cNvSpPr txBox="1"/>
          <p:nvPr/>
        </p:nvSpPr>
        <p:spPr>
          <a:xfrm>
            <a:off x="822960" y="493776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Tailwind CSS</a:t>
            </a:r>
            <a:endParaRPr lang="en-US" sz="1500" dirty="0"/>
          </a:p>
        </p:txBody>
      </p:sp>
      <p:sp>
        <p:nvSpPr>
          <p:cNvPr id="16" name="Text 13"/>
          <p:cNvSpPr txBox="1"/>
          <p:nvPr/>
        </p:nvSpPr>
        <p:spPr>
          <a:xfrm>
            <a:off x="822960" y="530352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Estilos con modo claro y oscuro</a:t>
            </a:r>
            <a:endParaRPr lang="en-US" sz="1200" dirty="0"/>
          </a:p>
        </p:txBody>
      </p:sp>
      <p:sp>
        <p:nvSpPr>
          <p:cNvPr id="17" name="Shape 14"/>
          <p:cNvSpPr/>
          <p:nvPr/>
        </p:nvSpPr>
        <p:spPr>
          <a:xfrm>
            <a:off x="3355848" y="1691640"/>
            <a:ext cx="2679192" cy="4480560"/>
          </a:xfrm>
          <a:prstGeom prst="roundRect">
            <a:avLst>
              <a:gd name="adj" fmla="val 2730"/>
            </a:avLst>
          </a:prstGeom>
          <a:solidFill>
            <a:srgbClr val="FFFFFF"/>
          </a:solidFill>
          <a:ln w="12700">
            <a:solidFill>
              <a:srgbClr val="DDE3EA"/>
            </a:solidFill>
            <a:prstDash val="solid"/>
          </a:ln>
        </p:spPr>
      </p:sp>
      <p:sp>
        <p:nvSpPr>
          <p:cNvPr id="18" name="Shape 15"/>
          <p:cNvSpPr/>
          <p:nvPr/>
        </p:nvSpPr>
        <p:spPr>
          <a:xfrm>
            <a:off x="3630168" y="1920240"/>
            <a:ext cx="548640" cy="548640"/>
          </a:xfrm>
          <a:prstGeom prst="ellipse">
            <a:avLst/>
          </a:prstGeom>
          <a:solidFill>
            <a:srgbClr val="FDF3DC"/>
          </a:solidFill>
          <a:ln w="12700">
            <a:solidFill>
              <a:srgbClr val="FDF3DC"/>
            </a:solidFill>
            <a:prstDash val="solid"/>
          </a:ln>
        </p:spPr>
      </p:sp>
      <p:pic>
        <p:nvPicPr>
          <p:cNvPr id="19" name="Image 1" descr="preencoded.png">    </p:cNvPr>
          <p:cNvPicPr>
            <a:picLocks noChangeAspect="1"/>
          </p:cNvPicPr>
          <p:nvPr/>
        </p:nvPicPr>
        <p:blipFill>
          <a:blip r:embed="rId2"/>
          <a:stretch>
            <a:fillRect/>
          </a:stretch>
        </p:blipFill>
        <p:spPr>
          <a:xfrm>
            <a:off x="3750869" y="2040941"/>
            <a:ext cx="307238" cy="307238"/>
          </a:xfrm>
          <a:prstGeom prst="rect">
            <a:avLst/>
          </a:prstGeom>
        </p:spPr>
      </p:pic>
      <p:sp>
        <p:nvSpPr>
          <p:cNvPr id="20" name="Text 16"/>
          <p:cNvSpPr txBox="1"/>
          <p:nvPr/>
        </p:nvSpPr>
        <p:spPr>
          <a:xfrm>
            <a:off x="4270248" y="1920240"/>
            <a:ext cx="1691640" cy="548640"/>
          </a:xfrm>
          <a:prstGeom prst="rect">
            <a:avLst/>
          </a:prstGeom>
          <a:noFill/>
          <a:ln/>
        </p:spPr>
        <p:txBody>
          <a:bodyPr wrap="square" lIns="0" tIns="0" rIns="0" bIns="0" rtlCol="0" anchor="ctr"/>
          <a:lstStyle/>
          <a:p>
            <a:pPr indent="0" marL="0">
              <a:buNone/>
            </a:pPr>
            <a:r>
              <a:rPr lang="en-US" sz="1300" b="1" spc="100" kern="0" dirty="0">
                <a:solidFill>
                  <a:srgbClr val="9A5B00"/>
                </a:solidFill>
                <a:latin typeface="Calibri" pitchFamily="34" charset="0"/>
                <a:ea typeface="Calibri" pitchFamily="34" charset="-122"/>
                <a:cs typeface="Calibri" pitchFamily="34" charset="-120"/>
              </a:rPr>
              <a:t>BACKEND</a:t>
            </a:r>
            <a:endParaRPr lang="en-US" sz="1300" dirty="0"/>
          </a:p>
        </p:txBody>
      </p:sp>
      <p:sp>
        <p:nvSpPr>
          <p:cNvPr id="21" name="Text 17"/>
          <p:cNvSpPr txBox="1"/>
          <p:nvPr/>
        </p:nvSpPr>
        <p:spPr>
          <a:xfrm>
            <a:off x="3630168" y="274320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Python + FastAPI</a:t>
            </a:r>
            <a:endParaRPr lang="en-US" sz="1500" dirty="0"/>
          </a:p>
        </p:txBody>
      </p:sp>
      <p:sp>
        <p:nvSpPr>
          <p:cNvPr id="22" name="Text 18"/>
          <p:cNvSpPr txBox="1"/>
          <p:nvPr/>
        </p:nvSpPr>
        <p:spPr>
          <a:xfrm>
            <a:off x="3630168" y="310896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API REST asíncrona y RBAC</a:t>
            </a:r>
            <a:endParaRPr lang="en-US" sz="1200" dirty="0"/>
          </a:p>
        </p:txBody>
      </p:sp>
      <p:sp>
        <p:nvSpPr>
          <p:cNvPr id="23" name="Text 19"/>
          <p:cNvSpPr txBox="1"/>
          <p:nvPr/>
        </p:nvSpPr>
        <p:spPr>
          <a:xfrm>
            <a:off x="3630168" y="384048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Conectores en Python</a:t>
            </a:r>
            <a:endParaRPr lang="en-US" sz="1500" dirty="0"/>
          </a:p>
        </p:txBody>
      </p:sp>
      <p:sp>
        <p:nvSpPr>
          <p:cNvPr id="24" name="Text 20"/>
          <p:cNvSpPr txBox="1"/>
          <p:nvPr/>
        </p:nvSpPr>
        <p:spPr>
          <a:xfrm>
            <a:off x="3630168" y="420624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Interfaz común por ERP</a:t>
            </a:r>
            <a:endParaRPr lang="en-US" sz="1200" dirty="0"/>
          </a:p>
        </p:txBody>
      </p:sp>
      <p:sp>
        <p:nvSpPr>
          <p:cNvPr id="25" name="Text 21"/>
          <p:cNvSpPr txBox="1"/>
          <p:nvPr/>
        </p:nvSpPr>
        <p:spPr>
          <a:xfrm>
            <a:off x="3630168" y="493776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pytest</a:t>
            </a:r>
            <a:endParaRPr lang="en-US" sz="1500" dirty="0"/>
          </a:p>
        </p:txBody>
      </p:sp>
      <p:sp>
        <p:nvSpPr>
          <p:cNvPr id="26" name="Text 22"/>
          <p:cNvSpPr txBox="1"/>
          <p:nvPr/>
        </p:nvSpPr>
        <p:spPr>
          <a:xfrm>
            <a:off x="3630168" y="530352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Pruebas unitarias y de integración</a:t>
            </a:r>
            <a:endParaRPr lang="en-US" sz="1200" dirty="0"/>
          </a:p>
        </p:txBody>
      </p:sp>
      <p:sp>
        <p:nvSpPr>
          <p:cNvPr id="27" name="Shape 23"/>
          <p:cNvSpPr/>
          <p:nvPr/>
        </p:nvSpPr>
        <p:spPr>
          <a:xfrm>
            <a:off x="6163056" y="1691640"/>
            <a:ext cx="2679192" cy="4480560"/>
          </a:xfrm>
          <a:prstGeom prst="roundRect">
            <a:avLst>
              <a:gd name="adj" fmla="val 2730"/>
            </a:avLst>
          </a:prstGeom>
          <a:solidFill>
            <a:srgbClr val="FFFFFF"/>
          </a:solidFill>
          <a:ln w="12700">
            <a:solidFill>
              <a:srgbClr val="DDE3EA"/>
            </a:solidFill>
            <a:prstDash val="solid"/>
          </a:ln>
        </p:spPr>
      </p:sp>
      <p:sp>
        <p:nvSpPr>
          <p:cNvPr id="28" name="Shape 24"/>
          <p:cNvSpPr/>
          <p:nvPr/>
        </p:nvSpPr>
        <p:spPr>
          <a:xfrm>
            <a:off x="6437376" y="1920240"/>
            <a:ext cx="548640" cy="548640"/>
          </a:xfrm>
          <a:prstGeom prst="ellipse">
            <a:avLst/>
          </a:prstGeom>
          <a:solidFill>
            <a:srgbClr val="FDF3DC"/>
          </a:solidFill>
          <a:ln w="12700">
            <a:solidFill>
              <a:srgbClr val="FDF3DC"/>
            </a:solidFill>
            <a:prstDash val="solid"/>
          </a:ln>
        </p:spPr>
      </p:sp>
      <p:pic>
        <p:nvPicPr>
          <p:cNvPr id="29" name="Image 2" descr="preencoded.png">    </p:cNvPr>
          <p:cNvPicPr>
            <a:picLocks noChangeAspect="1"/>
          </p:cNvPicPr>
          <p:nvPr/>
        </p:nvPicPr>
        <p:blipFill>
          <a:blip r:embed="rId3"/>
          <a:stretch>
            <a:fillRect/>
          </a:stretch>
        </p:blipFill>
        <p:spPr>
          <a:xfrm>
            <a:off x="6558077" y="2040941"/>
            <a:ext cx="307238" cy="307238"/>
          </a:xfrm>
          <a:prstGeom prst="rect">
            <a:avLst/>
          </a:prstGeom>
        </p:spPr>
      </p:pic>
      <p:sp>
        <p:nvSpPr>
          <p:cNvPr id="30" name="Text 25"/>
          <p:cNvSpPr txBox="1"/>
          <p:nvPr/>
        </p:nvSpPr>
        <p:spPr>
          <a:xfrm>
            <a:off x="7077456" y="1920240"/>
            <a:ext cx="1691640" cy="548640"/>
          </a:xfrm>
          <a:prstGeom prst="rect">
            <a:avLst/>
          </a:prstGeom>
          <a:noFill/>
          <a:ln/>
        </p:spPr>
        <p:txBody>
          <a:bodyPr wrap="square" lIns="0" tIns="0" rIns="0" bIns="0" rtlCol="0" anchor="ctr"/>
          <a:lstStyle/>
          <a:p>
            <a:pPr indent="0" marL="0">
              <a:buNone/>
            </a:pPr>
            <a:r>
              <a:rPr lang="en-US" sz="1300" b="1" spc="100" kern="0" dirty="0">
                <a:solidFill>
                  <a:srgbClr val="9A5B00"/>
                </a:solidFill>
                <a:latin typeface="Calibri" pitchFamily="34" charset="0"/>
                <a:ea typeface="Calibri" pitchFamily="34" charset="-122"/>
                <a:cs typeface="Calibri" pitchFamily="34" charset="-120"/>
              </a:rPr>
              <a:t>DATOS</a:t>
            </a:r>
            <a:endParaRPr lang="en-US" sz="1300" dirty="0"/>
          </a:p>
        </p:txBody>
      </p:sp>
      <p:sp>
        <p:nvSpPr>
          <p:cNvPr id="31" name="Text 26"/>
          <p:cNvSpPr txBox="1"/>
          <p:nvPr/>
        </p:nvSpPr>
        <p:spPr>
          <a:xfrm>
            <a:off x="6437376" y="274320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PostgreSQL 15</a:t>
            </a:r>
            <a:endParaRPr lang="en-US" sz="1500" dirty="0"/>
          </a:p>
        </p:txBody>
      </p:sp>
      <p:sp>
        <p:nvSpPr>
          <p:cNvPr id="32" name="Text 27"/>
          <p:cNvSpPr txBox="1"/>
          <p:nvPr/>
        </p:nvSpPr>
        <p:spPr>
          <a:xfrm>
            <a:off x="6437376" y="310896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Modelo relacional multi-empresa</a:t>
            </a:r>
            <a:endParaRPr lang="en-US" sz="1200" dirty="0"/>
          </a:p>
        </p:txBody>
      </p:sp>
      <p:sp>
        <p:nvSpPr>
          <p:cNvPr id="33" name="Text 28"/>
          <p:cNvSpPr txBox="1"/>
          <p:nvPr/>
        </p:nvSpPr>
        <p:spPr>
          <a:xfrm>
            <a:off x="6437376" y="384048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JSONB</a:t>
            </a:r>
            <a:endParaRPr lang="en-US" sz="1500" dirty="0"/>
          </a:p>
        </p:txBody>
      </p:sp>
      <p:sp>
        <p:nvSpPr>
          <p:cNvPr id="34" name="Text 29"/>
          <p:cNvSpPr txBox="1"/>
          <p:nvPr/>
        </p:nvSpPr>
        <p:spPr>
          <a:xfrm>
            <a:off x="6437376" y="420624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Registro crudo de cada payload</a:t>
            </a:r>
            <a:endParaRPr lang="en-US" sz="1200" dirty="0"/>
          </a:p>
        </p:txBody>
      </p:sp>
      <p:sp>
        <p:nvSpPr>
          <p:cNvPr id="35" name="Text 30"/>
          <p:cNvSpPr txBox="1"/>
          <p:nvPr/>
        </p:nvSpPr>
        <p:spPr>
          <a:xfrm>
            <a:off x="6437376" y="493776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Migraciones SQL</a:t>
            </a:r>
            <a:endParaRPr lang="en-US" sz="1500" dirty="0"/>
          </a:p>
        </p:txBody>
      </p:sp>
      <p:sp>
        <p:nvSpPr>
          <p:cNvPr id="36" name="Text 31"/>
          <p:cNvSpPr txBox="1"/>
          <p:nvPr/>
        </p:nvSpPr>
        <p:spPr>
          <a:xfrm>
            <a:off x="6437376" y="530352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Aditivas e idempotentes</a:t>
            </a:r>
            <a:endParaRPr lang="en-US" sz="1200" dirty="0"/>
          </a:p>
        </p:txBody>
      </p:sp>
      <p:sp>
        <p:nvSpPr>
          <p:cNvPr id="37" name="Shape 32"/>
          <p:cNvSpPr/>
          <p:nvPr/>
        </p:nvSpPr>
        <p:spPr>
          <a:xfrm>
            <a:off x="8970264" y="1691640"/>
            <a:ext cx="2679192" cy="4480560"/>
          </a:xfrm>
          <a:prstGeom prst="roundRect">
            <a:avLst>
              <a:gd name="adj" fmla="val 2730"/>
            </a:avLst>
          </a:prstGeom>
          <a:solidFill>
            <a:srgbClr val="FFFFFF"/>
          </a:solidFill>
          <a:ln w="12700">
            <a:solidFill>
              <a:srgbClr val="DDE3EA"/>
            </a:solidFill>
            <a:prstDash val="solid"/>
          </a:ln>
        </p:spPr>
      </p:sp>
      <p:sp>
        <p:nvSpPr>
          <p:cNvPr id="38" name="Shape 33"/>
          <p:cNvSpPr/>
          <p:nvPr/>
        </p:nvSpPr>
        <p:spPr>
          <a:xfrm>
            <a:off x="9244584" y="1920240"/>
            <a:ext cx="548640" cy="548640"/>
          </a:xfrm>
          <a:prstGeom prst="ellipse">
            <a:avLst/>
          </a:prstGeom>
          <a:solidFill>
            <a:srgbClr val="FDF3DC"/>
          </a:solidFill>
          <a:ln w="12700">
            <a:solidFill>
              <a:srgbClr val="FDF3DC"/>
            </a:solidFill>
            <a:prstDash val="solid"/>
          </a:ln>
        </p:spPr>
      </p:sp>
      <p:pic>
        <p:nvPicPr>
          <p:cNvPr id="39" name="Image 3" descr="preencoded.png">    </p:cNvPr>
          <p:cNvPicPr>
            <a:picLocks noChangeAspect="1"/>
          </p:cNvPicPr>
          <p:nvPr/>
        </p:nvPicPr>
        <p:blipFill>
          <a:blip r:embed="rId4"/>
          <a:stretch>
            <a:fillRect/>
          </a:stretch>
        </p:blipFill>
        <p:spPr>
          <a:xfrm>
            <a:off x="9365285" y="2040941"/>
            <a:ext cx="307238" cy="307238"/>
          </a:xfrm>
          <a:prstGeom prst="rect">
            <a:avLst/>
          </a:prstGeom>
        </p:spPr>
      </p:pic>
      <p:sp>
        <p:nvSpPr>
          <p:cNvPr id="40" name="Text 34"/>
          <p:cNvSpPr txBox="1"/>
          <p:nvPr/>
        </p:nvSpPr>
        <p:spPr>
          <a:xfrm>
            <a:off x="9884664" y="1920240"/>
            <a:ext cx="1691640" cy="548640"/>
          </a:xfrm>
          <a:prstGeom prst="rect">
            <a:avLst/>
          </a:prstGeom>
          <a:noFill/>
          <a:ln/>
        </p:spPr>
        <p:txBody>
          <a:bodyPr wrap="square" lIns="0" tIns="0" rIns="0" bIns="0" rtlCol="0" anchor="ctr"/>
          <a:lstStyle/>
          <a:p>
            <a:pPr indent="0" marL="0">
              <a:buNone/>
            </a:pPr>
            <a:r>
              <a:rPr lang="en-US" sz="1300" b="1" spc="100" kern="0" dirty="0">
                <a:solidFill>
                  <a:srgbClr val="9A5B00"/>
                </a:solidFill>
                <a:latin typeface="Calibri" pitchFamily="34" charset="0"/>
                <a:ea typeface="Calibri" pitchFamily="34" charset="-122"/>
                <a:cs typeface="Calibri" pitchFamily="34" charset="-120"/>
              </a:rPr>
              <a:t>PLATAFORMA</a:t>
            </a:r>
            <a:endParaRPr lang="en-US" sz="1300" dirty="0"/>
          </a:p>
        </p:txBody>
      </p:sp>
      <p:sp>
        <p:nvSpPr>
          <p:cNvPr id="41" name="Text 35"/>
          <p:cNvSpPr txBox="1"/>
          <p:nvPr/>
        </p:nvSpPr>
        <p:spPr>
          <a:xfrm>
            <a:off x="9244584" y="274320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Docker Compose</a:t>
            </a:r>
            <a:endParaRPr lang="en-US" sz="1500" dirty="0"/>
          </a:p>
        </p:txBody>
      </p:sp>
      <p:sp>
        <p:nvSpPr>
          <p:cNvPr id="42" name="Text 36"/>
          <p:cNvSpPr txBox="1"/>
          <p:nvPr/>
        </p:nvSpPr>
        <p:spPr>
          <a:xfrm>
            <a:off x="9244584" y="310896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Entorno local reproducible</a:t>
            </a:r>
            <a:endParaRPr lang="en-US" sz="1200" dirty="0"/>
          </a:p>
        </p:txBody>
      </p:sp>
      <p:sp>
        <p:nvSpPr>
          <p:cNvPr id="43" name="Text 37"/>
          <p:cNvSpPr txBox="1"/>
          <p:nvPr/>
        </p:nvSpPr>
        <p:spPr>
          <a:xfrm>
            <a:off x="9244584" y="384048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Git</a:t>
            </a:r>
            <a:endParaRPr lang="en-US" sz="1500" dirty="0"/>
          </a:p>
        </p:txBody>
      </p:sp>
      <p:sp>
        <p:nvSpPr>
          <p:cNvPr id="44" name="Text 38"/>
          <p:cNvSpPr txBox="1"/>
          <p:nvPr/>
        </p:nvSpPr>
        <p:spPr>
          <a:xfrm>
            <a:off x="9244584" y="420624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Versionado y evidencias</a:t>
            </a:r>
            <a:endParaRPr lang="en-US" sz="1200" dirty="0"/>
          </a:p>
        </p:txBody>
      </p:sp>
      <p:sp>
        <p:nvSpPr>
          <p:cNvPr id="45" name="Text 39"/>
          <p:cNvSpPr txBox="1"/>
          <p:nvPr/>
        </p:nvSpPr>
        <p:spPr>
          <a:xfrm>
            <a:off x="9244584" y="4937760"/>
            <a:ext cx="2240280" cy="36576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Render y Vercel</a:t>
            </a:r>
            <a:endParaRPr lang="en-US" sz="1500" dirty="0"/>
          </a:p>
        </p:txBody>
      </p:sp>
      <p:sp>
        <p:nvSpPr>
          <p:cNvPr id="46" name="Text 40"/>
          <p:cNvSpPr txBox="1"/>
          <p:nvPr/>
        </p:nvSpPr>
        <p:spPr>
          <a:xfrm>
            <a:off x="9244584" y="5303520"/>
            <a:ext cx="2240280" cy="5486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Despliegue de backend y frontend</a:t>
            </a:r>
            <a:endParaRPr lang="en-US" sz="1200" dirty="0"/>
          </a:p>
        </p:txBody>
      </p:sp>
      <p:sp>
        <p:nvSpPr>
          <p:cNvPr id="47" name="Text 41"/>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48" name="Text 42"/>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11 / 17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DISEÑO DE LA SOLUCIÓN</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Arquitectura de ingesta por capas</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Cada capa tiene una sola responsabilidad; solo el conector conoce el ERP</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783080"/>
            <a:ext cx="1965960" cy="2240280"/>
          </a:xfrm>
          <a:prstGeom prst="roundRect">
            <a:avLst>
              <a:gd name="adj" fmla="val 4651"/>
            </a:avLst>
          </a:prstGeom>
          <a:solidFill>
            <a:srgbClr val="D5DBE1"/>
          </a:solidFill>
          <a:ln w="12700">
            <a:solidFill>
              <a:srgbClr val="D5DBE1"/>
            </a:solidFill>
            <a:prstDash val="solid"/>
          </a:ln>
        </p:spPr>
      </p:sp>
      <p:sp>
        <p:nvSpPr>
          <p:cNvPr id="8" name="Shape 6"/>
          <p:cNvSpPr/>
          <p:nvPr/>
        </p:nvSpPr>
        <p:spPr>
          <a:xfrm>
            <a:off x="1211580" y="1965960"/>
            <a:ext cx="640080" cy="640080"/>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1352398" y="2106778"/>
            <a:ext cx="358445" cy="358445"/>
          </a:xfrm>
          <a:prstGeom prst="rect">
            <a:avLst/>
          </a:prstGeom>
        </p:spPr>
      </p:pic>
      <p:sp>
        <p:nvSpPr>
          <p:cNvPr id="10" name="Text 7"/>
          <p:cNvSpPr txBox="1"/>
          <p:nvPr/>
        </p:nvSpPr>
        <p:spPr>
          <a:xfrm>
            <a:off x="640080" y="2743200"/>
            <a:ext cx="1783080" cy="411480"/>
          </a:xfrm>
          <a:prstGeom prst="rect">
            <a:avLst/>
          </a:prstGeom>
          <a:noFill/>
          <a:ln/>
        </p:spPr>
        <p:txBody>
          <a:bodyPr wrap="square" lIns="0" tIns="0" rIns="0" bIns="0" rtlCol="0" anchor="t"/>
          <a:lstStyle/>
          <a:p>
            <a:pPr algn="ctr" indent="0" marL="0">
              <a:buNone/>
            </a:pPr>
            <a:r>
              <a:rPr lang="en-US" sz="1700" b="1" dirty="0">
                <a:solidFill>
                  <a:srgbClr val="1F2933"/>
                </a:solidFill>
                <a:latin typeface="Calibri" pitchFamily="34" charset="0"/>
                <a:ea typeface="Calibri" pitchFamily="34" charset="-122"/>
                <a:cs typeface="Calibri" pitchFamily="34" charset="-120"/>
              </a:rPr>
              <a:t>Fuentes ERP</a:t>
            </a:r>
            <a:endParaRPr lang="en-US" sz="1700" dirty="0"/>
          </a:p>
        </p:txBody>
      </p:sp>
      <p:sp>
        <p:nvSpPr>
          <p:cNvPr id="11" name="Text 8"/>
          <p:cNvSpPr txBox="1"/>
          <p:nvPr/>
        </p:nvSpPr>
        <p:spPr>
          <a:xfrm>
            <a:off x="685800" y="3154680"/>
            <a:ext cx="1691640" cy="7772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SAP PM · Oracle EAM · CSV</a:t>
            </a:r>
            <a:endParaRPr lang="en-US" sz="1200" dirty="0"/>
          </a:p>
        </p:txBody>
      </p:sp>
      <p:sp>
        <p:nvSpPr>
          <p:cNvPr id="12" name="Shape 9"/>
          <p:cNvSpPr/>
          <p:nvPr/>
        </p:nvSpPr>
        <p:spPr>
          <a:xfrm>
            <a:off x="2551176" y="2898648"/>
            <a:ext cx="246888" cy="0"/>
          </a:xfrm>
          <a:prstGeom prst="line">
            <a:avLst/>
          </a:prstGeom>
          <a:noFill/>
          <a:ln w="19050">
            <a:solidFill>
              <a:srgbClr val="1F2933"/>
            </a:solidFill>
            <a:prstDash val="solid"/>
            <a:tailEnd type="triangle"/>
          </a:ln>
        </p:spPr>
      </p:sp>
      <p:sp>
        <p:nvSpPr>
          <p:cNvPr id="13" name="Shape 10"/>
          <p:cNvSpPr/>
          <p:nvPr/>
        </p:nvSpPr>
        <p:spPr>
          <a:xfrm>
            <a:off x="2834640" y="1783080"/>
            <a:ext cx="1965960" cy="2240280"/>
          </a:xfrm>
          <a:prstGeom prst="roundRect">
            <a:avLst>
              <a:gd name="adj" fmla="val 4651"/>
            </a:avLst>
          </a:prstGeom>
          <a:solidFill>
            <a:srgbClr val="E8EFF6"/>
          </a:solidFill>
          <a:ln w="12700">
            <a:solidFill>
              <a:srgbClr val="E8EFF6"/>
            </a:solidFill>
            <a:prstDash val="solid"/>
          </a:ln>
        </p:spPr>
      </p:sp>
      <p:sp>
        <p:nvSpPr>
          <p:cNvPr id="14" name="Shape 11"/>
          <p:cNvSpPr/>
          <p:nvPr/>
        </p:nvSpPr>
        <p:spPr>
          <a:xfrm>
            <a:off x="3497580" y="1965960"/>
            <a:ext cx="640080" cy="640080"/>
          </a:xfrm>
          <a:prstGeom prst="ellipse">
            <a:avLst/>
          </a:prstGeom>
          <a:solidFill>
            <a:srgbClr val="FFFFFF"/>
          </a:solidFill>
          <a:ln w="12700">
            <a:solidFill>
              <a:srgbClr val="FFFFFF"/>
            </a:solidFill>
            <a:prstDash val="solid"/>
          </a:ln>
        </p:spPr>
      </p:sp>
      <p:pic>
        <p:nvPicPr>
          <p:cNvPr id="15" name="Image 1" descr="preencoded.png">    </p:cNvPr>
          <p:cNvPicPr>
            <a:picLocks noChangeAspect="1"/>
          </p:cNvPicPr>
          <p:nvPr/>
        </p:nvPicPr>
        <p:blipFill>
          <a:blip r:embed="rId2"/>
          <a:stretch>
            <a:fillRect/>
          </a:stretch>
        </p:blipFill>
        <p:spPr>
          <a:xfrm>
            <a:off x="3638398" y="2106778"/>
            <a:ext cx="358445" cy="358445"/>
          </a:xfrm>
          <a:prstGeom prst="rect">
            <a:avLst/>
          </a:prstGeom>
        </p:spPr>
      </p:pic>
      <p:sp>
        <p:nvSpPr>
          <p:cNvPr id="16" name="Text 12"/>
          <p:cNvSpPr txBox="1"/>
          <p:nvPr/>
        </p:nvSpPr>
        <p:spPr>
          <a:xfrm>
            <a:off x="2926080" y="2743200"/>
            <a:ext cx="1783080" cy="411480"/>
          </a:xfrm>
          <a:prstGeom prst="rect">
            <a:avLst/>
          </a:prstGeom>
          <a:noFill/>
          <a:ln/>
        </p:spPr>
        <p:txBody>
          <a:bodyPr wrap="square" lIns="0" tIns="0" rIns="0" bIns="0" rtlCol="0" anchor="t"/>
          <a:lstStyle/>
          <a:p>
            <a:pPr algn="ctr" indent="0" marL="0">
              <a:buNone/>
            </a:pPr>
            <a:r>
              <a:rPr lang="en-US" sz="1700" b="1" dirty="0">
                <a:solidFill>
                  <a:srgbClr val="1F2933"/>
                </a:solidFill>
                <a:latin typeface="Calibri" pitchFamily="34" charset="0"/>
                <a:ea typeface="Calibri" pitchFamily="34" charset="-122"/>
                <a:cs typeface="Calibri" pitchFamily="34" charset="-120"/>
              </a:rPr>
              <a:t>Conectores</a:t>
            </a:r>
            <a:endParaRPr lang="en-US" sz="1700" dirty="0"/>
          </a:p>
        </p:txBody>
      </p:sp>
      <p:sp>
        <p:nvSpPr>
          <p:cNvPr id="17" name="Text 13"/>
          <p:cNvSpPr txBox="1"/>
          <p:nvPr/>
        </p:nvSpPr>
        <p:spPr>
          <a:xfrm>
            <a:off x="2971800" y="3154680"/>
            <a:ext cx="1691640" cy="7772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Un módulo por ERP con interfaz común</a:t>
            </a:r>
            <a:endParaRPr lang="en-US" sz="1200" dirty="0"/>
          </a:p>
        </p:txBody>
      </p:sp>
      <p:sp>
        <p:nvSpPr>
          <p:cNvPr id="18" name="Shape 14"/>
          <p:cNvSpPr/>
          <p:nvPr/>
        </p:nvSpPr>
        <p:spPr>
          <a:xfrm>
            <a:off x="4837176" y="2898648"/>
            <a:ext cx="246888" cy="0"/>
          </a:xfrm>
          <a:prstGeom prst="line">
            <a:avLst/>
          </a:prstGeom>
          <a:noFill/>
          <a:ln w="19050">
            <a:solidFill>
              <a:srgbClr val="1F2933"/>
            </a:solidFill>
            <a:prstDash val="solid"/>
            <a:tailEnd type="triangle"/>
          </a:ln>
        </p:spPr>
      </p:sp>
      <p:sp>
        <p:nvSpPr>
          <p:cNvPr id="19" name="Shape 15"/>
          <p:cNvSpPr/>
          <p:nvPr/>
        </p:nvSpPr>
        <p:spPr>
          <a:xfrm>
            <a:off x="5120640" y="1783080"/>
            <a:ext cx="1965960" cy="2240280"/>
          </a:xfrm>
          <a:prstGeom prst="roundRect">
            <a:avLst>
              <a:gd name="adj" fmla="val 4651"/>
            </a:avLst>
          </a:prstGeom>
          <a:solidFill>
            <a:srgbClr val="F3E3C7"/>
          </a:solidFill>
          <a:ln w="12700">
            <a:solidFill>
              <a:srgbClr val="F3E3C7"/>
            </a:solidFill>
            <a:prstDash val="solid"/>
          </a:ln>
        </p:spPr>
      </p:sp>
      <p:sp>
        <p:nvSpPr>
          <p:cNvPr id="20" name="Shape 16"/>
          <p:cNvSpPr/>
          <p:nvPr/>
        </p:nvSpPr>
        <p:spPr>
          <a:xfrm>
            <a:off x="5783580" y="1965960"/>
            <a:ext cx="640080" cy="640080"/>
          </a:xfrm>
          <a:prstGeom prst="ellipse">
            <a:avLst/>
          </a:prstGeom>
          <a:solidFill>
            <a:srgbClr val="FFFFFF"/>
          </a:solidFill>
          <a:ln w="12700">
            <a:solidFill>
              <a:srgbClr val="FFFFFF"/>
            </a:solidFill>
            <a:prstDash val="solid"/>
          </a:ln>
        </p:spPr>
      </p:sp>
      <p:pic>
        <p:nvPicPr>
          <p:cNvPr id="21" name="Image 2" descr="preencoded.png">    </p:cNvPr>
          <p:cNvPicPr>
            <a:picLocks noChangeAspect="1"/>
          </p:cNvPicPr>
          <p:nvPr/>
        </p:nvPicPr>
        <p:blipFill>
          <a:blip r:embed="rId3"/>
          <a:stretch>
            <a:fillRect/>
          </a:stretch>
        </p:blipFill>
        <p:spPr>
          <a:xfrm>
            <a:off x="5924398" y="2106778"/>
            <a:ext cx="358445" cy="358445"/>
          </a:xfrm>
          <a:prstGeom prst="rect">
            <a:avLst/>
          </a:prstGeom>
        </p:spPr>
      </p:pic>
      <p:sp>
        <p:nvSpPr>
          <p:cNvPr id="22" name="Text 17"/>
          <p:cNvSpPr txBox="1"/>
          <p:nvPr/>
        </p:nvSpPr>
        <p:spPr>
          <a:xfrm>
            <a:off x="5212080" y="2743200"/>
            <a:ext cx="1783080" cy="411480"/>
          </a:xfrm>
          <a:prstGeom prst="rect">
            <a:avLst/>
          </a:prstGeom>
          <a:noFill/>
          <a:ln/>
        </p:spPr>
        <p:txBody>
          <a:bodyPr wrap="square" lIns="0" tIns="0" rIns="0" bIns="0" rtlCol="0" anchor="t"/>
          <a:lstStyle/>
          <a:p>
            <a:pPr algn="ctr" indent="0" marL="0">
              <a:buNone/>
            </a:pPr>
            <a:r>
              <a:rPr lang="en-US" sz="1700" b="1" dirty="0">
                <a:solidFill>
                  <a:srgbClr val="1F2933"/>
                </a:solidFill>
                <a:latin typeface="Calibri" pitchFamily="34" charset="0"/>
                <a:ea typeface="Calibri" pitchFamily="34" charset="-122"/>
                <a:cs typeface="Calibri" pitchFamily="34" charset="-120"/>
              </a:rPr>
              <a:t>Bronce</a:t>
            </a:r>
            <a:endParaRPr lang="en-US" sz="1700" dirty="0"/>
          </a:p>
        </p:txBody>
      </p:sp>
      <p:sp>
        <p:nvSpPr>
          <p:cNvPr id="23" name="Text 18"/>
          <p:cNvSpPr txBox="1"/>
          <p:nvPr/>
        </p:nvSpPr>
        <p:spPr>
          <a:xfrm>
            <a:off x="5257800" y="3154680"/>
            <a:ext cx="1691640" cy="7772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Datos crudos tal como llegaron (JSONB)</a:t>
            </a:r>
            <a:endParaRPr lang="en-US" sz="1200" dirty="0"/>
          </a:p>
        </p:txBody>
      </p:sp>
      <p:sp>
        <p:nvSpPr>
          <p:cNvPr id="24" name="Shape 19"/>
          <p:cNvSpPr/>
          <p:nvPr/>
        </p:nvSpPr>
        <p:spPr>
          <a:xfrm>
            <a:off x="7123176" y="2898648"/>
            <a:ext cx="246888" cy="0"/>
          </a:xfrm>
          <a:prstGeom prst="line">
            <a:avLst/>
          </a:prstGeom>
          <a:noFill/>
          <a:ln w="19050">
            <a:solidFill>
              <a:srgbClr val="1F2933"/>
            </a:solidFill>
            <a:prstDash val="solid"/>
            <a:tailEnd type="triangle"/>
          </a:ln>
        </p:spPr>
      </p:sp>
      <p:sp>
        <p:nvSpPr>
          <p:cNvPr id="25" name="Shape 20"/>
          <p:cNvSpPr/>
          <p:nvPr/>
        </p:nvSpPr>
        <p:spPr>
          <a:xfrm>
            <a:off x="7406640" y="1783080"/>
            <a:ext cx="1965960" cy="2240280"/>
          </a:xfrm>
          <a:prstGeom prst="roundRect">
            <a:avLst>
              <a:gd name="adj" fmla="val 4651"/>
            </a:avLst>
          </a:prstGeom>
          <a:solidFill>
            <a:srgbClr val="E69B00"/>
          </a:solidFill>
          <a:ln w="12700">
            <a:solidFill>
              <a:srgbClr val="E69B00"/>
            </a:solidFill>
            <a:prstDash val="solid"/>
          </a:ln>
        </p:spPr>
      </p:sp>
      <p:sp>
        <p:nvSpPr>
          <p:cNvPr id="26" name="Shape 21"/>
          <p:cNvSpPr/>
          <p:nvPr/>
        </p:nvSpPr>
        <p:spPr>
          <a:xfrm>
            <a:off x="8069580" y="1965960"/>
            <a:ext cx="640080" cy="640080"/>
          </a:xfrm>
          <a:prstGeom prst="ellipse">
            <a:avLst/>
          </a:prstGeom>
          <a:solidFill>
            <a:srgbClr val="FFFFFF"/>
          </a:solidFill>
          <a:ln w="12700">
            <a:solidFill>
              <a:srgbClr val="FFFFFF"/>
            </a:solidFill>
            <a:prstDash val="solid"/>
          </a:ln>
        </p:spPr>
      </p:sp>
      <p:pic>
        <p:nvPicPr>
          <p:cNvPr id="27" name="Image 3" descr="preencoded.png">    </p:cNvPr>
          <p:cNvPicPr>
            <a:picLocks noChangeAspect="1"/>
          </p:cNvPicPr>
          <p:nvPr/>
        </p:nvPicPr>
        <p:blipFill>
          <a:blip r:embed="rId4"/>
          <a:stretch>
            <a:fillRect/>
          </a:stretch>
        </p:blipFill>
        <p:spPr>
          <a:xfrm>
            <a:off x="8210398" y="2106778"/>
            <a:ext cx="358445" cy="358445"/>
          </a:xfrm>
          <a:prstGeom prst="rect">
            <a:avLst/>
          </a:prstGeom>
        </p:spPr>
      </p:pic>
      <p:sp>
        <p:nvSpPr>
          <p:cNvPr id="28" name="Text 22"/>
          <p:cNvSpPr txBox="1"/>
          <p:nvPr/>
        </p:nvSpPr>
        <p:spPr>
          <a:xfrm>
            <a:off x="7498080" y="2743200"/>
            <a:ext cx="1783080" cy="411480"/>
          </a:xfrm>
          <a:prstGeom prst="rect">
            <a:avLst/>
          </a:prstGeom>
          <a:noFill/>
          <a:ln/>
        </p:spPr>
        <p:txBody>
          <a:bodyPr wrap="square" lIns="0" tIns="0" rIns="0" bIns="0" rtlCol="0" anchor="t"/>
          <a:lstStyle/>
          <a:p>
            <a:pPr algn="ctr" indent="0" marL="0">
              <a:buNone/>
            </a:pPr>
            <a:r>
              <a:rPr lang="en-US" sz="1700" b="1" dirty="0">
                <a:solidFill>
                  <a:srgbClr val="1F2933"/>
                </a:solidFill>
                <a:latin typeface="Calibri" pitchFamily="34" charset="0"/>
                <a:ea typeface="Calibri" pitchFamily="34" charset="-122"/>
                <a:cs typeface="Calibri" pitchFamily="34" charset="-120"/>
              </a:rPr>
              <a:t>Plata</a:t>
            </a:r>
            <a:endParaRPr lang="en-US" sz="1700" dirty="0"/>
          </a:p>
        </p:txBody>
      </p:sp>
      <p:sp>
        <p:nvSpPr>
          <p:cNvPr id="29" name="Text 23"/>
          <p:cNvSpPr txBox="1"/>
          <p:nvPr/>
        </p:nvSpPr>
        <p:spPr>
          <a:xfrm>
            <a:off x="7543800" y="3154680"/>
            <a:ext cx="1691640" cy="7772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Modelo canónico: eventos de falla</a:t>
            </a:r>
            <a:endParaRPr lang="en-US" sz="1200" dirty="0"/>
          </a:p>
        </p:txBody>
      </p:sp>
      <p:sp>
        <p:nvSpPr>
          <p:cNvPr id="30" name="Shape 24"/>
          <p:cNvSpPr/>
          <p:nvPr/>
        </p:nvSpPr>
        <p:spPr>
          <a:xfrm>
            <a:off x="9409176" y="2898648"/>
            <a:ext cx="246888" cy="0"/>
          </a:xfrm>
          <a:prstGeom prst="line">
            <a:avLst/>
          </a:prstGeom>
          <a:noFill/>
          <a:ln w="19050">
            <a:solidFill>
              <a:srgbClr val="1F2933"/>
            </a:solidFill>
            <a:prstDash val="solid"/>
            <a:tailEnd type="triangle"/>
          </a:ln>
        </p:spPr>
      </p:sp>
      <p:sp>
        <p:nvSpPr>
          <p:cNvPr id="31" name="Shape 25"/>
          <p:cNvSpPr/>
          <p:nvPr/>
        </p:nvSpPr>
        <p:spPr>
          <a:xfrm>
            <a:off x="9692640" y="1783080"/>
            <a:ext cx="1965960" cy="2240280"/>
          </a:xfrm>
          <a:prstGeom prst="roundRect">
            <a:avLst>
              <a:gd name="adj" fmla="val 4651"/>
            </a:avLst>
          </a:prstGeom>
          <a:solidFill>
            <a:srgbClr val="E3F2EA"/>
          </a:solidFill>
          <a:ln w="12700">
            <a:solidFill>
              <a:srgbClr val="E3F2EA"/>
            </a:solidFill>
            <a:prstDash val="solid"/>
          </a:ln>
        </p:spPr>
      </p:sp>
      <p:sp>
        <p:nvSpPr>
          <p:cNvPr id="32" name="Shape 26"/>
          <p:cNvSpPr/>
          <p:nvPr/>
        </p:nvSpPr>
        <p:spPr>
          <a:xfrm>
            <a:off x="10355580" y="1965960"/>
            <a:ext cx="640080" cy="640080"/>
          </a:xfrm>
          <a:prstGeom prst="ellipse">
            <a:avLst/>
          </a:prstGeom>
          <a:solidFill>
            <a:srgbClr val="FFFFFF"/>
          </a:solidFill>
          <a:ln w="12700">
            <a:solidFill>
              <a:srgbClr val="FFFFFF"/>
            </a:solidFill>
            <a:prstDash val="solid"/>
          </a:ln>
        </p:spPr>
      </p:sp>
      <p:pic>
        <p:nvPicPr>
          <p:cNvPr id="33" name="Image 4" descr="preencoded.png">    </p:cNvPr>
          <p:cNvPicPr>
            <a:picLocks noChangeAspect="1"/>
          </p:cNvPicPr>
          <p:nvPr/>
        </p:nvPicPr>
        <p:blipFill>
          <a:blip r:embed="rId5"/>
          <a:stretch>
            <a:fillRect/>
          </a:stretch>
        </p:blipFill>
        <p:spPr>
          <a:xfrm>
            <a:off x="10496398" y="2106778"/>
            <a:ext cx="358445" cy="358445"/>
          </a:xfrm>
          <a:prstGeom prst="rect">
            <a:avLst/>
          </a:prstGeom>
        </p:spPr>
      </p:pic>
      <p:sp>
        <p:nvSpPr>
          <p:cNvPr id="34" name="Text 27"/>
          <p:cNvSpPr txBox="1"/>
          <p:nvPr/>
        </p:nvSpPr>
        <p:spPr>
          <a:xfrm>
            <a:off x="9784080" y="2743200"/>
            <a:ext cx="1783080" cy="411480"/>
          </a:xfrm>
          <a:prstGeom prst="rect">
            <a:avLst/>
          </a:prstGeom>
          <a:noFill/>
          <a:ln/>
        </p:spPr>
        <p:txBody>
          <a:bodyPr wrap="square" lIns="0" tIns="0" rIns="0" bIns="0" rtlCol="0" anchor="t"/>
          <a:lstStyle/>
          <a:p>
            <a:pPr algn="ctr" indent="0" marL="0">
              <a:buNone/>
            </a:pPr>
            <a:r>
              <a:rPr lang="en-US" sz="1700" b="1" dirty="0">
                <a:solidFill>
                  <a:srgbClr val="1F2933"/>
                </a:solidFill>
                <a:latin typeface="Calibri" pitchFamily="34" charset="0"/>
                <a:ea typeface="Calibri" pitchFamily="34" charset="-122"/>
                <a:cs typeface="Calibri" pitchFamily="34" charset="-120"/>
              </a:rPr>
              <a:t>Oro</a:t>
            </a:r>
            <a:endParaRPr lang="en-US" sz="1700" dirty="0"/>
          </a:p>
        </p:txBody>
      </p:sp>
      <p:sp>
        <p:nvSpPr>
          <p:cNvPr id="35" name="Text 28"/>
          <p:cNvSpPr txBox="1"/>
          <p:nvPr/>
        </p:nvSpPr>
        <p:spPr>
          <a:xfrm>
            <a:off x="9829800" y="3154680"/>
            <a:ext cx="1691640" cy="7772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MTBF y MTTR por máquina</a:t>
            </a:r>
            <a:endParaRPr lang="en-US" sz="1200" dirty="0"/>
          </a:p>
        </p:txBody>
      </p:sp>
      <p:sp>
        <p:nvSpPr>
          <p:cNvPr id="36" name="Shape 29"/>
          <p:cNvSpPr/>
          <p:nvPr/>
        </p:nvSpPr>
        <p:spPr>
          <a:xfrm>
            <a:off x="548640" y="4343400"/>
            <a:ext cx="11109960" cy="868680"/>
          </a:xfrm>
          <a:prstGeom prst="roundRect">
            <a:avLst>
              <a:gd name="adj" fmla="val 8421"/>
            </a:avLst>
          </a:prstGeom>
          <a:solidFill>
            <a:srgbClr val="FFFFFF"/>
          </a:solidFill>
          <a:ln w="12700">
            <a:solidFill>
              <a:srgbClr val="DDE3EA"/>
            </a:solidFill>
            <a:prstDash val="solid"/>
          </a:ln>
        </p:spPr>
      </p:sp>
      <p:sp>
        <p:nvSpPr>
          <p:cNvPr id="37" name="Text 30"/>
          <p:cNvSpPr txBox="1"/>
          <p:nvPr/>
        </p:nvSpPr>
        <p:spPr>
          <a:xfrm>
            <a:off x="777240" y="4343400"/>
            <a:ext cx="1828800" cy="868680"/>
          </a:xfrm>
          <a:prstGeom prst="rect">
            <a:avLst/>
          </a:prstGeom>
          <a:noFill/>
          <a:ln/>
        </p:spPr>
        <p:txBody>
          <a:bodyPr wrap="square" lIns="0" tIns="0" rIns="0" bIns="0" rtlCol="0" anchor="ctr"/>
          <a:lstStyle/>
          <a:p>
            <a:pPr indent="0" marL="0">
              <a:buNone/>
            </a:pPr>
            <a:r>
              <a:rPr lang="en-US" sz="1200" b="1" spc="100" kern="0" dirty="0">
                <a:solidFill>
                  <a:srgbClr val="9A5B00"/>
                </a:solidFill>
                <a:latin typeface="Calibri" pitchFamily="34" charset="0"/>
                <a:ea typeface="Calibri" pitchFamily="34" charset="-122"/>
                <a:cs typeface="Calibri" pitchFamily="34" charset="-120"/>
              </a:rPr>
              <a:t>CONSUMIDORES</a:t>
            </a:r>
            <a:endParaRPr lang="en-US" sz="1200" dirty="0"/>
          </a:p>
        </p:txBody>
      </p:sp>
      <p:sp>
        <p:nvSpPr>
          <p:cNvPr id="38" name="Shape 31"/>
          <p:cNvSpPr/>
          <p:nvPr/>
        </p:nvSpPr>
        <p:spPr>
          <a:xfrm>
            <a:off x="2743200" y="4498848"/>
            <a:ext cx="548640" cy="548640"/>
          </a:xfrm>
          <a:prstGeom prst="ellipse">
            <a:avLst/>
          </a:prstGeom>
          <a:solidFill>
            <a:srgbClr val="FDF3DC"/>
          </a:solidFill>
          <a:ln w="12700">
            <a:solidFill>
              <a:srgbClr val="FDF3DC"/>
            </a:solidFill>
            <a:prstDash val="solid"/>
          </a:ln>
        </p:spPr>
      </p:sp>
      <p:pic>
        <p:nvPicPr>
          <p:cNvPr id="39" name="Image 5" descr="preencoded.png">    </p:cNvPr>
          <p:cNvPicPr>
            <a:picLocks noChangeAspect="1"/>
          </p:cNvPicPr>
          <p:nvPr/>
        </p:nvPicPr>
        <p:blipFill>
          <a:blip r:embed="rId6"/>
          <a:stretch>
            <a:fillRect/>
          </a:stretch>
        </p:blipFill>
        <p:spPr>
          <a:xfrm>
            <a:off x="2863901" y="4619549"/>
            <a:ext cx="307238" cy="307238"/>
          </a:xfrm>
          <a:prstGeom prst="rect">
            <a:avLst/>
          </a:prstGeom>
        </p:spPr>
      </p:pic>
      <p:sp>
        <p:nvSpPr>
          <p:cNvPr id="40" name="Text 32"/>
          <p:cNvSpPr txBox="1"/>
          <p:nvPr/>
        </p:nvSpPr>
        <p:spPr>
          <a:xfrm>
            <a:off x="3429000" y="4498848"/>
            <a:ext cx="2194560" cy="54864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Diagnóstico asistido por IA</a:t>
            </a:r>
            <a:endParaRPr lang="en-US" sz="1300" dirty="0"/>
          </a:p>
        </p:txBody>
      </p:sp>
      <p:sp>
        <p:nvSpPr>
          <p:cNvPr id="41" name="Shape 33"/>
          <p:cNvSpPr/>
          <p:nvPr/>
        </p:nvSpPr>
        <p:spPr>
          <a:xfrm>
            <a:off x="5715000" y="4498848"/>
            <a:ext cx="548640" cy="548640"/>
          </a:xfrm>
          <a:prstGeom prst="ellipse">
            <a:avLst/>
          </a:prstGeom>
          <a:solidFill>
            <a:srgbClr val="FDF3DC"/>
          </a:solidFill>
          <a:ln w="12700">
            <a:solidFill>
              <a:srgbClr val="FDF3DC"/>
            </a:solidFill>
            <a:prstDash val="solid"/>
          </a:ln>
        </p:spPr>
      </p:sp>
      <p:pic>
        <p:nvPicPr>
          <p:cNvPr id="42" name="Image 6" descr="preencoded.png">    </p:cNvPr>
          <p:cNvPicPr>
            <a:picLocks noChangeAspect="1"/>
          </p:cNvPicPr>
          <p:nvPr/>
        </p:nvPicPr>
        <p:blipFill>
          <a:blip r:embed="rId7"/>
          <a:stretch>
            <a:fillRect/>
          </a:stretch>
        </p:blipFill>
        <p:spPr>
          <a:xfrm>
            <a:off x="5835701" y="4619549"/>
            <a:ext cx="307238" cy="307238"/>
          </a:xfrm>
          <a:prstGeom prst="rect">
            <a:avLst/>
          </a:prstGeom>
        </p:spPr>
      </p:pic>
      <p:sp>
        <p:nvSpPr>
          <p:cNvPr id="43" name="Text 34"/>
          <p:cNvSpPr txBox="1"/>
          <p:nvPr/>
        </p:nvSpPr>
        <p:spPr>
          <a:xfrm>
            <a:off x="6400800" y="4498848"/>
            <a:ext cx="2194560" cy="54864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Dashboards de mantención</a:t>
            </a:r>
            <a:endParaRPr lang="en-US" sz="1300" dirty="0"/>
          </a:p>
        </p:txBody>
      </p:sp>
      <p:sp>
        <p:nvSpPr>
          <p:cNvPr id="44" name="Shape 35"/>
          <p:cNvSpPr/>
          <p:nvPr/>
        </p:nvSpPr>
        <p:spPr>
          <a:xfrm>
            <a:off x="8686800" y="4498848"/>
            <a:ext cx="548640" cy="548640"/>
          </a:xfrm>
          <a:prstGeom prst="ellipse">
            <a:avLst/>
          </a:prstGeom>
          <a:solidFill>
            <a:srgbClr val="FDF3DC"/>
          </a:solidFill>
          <a:ln w="12700">
            <a:solidFill>
              <a:srgbClr val="FDF3DC"/>
            </a:solidFill>
            <a:prstDash val="solid"/>
          </a:ln>
        </p:spPr>
      </p:sp>
      <p:pic>
        <p:nvPicPr>
          <p:cNvPr id="45" name="Image 7" descr="preencoded.png">    </p:cNvPr>
          <p:cNvPicPr>
            <a:picLocks noChangeAspect="1"/>
          </p:cNvPicPr>
          <p:nvPr/>
        </p:nvPicPr>
        <p:blipFill>
          <a:blip r:embed="rId8"/>
          <a:stretch>
            <a:fillRect/>
          </a:stretch>
        </p:blipFill>
        <p:spPr>
          <a:xfrm>
            <a:off x="8807501" y="4619549"/>
            <a:ext cx="307238" cy="307238"/>
          </a:xfrm>
          <a:prstGeom prst="rect">
            <a:avLst/>
          </a:prstGeom>
        </p:spPr>
      </p:pic>
      <p:sp>
        <p:nvSpPr>
          <p:cNvPr id="46" name="Text 36"/>
          <p:cNvSpPr txBox="1"/>
          <p:nvPr/>
        </p:nvSpPr>
        <p:spPr>
          <a:xfrm>
            <a:off x="9372600" y="4498848"/>
            <a:ext cx="2194560" cy="54864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Modelo predictivo (proyección)</a:t>
            </a:r>
            <a:endParaRPr lang="en-US" sz="1300" dirty="0"/>
          </a:p>
        </p:txBody>
      </p:sp>
      <p:sp>
        <p:nvSpPr>
          <p:cNvPr id="47" name="Shape 37"/>
          <p:cNvSpPr/>
          <p:nvPr/>
        </p:nvSpPr>
        <p:spPr>
          <a:xfrm>
            <a:off x="548640" y="5440680"/>
            <a:ext cx="3611880" cy="731520"/>
          </a:xfrm>
          <a:prstGeom prst="roundRect">
            <a:avLst>
              <a:gd name="adj" fmla="val 10000"/>
            </a:avLst>
          </a:prstGeom>
          <a:solidFill>
            <a:srgbClr val="17212B"/>
          </a:solidFill>
          <a:ln w="12700">
            <a:solidFill>
              <a:srgbClr val="17212B"/>
            </a:solidFill>
            <a:prstDash val="solid"/>
          </a:ln>
        </p:spPr>
      </p:sp>
      <p:sp>
        <p:nvSpPr>
          <p:cNvPr id="48" name="Text 38"/>
          <p:cNvSpPr txBox="1"/>
          <p:nvPr/>
        </p:nvSpPr>
        <p:spPr>
          <a:xfrm>
            <a:off x="777240" y="5440680"/>
            <a:ext cx="3291840" cy="731520"/>
          </a:xfrm>
          <a:prstGeom prst="rect">
            <a:avLst/>
          </a:prstGeom>
          <a:noFill/>
          <a:ln/>
        </p:spPr>
        <p:txBody>
          <a:bodyPr wrap="square" lIns="0" tIns="0" rIns="0" bIns="0" rtlCol="0" anchor="ctr"/>
          <a:lstStyle/>
          <a:p>
            <a:pPr indent="0" marL="0">
              <a:buNone/>
            </a:pPr>
            <a:r>
              <a:rPr lang="en-US" sz="1200" b="1" dirty="0">
                <a:solidFill>
                  <a:srgbClr val="E69B00"/>
                </a:solidFill>
                <a:latin typeface="Calibri" pitchFamily="34" charset="0"/>
                <a:ea typeface="Calibri" pitchFamily="34" charset="-122"/>
                <a:cs typeface="Calibri" pitchFamily="34" charset="-120"/>
              </a:rPr>
              <a:t>Frontend  </a:t>
            </a:r>
            <a:pPr indent="0" marL="0">
              <a:buNone/>
            </a:pPr>
            <a:r>
              <a:rPr lang="en-US" sz="1200" dirty="0">
                <a:solidFill>
                  <a:srgbClr val="FFFFFF"/>
                </a:solidFill>
                <a:latin typeface="Calibri" pitchFamily="34" charset="0"/>
                <a:ea typeface="Calibri" pitchFamily="34" charset="-122"/>
                <a:cs typeface="Calibri" pitchFamily="34" charset="-120"/>
              </a:rPr>
              <a:t>React · selector y gestión de conectores</a:t>
            </a:r>
            <a:endParaRPr lang="en-US" sz="1200" dirty="0"/>
          </a:p>
        </p:txBody>
      </p:sp>
      <p:sp>
        <p:nvSpPr>
          <p:cNvPr id="49" name="Shape 39"/>
          <p:cNvSpPr/>
          <p:nvPr/>
        </p:nvSpPr>
        <p:spPr>
          <a:xfrm>
            <a:off x="4178808" y="5806440"/>
            <a:ext cx="100584" cy="0"/>
          </a:xfrm>
          <a:prstGeom prst="line">
            <a:avLst/>
          </a:prstGeom>
          <a:noFill/>
          <a:ln w="15875">
            <a:solidFill>
              <a:srgbClr val="1F2933"/>
            </a:solidFill>
            <a:prstDash val="solid"/>
          </a:ln>
        </p:spPr>
      </p:sp>
      <p:sp>
        <p:nvSpPr>
          <p:cNvPr id="50" name="Shape 40"/>
          <p:cNvSpPr/>
          <p:nvPr/>
        </p:nvSpPr>
        <p:spPr>
          <a:xfrm>
            <a:off x="4297680" y="5440680"/>
            <a:ext cx="3611880" cy="731520"/>
          </a:xfrm>
          <a:prstGeom prst="roundRect">
            <a:avLst>
              <a:gd name="adj" fmla="val 10000"/>
            </a:avLst>
          </a:prstGeom>
          <a:solidFill>
            <a:srgbClr val="17212B"/>
          </a:solidFill>
          <a:ln w="12700">
            <a:solidFill>
              <a:srgbClr val="17212B"/>
            </a:solidFill>
            <a:prstDash val="solid"/>
          </a:ln>
        </p:spPr>
      </p:sp>
      <p:sp>
        <p:nvSpPr>
          <p:cNvPr id="51" name="Text 41"/>
          <p:cNvSpPr txBox="1"/>
          <p:nvPr/>
        </p:nvSpPr>
        <p:spPr>
          <a:xfrm>
            <a:off x="4526280" y="5440680"/>
            <a:ext cx="3291840" cy="731520"/>
          </a:xfrm>
          <a:prstGeom prst="rect">
            <a:avLst/>
          </a:prstGeom>
          <a:noFill/>
          <a:ln/>
        </p:spPr>
        <p:txBody>
          <a:bodyPr wrap="square" lIns="0" tIns="0" rIns="0" bIns="0" rtlCol="0" anchor="ctr"/>
          <a:lstStyle/>
          <a:p>
            <a:pPr indent="0" marL="0">
              <a:buNone/>
            </a:pPr>
            <a:r>
              <a:rPr lang="en-US" sz="1200" b="1" dirty="0">
                <a:solidFill>
                  <a:srgbClr val="E69B00"/>
                </a:solidFill>
                <a:latin typeface="Calibri" pitchFamily="34" charset="0"/>
                <a:ea typeface="Calibri" pitchFamily="34" charset="-122"/>
                <a:cs typeface="Calibri" pitchFamily="34" charset="-120"/>
              </a:rPr>
              <a:t>API  </a:t>
            </a:r>
            <a:pPr indent="0" marL="0">
              <a:buNone/>
            </a:pPr>
            <a:r>
              <a:rPr lang="en-US" sz="1200" dirty="0">
                <a:solidFill>
                  <a:srgbClr val="FFFFFF"/>
                </a:solidFill>
                <a:latin typeface="Calibri" pitchFamily="34" charset="0"/>
                <a:ea typeface="Calibri" pitchFamily="34" charset="-122"/>
                <a:cs typeface="Calibri" pitchFamily="34" charset="-120"/>
              </a:rPr>
              <a:t>FastAPI · RBAC · cifrado de credenciales</a:t>
            </a:r>
            <a:endParaRPr lang="en-US" sz="1200" dirty="0"/>
          </a:p>
        </p:txBody>
      </p:sp>
      <p:sp>
        <p:nvSpPr>
          <p:cNvPr id="52" name="Shape 42"/>
          <p:cNvSpPr/>
          <p:nvPr/>
        </p:nvSpPr>
        <p:spPr>
          <a:xfrm>
            <a:off x="7927848" y="5806440"/>
            <a:ext cx="100584" cy="0"/>
          </a:xfrm>
          <a:prstGeom prst="line">
            <a:avLst/>
          </a:prstGeom>
          <a:noFill/>
          <a:ln w="15875">
            <a:solidFill>
              <a:srgbClr val="1F2933"/>
            </a:solidFill>
            <a:prstDash val="solid"/>
          </a:ln>
        </p:spPr>
      </p:sp>
      <p:sp>
        <p:nvSpPr>
          <p:cNvPr id="53" name="Shape 43"/>
          <p:cNvSpPr/>
          <p:nvPr/>
        </p:nvSpPr>
        <p:spPr>
          <a:xfrm>
            <a:off x="8046720" y="5440680"/>
            <a:ext cx="3611880" cy="731520"/>
          </a:xfrm>
          <a:prstGeom prst="roundRect">
            <a:avLst>
              <a:gd name="adj" fmla="val 10000"/>
            </a:avLst>
          </a:prstGeom>
          <a:solidFill>
            <a:srgbClr val="17212B"/>
          </a:solidFill>
          <a:ln w="12700">
            <a:solidFill>
              <a:srgbClr val="17212B"/>
            </a:solidFill>
            <a:prstDash val="solid"/>
          </a:ln>
        </p:spPr>
      </p:sp>
      <p:sp>
        <p:nvSpPr>
          <p:cNvPr id="54" name="Text 44"/>
          <p:cNvSpPr txBox="1"/>
          <p:nvPr/>
        </p:nvSpPr>
        <p:spPr>
          <a:xfrm>
            <a:off x="8275320" y="5440680"/>
            <a:ext cx="3291840" cy="731520"/>
          </a:xfrm>
          <a:prstGeom prst="rect">
            <a:avLst/>
          </a:prstGeom>
          <a:noFill/>
          <a:ln/>
        </p:spPr>
        <p:txBody>
          <a:bodyPr wrap="square" lIns="0" tIns="0" rIns="0" bIns="0" rtlCol="0" anchor="ctr"/>
          <a:lstStyle/>
          <a:p>
            <a:pPr indent="0" marL="0">
              <a:buNone/>
            </a:pPr>
            <a:r>
              <a:rPr lang="en-US" sz="1200" b="1" dirty="0">
                <a:solidFill>
                  <a:srgbClr val="E69B00"/>
                </a:solidFill>
                <a:latin typeface="Calibri" pitchFamily="34" charset="0"/>
                <a:ea typeface="Calibri" pitchFamily="34" charset="-122"/>
                <a:cs typeface="Calibri" pitchFamily="34" charset="-120"/>
              </a:rPr>
              <a:t>Base de datos  </a:t>
            </a:r>
            <a:pPr indent="0" marL="0">
              <a:buNone/>
            </a:pPr>
            <a:r>
              <a:rPr lang="en-US" sz="1200" dirty="0">
                <a:solidFill>
                  <a:srgbClr val="FFFFFF"/>
                </a:solidFill>
                <a:latin typeface="Calibri" pitchFamily="34" charset="0"/>
                <a:ea typeface="Calibri" pitchFamily="34" charset="-122"/>
                <a:cs typeface="Calibri" pitchFamily="34" charset="-120"/>
              </a:rPr>
              <a:t>PostgreSQL · multi-empresa</a:t>
            </a:r>
            <a:endParaRPr lang="en-US" sz="1200" dirty="0"/>
          </a:p>
        </p:txBody>
      </p:sp>
      <p:sp>
        <p:nvSpPr>
          <p:cNvPr id="55" name="Text 45"/>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56" name="Text 46"/>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12 / 17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MODELO DE DATOS EN POSTGRESQL</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Extensión del esquema de Barb</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Diagrama simplificado · 9 tablas nuevas y columnas opcionales en 2 tablas existentes</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1805940" y="2907792"/>
            <a:ext cx="914" cy="292608"/>
          </a:xfrm>
          <a:prstGeom prst="line">
            <a:avLst/>
          </a:prstGeom>
          <a:noFill/>
          <a:ln w="15875">
            <a:solidFill>
              <a:srgbClr val="9AA6B2"/>
            </a:solidFill>
            <a:prstDash val="solid"/>
          </a:ln>
        </p:spPr>
      </p:sp>
      <p:sp>
        <p:nvSpPr>
          <p:cNvPr id="8" name="Shape 6"/>
          <p:cNvSpPr/>
          <p:nvPr/>
        </p:nvSpPr>
        <p:spPr>
          <a:xfrm flipH="1">
            <a:off x="2788920" y="2907792"/>
            <a:ext cx="868680" cy="292608"/>
          </a:xfrm>
          <a:prstGeom prst="line">
            <a:avLst/>
          </a:prstGeom>
          <a:noFill/>
          <a:ln w="15875">
            <a:solidFill>
              <a:srgbClr val="9AA6B2"/>
            </a:solidFill>
            <a:prstDash val="solid"/>
          </a:ln>
        </p:spPr>
      </p:sp>
      <p:sp>
        <p:nvSpPr>
          <p:cNvPr id="9" name="Shape 7"/>
          <p:cNvSpPr/>
          <p:nvPr/>
        </p:nvSpPr>
        <p:spPr>
          <a:xfrm>
            <a:off x="4640580" y="2907792"/>
            <a:ext cx="914" cy="292608"/>
          </a:xfrm>
          <a:prstGeom prst="line">
            <a:avLst/>
          </a:prstGeom>
          <a:noFill/>
          <a:ln w="15875">
            <a:solidFill>
              <a:srgbClr val="9AA6B2"/>
            </a:solidFill>
            <a:prstDash val="solid"/>
          </a:ln>
        </p:spPr>
      </p:sp>
      <p:sp>
        <p:nvSpPr>
          <p:cNvPr id="10" name="Shape 8"/>
          <p:cNvSpPr/>
          <p:nvPr/>
        </p:nvSpPr>
        <p:spPr>
          <a:xfrm>
            <a:off x="5897880" y="3831336"/>
            <a:ext cx="320040" cy="914"/>
          </a:xfrm>
          <a:prstGeom prst="line">
            <a:avLst/>
          </a:prstGeom>
          <a:noFill/>
          <a:ln w="15875">
            <a:solidFill>
              <a:srgbClr val="9AA6B2"/>
            </a:solidFill>
            <a:prstDash val="solid"/>
          </a:ln>
        </p:spPr>
      </p:sp>
      <p:sp>
        <p:nvSpPr>
          <p:cNvPr id="11" name="Shape 9"/>
          <p:cNvSpPr/>
          <p:nvPr/>
        </p:nvSpPr>
        <p:spPr>
          <a:xfrm>
            <a:off x="7475220" y="2907792"/>
            <a:ext cx="914" cy="292608"/>
          </a:xfrm>
          <a:prstGeom prst="line">
            <a:avLst/>
          </a:prstGeom>
          <a:noFill/>
          <a:ln w="15875">
            <a:solidFill>
              <a:srgbClr val="9AA6B2"/>
            </a:solidFill>
            <a:prstDash val="solid"/>
          </a:ln>
        </p:spPr>
      </p:sp>
      <p:sp>
        <p:nvSpPr>
          <p:cNvPr id="12" name="Shape 10"/>
          <p:cNvSpPr/>
          <p:nvPr/>
        </p:nvSpPr>
        <p:spPr>
          <a:xfrm flipH="1">
            <a:off x="8458200" y="2907792"/>
            <a:ext cx="868680" cy="292608"/>
          </a:xfrm>
          <a:prstGeom prst="line">
            <a:avLst/>
          </a:prstGeom>
          <a:noFill/>
          <a:ln w="15875">
            <a:solidFill>
              <a:srgbClr val="9AA6B2"/>
            </a:solidFill>
            <a:prstDash val="solid"/>
          </a:ln>
        </p:spPr>
      </p:sp>
      <p:sp>
        <p:nvSpPr>
          <p:cNvPr id="13" name="Shape 11"/>
          <p:cNvSpPr/>
          <p:nvPr/>
        </p:nvSpPr>
        <p:spPr>
          <a:xfrm>
            <a:off x="8732520" y="3831336"/>
            <a:ext cx="320040" cy="914"/>
          </a:xfrm>
          <a:prstGeom prst="line">
            <a:avLst/>
          </a:prstGeom>
          <a:noFill/>
          <a:ln w="15875">
            <a:solidFill>
              <a:srgbClr val="9AA6B2"/>
            </a:solidFill>
            <a:prstDash val="solid"/>
          </a:ln>
        </p:spPr>
      </p:sp>
      <p:sp>
        <p:nvSpPr>
          <p:cNvPr id="14" name="Shape 12"/>
          <p:cNvSpPr/>
          <p:nvPr/>
        </p:nvSpPr>
        <p:spPr>
          <a:xfrm>
            <a:off x="1805940" y="4462272"/>
            <a:ext cx="914" cy="292608"/>
          </a:xfrm>
          <a:prstGeom prst="line">
            <a:avLst/>
          </a:prstGeom>
          <a:noFill/>
          <a:ln w="15875">
            <a:solidFill>
              <a:srgbClr val="9AA6B2"/>
            </a:solidFill>
            <a:prstDash val="solid"/>
          </a:ln>
        </p:spPr>
      </p:sp>
      <p:sp>
        <p:nvSpPr>
          <p:cNvPr id="15" name="Shape 13"/>
          <p:cNvSpPr/>
          <p:nvPr/>
        </p:nvSpPr>
        <p:spPr>
          <a:xfrm>
            <a:off x="3063240" y="5385816"/>
            <a:ext cx="320040" cy="914"/>
          </a:xfrm>
          <a:prstGeom prst="line">
            <a:avLst/>
          </a:prstGeom>
          <a:noFill/>
          <a:ln w="15875">
            <a:solidFill>
              <a:srgbClr val="9AA6B2"/>
            </a:solidFill>
            <a:prstDash val="solid"/>
          </a:ln>
        </p:spPr>
      </p:sp>
      <p:sp>
        <p:nvSpPr>
          <p:cNvPr id="16" name="Shape 14"/>
          <p:cNvSpPr/>
          <p:nvPr/>
        </p:nvSpPr>
        <p:spPr>
          <a:xfrm flipH="1">
            <a:off x="2788920" y="4462272"/>
            <a:ext cx="3703320" cy="292608"/>
          </a:xfrm>
          <a:prstGeom prst="line">
            <a:avLst/>
          </a:prstGeom>
          <a:noFill/>
          <a:ln w="15875">
            <a:solidFill>
              <a:srgbClr val="9AA6B2"/>
            </a:solidFill>
            <a:prstDash val="solid"/>
          </a:ln>
        </p:spPr>
      </p:sp>
      <p:sp>
        <p:nvSpPr>
          <p:cNvPr id="17" name="Shape 15"/>
          <p:cNvSpPr/>
          <p:nvPr/>
        </p:nvSpPr>
        <p:spPr>
          <a:xfrm>
            <a:off x="548640" y="1645920"/>
            <a:ext cx="2514600" cy="1261872"/>
          </a:xfrm>
          <a:prstGeom prst="roundRect">
            <a:avLst>
              <a:gd name="adj" fmla="val 4348"/>
            </a:avLst>
          </a:prstGeom>
          <a:solidFill>
            <a:srgbClr val="FFFFFF"/>
          </a:solidFill>
          <a:ln w="12700">
            <a:solidFill>
              <a:srgbClr val="E69B00"/>
            </a:solidFill>
            <a:prstDash val="solid"/>
          </a:ln>
        </p:spPr>
      </p:sp>
      <p:sp>
        <p:nvSpPr>
          <p:cNvPr id="18" name="Shape 16"/>
          <p:cNvSpPr/>
          <p:nvPr/>
        </p:nvSpPr>
        <p:spPr>
          <a:xfrm>
            <a:off x="566928" y="1664208"/>
            <a:ext cx="2478024" cy="384048"/>
          </a:xfrm>
          <a:prstGeom prst="rect">
            <a:avLst/>
          </a:prstGeom>
          <a:solidFill>
            <a:srgbClr val="FDF3DC"/>
          </a:solidFill>
          <a:ln w="12700">
            <a:solidFill>
              <a:srgbClr val="FDF3DC"/>
            </a:solidFill>
            <a:prstDash val="solid"/>
          </a:ln>
        </p:spPr>
      </p:sp>
      <p:sp>
        <p:nvSpPr>
          <p:cNvPr id="19" name="Text 17"/>
          <p:cNvSpPr txBox="1"/>
          <p:nvPr/>
        </p:nvSpPr>
        <p:spPr>
          <a:xfrm>
            <a:off x="685800" y="166420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MAPEO_CODIGO</a:t>
            </a:r>
            <a:endParaRPr lang="en-US" sz="1200" dirty="0"/>
          </a:p>
        </p:txBody>
      </p:sp>
      <p:sp>
        <p:nvSpPr>
          <p:cNvPr id="20" name="Text 18"/>
          <p:cNvSpPr txBox="1"/>
          <p:nvPr/>
        </p:nvSpPr>
        <p:spPr>
          <a:xfrm>
            <a:off x="685800" y="212140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conector_id · dominio</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codigo_externo → valor_barb</a:t>
            </a:r>
            <a:endParaRPr lang="en-US" sz="1100" dirty="0"/>
          </a:p>
        </p:txBody>
      </p:sp>
      <p:sp>
        <p:nvSpPr>
          <p:cNvPr id="21" name="Shape 19"/>
          <p:cNvSpPr/>
          <p:nvPr/>
        </p:nvSpPr>
        <p:spPr>
          <a:xfrm>
            <a:off x="3383280" y="1645920"/>
            <a:ext cx="2514600" cy="1261872"/>
          </a:xfrm>
          <a:prstGeom prst="roundRect">
            <a:avLst>
              <a:gd name="adj" fmla="val 4348"/>
            </a:avLst>
          </a:prstGeom>
          <a:solidFill>
            <a:srgbClr val="FFFFFF"/>
          </a:solidFill>
          <a:ln w="12700">
            <a:solidFill>
              <a:srgbClr val="E69B00"/>
            </a:solidFill>
            <a:prstDash val="solid"/>
          </a:ln>
        </p:spPr>
      </p:sp>
      <p:sp>
        <p:nvSpPr>
          <p:cNvPr id="22" name="Shape 20"/>
          <p:cNvSpPr/>
          <p:nvPr/>
        </p:nvSpPr>
        <p:spPr>
          <a:xfrm>
            <a:off x="3401568" y="1664208"/>
            <a:ext cx="2478024" cy="384048"/>
          </a:xfrm>
          <a:prstGeom prst="rect">
            <a:avLst/>
          </a:prstGeom>
          <a:solidFill>
            <a:srgbClr val="FDF3DC"/>
          </a:solidFill>
          <a:ln w="12700">
            <a:solidFill>
              <a:srgbClr val="FDF3DC"/>
            </a:solidFill>
            <a:prstDash val="solid"/>
          </a:ln>
        </p:spPr>
      </p:sp>
      <p:sp>
        <p:nvSpPr>
          <p:cNvPr id="23" name="Text 21"/>
          <p:cNvSpPr txBox="1"/>
          <p:nvPr/>
        </p:nvSpPr>
        <p:spPr>
          <a:xfrm>
            <a:off x="3520440" y="166420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MAQUINA_ORIGEN</a:t>
            </a:r>
            <a:endParaRPr lang="en-US" sz="1200" dirty="0"/>
          </a:p>
        </p:txBody>
      </p:sp>
      <p:sp>
        <p:nvSpPr>
          <p:cNvPr id="24" name="Text 22"/>
          <p:cNvSpPr txBox="1"/>
          <p:nvPr/>
        </p:nvSpPr>
        <p:spPr>
          <a:xfrm>
            <a:off x="3520440" y="212140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conector_id · id_externo</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maquina_id</a:t>
            </a:r>
            <a:endParaRPr lang="en-US" sz="1100" dirty="0"/>
          </a:p>
        </p:txBody>
      </p:sp>
      <p:sp>
        <p:nvSpPr>
          <p:cNvPr id="25" name="Shape 23"/>
          <p:cNvSpPr/>
          <p:nvPr/>
        </p:nvSpPr>
        <p:spPr>
          <a:xfrm>
            <a:off x="6217920" y="1645920"/>
            <a:ext cx="2514600" cy="1261872"/>
          </a:xfrm>
          <a:prstGeom prst="roundRect">
            <a:avLst>
              <a:gd name="adj" fmla="val 4348"/>
            </a:avLst>
          </a:prstGeom>
          <a:solidFill>
            <a:srgbClr val="FFFFFF"/>
          </a:solidFill>
          <a:ln w="12700">
            <a:solidFill>
              <a:srgbClr val="E69B00"/>
            </a:solidFill>
            <a:prstDash val="solid"/>
          </a:ln>
        </p:spPr>
      </p:sp>
      <p:sp>
        <p:nvSpPr>
          <p:cNvPr id="26" name="Shape 24"/>
          <p:cNvSpPr/>
          <p:nvPr/>
        </p:nvSpPr>
        <p:spPr>
          <a:xfrm>
            <a:off x="6236208" y="1664208"/>
            <a:ext cx="2478024" cy="384048"/>
          </a:xfrm>
          <a:prstGeom prst="rect">
            <a:avLst/>
          </a:prstGeom>
          <a:solidFill>
            <a:srgbClr val="FDF3DC"/>
          </a:solidFill>
          <a:ln w="12700">
            <a:solidFill>
              <a:srgbClr val="FDF3DC"/>
            </a:solidFill>
            <a:prstDash val="solid"/>
          </a:ln>
        </p:spPr>
      </p:sp>
      <p:sp>
        <p:nvSpPr>
          <p:cNvPr id="27" name="Text 25"/>
          <p:cNvSpPr txBox="1"/>
          <p:nvPr/>
        </p:nvSpPr>
        <p:spPr>
          <a:xfrm>
            <a:off x="6355080" y="166420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MODO_FALLA</a:t>
            </a:r>
            <a:endParaRPr lang="en-US" sz="1200" dirty="0"/>
          </a:p>
        </p:txBody>
      </p:sp>
      <p:sp>
        <p:nvSpPr>
          <p:cNvPr id="28" name="Text 26"/>
          <p:cNvSpPr txBox="1"/>
          <p:nvPr/>
        </p:nvSpPr>
        <p:spPr>
          <a:xfrm>
            <a:off x="6355080" y="212140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codigo · nombre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empresa_id (NULL = global)</a:t>
            </a:r>
            <a:endParaRPr lang="en-US" sz="1100" dirty="0"/>
          </a:p>
        </p:txBody>
      </p:sp>
      <p:sp>
        <p:nvSpPr>
          <p:cNvPr id="29" name="Shape 27"/>
          <p:cNvSpPr/>
          <p:nvPr/>
        </p:nvSpPr>
        <p:spPr>
          <a:xfrm>
            <a:off x="9052560" y="1645920"/>
            <a:ext cx="2514600" cy="1261872"/>
          </a:xfrm>
          <a:prstGeom prst="roundRect">
            <a:avLst>
              <a:gd name="adj" fmla="val 4348"/>
            </a:avLst>
          </a:prstGeom>
          <a:solidFill>
            <a:srgbClr val="FFFFFF"/>
          </a:solidFill>
          <a:ln w="12700">
            <a:solidFill>
              <a:srgbClr val="E69B00"/>
            </a:solidFill>
            <a:prstDash val="solid"/>
          </a:ln>
        </p:spPr>
      </p:sp>
      <p:sp>
        <p:nvSpPr>
          <p:cNvPr id="30" name="Shape 28"/>
          <p:cNvSpPr/>
          <p:nvPr/>
        </p:nvSpPr>
        <p:spPr>
          <a:xfrm>
            <a:off x="9070848" y="1664208"/>
            <a:ext cx="2478024" cy="384048"/>
          </a:xfrm>
          <a:prstGeom prst="rect">
            <a:avLst/>
          </a:prstGeom>
          <a:solidFill>
            <a:srgbClr val="FDF3DC"/>
          </a:solidFill>
          <a:ln w="12700">
            <a:solidFill>
              <a:srgbClr val="FDF3DC"/>
            </a:solidFill>
            <a:prstDash val="solid"/>
          </a:ln>
        </p:spPr>
      </p:sp>
      <p:sp>
        <p:nvSpPr>
          <p:cNvPr id="31" name="Text 29"/>
          <p:cNvSpPr txBox="1"/>
          <p:nvPr/>
        </p:nvSpPr>
        <p:spPr>
          <a:xfrm>
            <a:off x="9189720" y="166420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CAUSA_FALLA</a:t>
            </a:r>
            <a:endParaRPr lang="en-US" sz="1200" dirty="0"/>
          </a:p>
        </p:txBody>
      </p:sp>
      <p:sp>
        <p:nvSpPr>
          <p:cNvPr id="32" name="Text 30"/>
          <p:cNvSpPr txBox="1"/>
          <p:nvPr/>
        </p:nvSpPr>
        <p:spPr>
          <a:xfrm>
            <a:off x="9189720" y="212140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codigo · nombre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empresa_id (NULL = global)</a:t>
            </a:r>
            <a:endParaRPr lang="en-US" sz="1100" dirty="0"/>
          </a:p>
        </p:txBody>
      </p:sp>
      <p:sp>
        <p:nvSpPr>
          <p:cNvPr id="33" name="Shape 31"/>
          <p:cNvSpPr/>
          <p:nvPr/>
        </p:nvSpPr>
        <p:spPr>
          <a:xfrm>
            <a:off x="548640" y="3200400"/>
            <a:ext cx="2514600" cy="1261872"/>
          </a:xfrm>
          <a:prstGeom prst="roundRect">
            <a:avLst>
              <a:gd name="adj" fmla="val 4348"/>
            </a:avLst>
          </a:prstGeom>
          <a:solidFill>
            <a:srgbClr val="FFFFFF"/>
          </a:solidFill>
          <a:ln w="12700">
            <a:solidFill>
              <a:srgbClr val="E69B00"/>
            </a:solidFill>
            <a:prstDash val="solid"/>
          </a:ln>
        </p:spPr>
      </p:sp>
      <p:sp>
        <p:nvSpPr>
          <p:cNvPr id="34" name="Shape 32"/>
          <p:cNvSpPr/>
          <p:nvPr/>
        </p:nvSpPr>
        <p:spPr>
          <a:xfrm>
            <a:off x="566928" y="3218688"/>
            <a:ext cx="2478024" cy="384048"/>
          </a:xfrm>
          <a:prstGeom prst="rect">
            <a:avLst/>
          </a:prstGeom>
          <a:solidFill>
            <a:srgbClr val="FDF3DC"/>
          </a:solidFill>
          <a:ln w="12700">
            <a:solidFill>
              <a:srgbClr val="FDF3DC"/>
            </a:solidFill>
            <a:prstDash val="solid"/>
          </a:ln>
        </p:spPr>
      </p:sp>
      <p:sp>
        <p:nvSpPr>
          <p:cNvPr id="35" name="Text 33"/>
          <p:cNvSpPr txBox="1"/>
          <p:nvPr/>
        </p:nvSpPr>
        <p:spPr>
          <a:xfrm>
            <a:off x="685800" y="321868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CONECTOR_ERP</a:t>
            </a:r>
            <a:endParaRPr lang="en-US" sz="1200" dirty="0"/>
          </a:p>
        </p:txBody>
      </p:sp>
      <p:sp>
        <p:nvSpPr>
          <p:cNvPr id="36" name="Text 34"/>
          <p:cNvSpPr txBox="1"/>
          <p:nvPr/>
        </p:nvSpPr>
        <p:spPr>
          <a:xfrm>
            <a:off x="685800" y="367588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tipo · estado · config</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credenciales_cifradas</a:t>
            </a:r>
            <a:endParaRPr lang="en-US" sz="1100" dirty="0"/>
          </a:p>
        </p:txBody>
      </p:sp>
      <p:sp>
        <p:nvSpPr>
          <p:cNvPr id="37" name="Shape 35"/>
          <p:cNvSpPr/>
          <p:nvPr/>
        </p:nvSpPr>
        <p:spPr>
          <a:xfrm>
            <a:off x="3383280" y="3200400"/>
            <a:ext cx="2514600" cy="1261872"/>
          </a:xfrm>
          <a:prstGeom prst="roundRect">
            <a:avLst>
              <a:gd name="adj" fmla="val 4348"/>
            </a:avLst>
          </a:prstGeom>
          <a:solidFill>
            <a:srgbClr val="FFFFFF"/>
          </a:solidFill>
          <a:ln w="12700">
            <a:solidFill>
              <a:srgbClr val="9AA6B2"/>
            </a:solidFill>
            <a:prstDash val="solid"/>
          </a:ln>
        </p:spPr>
      </p:sp>
      <p:sp>
        <p:nvSpPr>
          <p:cNvPr id="38" name="Shape 36"/>
          <p:cNvSpPr/>
          <p:nvPr/>
        </p:nvSpPr>
        <p:spPr>
          <a:xfrm>
            <a:off x="3401568" y="3218688"/>
            <a:ext cx="2478024" cy="384048"/>
          </a:xfrm>
          <a:prstGeom prst="rect">
            <a:avLst/>
          </a:prstGeom>
          <a:solidFill>
            <a:srgbClr val="EDF0F3"/>
          </a:solidFill>
          <a:ln w="12700">
            <a:solidFill>
              <a:srgbClr val="EDF0F3"/>
            </a:solidFill>
            <a:prstDash val="solid"/>
          </a:ln>
        </p:spPr>
      </p:sp>
      <p:sp>
        <p:nvSpPr>
          <p:cNvPr id="39" name="Text 37"/>
          <p:cNvSpPr txBox="1"/>
          <p:nvPr/>
        </p:nvSpPr>
        <p:spPr>
          <a:xfrm>
            <a:off x="3520440" y="3218688"/>
            <a:ext cx="2240280" cy="384048"/>
          </a:xfrm>
          <a:prstGeom prst="rect">
            <a:avLst/>
          </a:prstGeom>
          <a:noFill/>
          <a:ln/>
        </p:spPr>
        <p:txBody>
          <a:bodyPr wrap="square" lIns="0" tIns="0" rIns="0" bIns="0" rtlCol="0" anchor="ctr"/>
          <a:lstStyle/>
          <a:p>
            <a:pPr indent="0" marL="0">
              <a:buNone/>
            </a:pPr>
            <a:r>
              <a:rPr lang="en-US" sz="1200" b="1" dirty="0">
                <a:solidFill>
                  <a:srgbClr val="5B6770"/>
                </a:solidFill>
                <a:latin typeface="Calibri" pitchFamily="34" charset="0"/>
                <a:ea typeface="Calibri" pitchFamily="34" charset="-122"/>
                <a:cs typeface="Calibri" pitchFamily="34" charset="-120"/>
              </a:rPr>
              <a:t>MAQUINA  (existente)</a:t>
            </a:r>
            <a:endParaRPr lang="en-US" sz="1200" dirty="0"/>
          </a:p>
        </p:txBody>
      </p:sp>
      <p:sp>
        <p:nvSpPr>
          <p:cNvPr id="40" name="Text 38"/>
          <p:cNvSpPr txBox="1"/>
          <p:nvPr/>
        </p:nvSpPr>
        <p:spPr>
          <a:xfrm>
            <a:off x="3520440" y="367588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 fabricante · modelo</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 criticidad · serie</a:t>
            </a:r>
            <a:endParaRPr lang="en-US" sz="1100" dirty="0"/>
          </a:p>
        </p:txBody>
      </p:sp>
      <p:sp>
        <p:nvSpPr>
          <p:cNvPr id="41" name="Shape 39"/>
          <p:cNvSpPr/>
          <p:nvPr/>
        </p:nvSpPr>
        <p:spPr>
          <a:xfrm>
            <a:off x="6217920" y="3200400"/>
            <a:ext cx="2514600" cy="1261872"/>
          </a:xfrm>
          <a:prstGeom prst="roundRect">
            <a:avLst>
              <a:gd name="adj" fmla="val 4348"/>
            </a:avLst>
          </a:prstGeom>
          <a:solidFill>
            <a:srgbClr val="FFFFFF"/>
          </a:solidFill>
          <a:ln w="25400">
            <a:solidFill>
              <a:srgbClr val="E69B00"/>
            </a:solidFill>
            <a:prstDash val="solid"/>
          </a:ln>
        </p:spPr>
      </p:sp>
      <p:sp>
        <p:nvSpPr>
          <p:cNvPr id="42" name="Shape 40"/>
          <p:cNvSpPr/>
          <p:nvPr/>
        </p:nvSpPr>
        <p:spPr>
          <a:xfrm>
            <a:off x="6236208" y="3218688"/>
            <a:ext cx="2478024" cy="384048"/>
          </a:xfrm>
          <a:prstGeom prst="rect">
            <a:avLst/>
          </a:prstGeom>
          <a:solidFill>
            <a:srgbClr val="E69B00"/>
          </a:solidFill>
          <a:ln w="12700">
            <a:solidFill>
              <a:srgbClr val="E69B00"/>
            </a:solidFill>
            <a:prstDash val="solid"/>
          </a:ln>
        </p:spPr>
      </p:sp>
      <p:sp>
        <p:nvSpPr>
          <p:cNvPr id="43" name="Text 41"/>
          <p:cNvSpPr txBox="1"/>
          <p:nvPr/>
        </p:nvSpPr>
        <p:spPr>
          <a:xfrm>
            <a:off x="6355080" y="3218688"/>
            <a:ext cx="2240280" cy="384048"/>
          </a:xfrm>
          <a:prstGeom prst="rect">
            <a:avLst/>
          </a:prstGeom>
          <a:noFill/>
          <a:ln/>
        </p:spPr>
        <p:txBody>
          <a:bodyPr wrap="square" lIns="0" tIns="0" rIns="0" bIns="0" rtlCol="0" anchor="ctr"/>
          <a:lstStyle/>
          <a:p>
            <a:pPr indent="0" marL="0">
              <a:buNone/>
            </a:pPr>
            <a:r>
              <a:rPr lang="en-US" sz="1200" b="1" dirty="0">
                <a:solidFill>
                  <a:srgbClr val="17212B"/>
                </a:solidFill>
                <a:latin typeface="Calibri" pitchFamily="34" charset="0"/>
                <a:ea typeface="Calibri" pitchFamily="34" charset="-122"/>
                <a:cs typeface="Calibri" pitchFamily="34" charset="-120"/>
              </a:rPr>
              <a:t>EVENTO_FALLA</a:t>
            </a:r>
            <a:endParaRPr lang="en-US" sz="1200" dirty="0"/>
          </a:p>
        </p:txBody>
      </p:sp>
      <p:sp>
        <p:nvSpPr>
          <p:cNvPr id="44" name="Text 42"/>
          <p:cNvSpPr txBox="1"/>
          <p:nvPr/>
        </p:nvSpPr>
        <p:spPr>
          <a:xfrm>
            <a:off x="6355080" y="367588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maquina · modo · causa</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inicio/fin detención · origen</a:t>
            </a:r>
            <a:endParaRPr lang="en-US" sz="1100" dirty="0"/>
          </a:p>
        </p:txBody>
      </p:sp>
      <p:sp>
        <p:nvSpPr>
          <p:cNvPr id="45" name="Shape 43"/>
          <p:cNvSpPr/>
          <p:nvPr/>
        </p:nvSpPr>
        <p:spPr>
          <a:xfrm>
            <a:off x="9052560" y="3200400"/>
            <a:ext cx="2514600" cy="1261872"/>
          </a:xfrm>
          <a:prstGeom prst="roundRect">
            <a:avLst>
              <a:gd name="adj" fmla="val 4348"/>
            </a:avLst>
          </a:prstGeom>
          <a:solidFill>
            <a:srgbClr val="FFFFFF"/>
          </a:solidFill>
          <a:ln w="12700">
            <a:solidFill>
              <a:srgbClr val="9AA6B2"/>
            </a:solidFill>
            <a:prstDash val="solid"/>
          </a:ln>
        </p:spPr>
      </p:sp>
      <p:sp>
        <p:nvSpPr>
          <p:cNvPr id="46" name="Shape 44"/>
          <p:cNvSpPr/>
          <p:nvPr/>
        </p:nvSpPr>
        <p:spPr>
          <a:xfrm>
            <a:off x="9070848" y="3218688"/>
            <a:ext cx="2478024" cy="384048"/>
          </a:xfrm>
          <a:prstGeom prst="rect">
            <a:avLst/>
          </a:prstGeom>
          <a:solidFill>
            <a:srgbClr val="EDF0F3"/>
          </a:solidFill>
          <a:ln w="12700">
            <a:solidFill>
              <a:srgbClr val="EDF0F3"/>
            </a:solidFill>
            <a:prstDash val="solid"/>
          </a:ln>
        </p:spPr>
      </p:sp>
      <p:sp>
        <p:nvSpPr>
          <p:cNvPr id="47" name="Text 45"/>
          <p:cNvSpPr txBox="1"/>
          <p:nvPr/>
        </p:nvSpPr>
        <p:spPr>
          <a:xfrm>
            <a:off x="9189720" y="3218688"/>
            <a:ext cx="2240280" cy="384048"/>
          </a:xfrm>
          <a:prstGeom prst="rect">
            <a:avLst/>
          </a:prstGeom>
          <a:noFill/>
          <a:ln/>
        </p:spPr>
        <p:txBody>
          <a:bodyPr wrap="square" lIns="0" tIns="0" rIns="0" bIns="0" rtlCol="0" anchor="ctr"/>
          <a:lstStyle/>
          <a:p>
            <a:pPr indent="0" marL="0">
              <a:buNone/>
            </a:pPr>
            <a:r>
              <a:rPr lang="en-US" sz="1200" b="1" dirty="0">
                <a:solidFill>
                  <a:srgbClr val="5B6770"/>
                </a:solidFill>
                <a:latin typeface="Calibri" pitchFamily="34" charset="0"/>
                <a:ea typeface="Calibri" pitchFamily="34" charset="-122"/>
                <a:cs typeface="Calibri" pitchFamily="34" charset="-120"/>
              </a:rPr>
              <a:t>ORDEN_TRABAJO  (existente)</a:t>
            </a:r>
            <a:endParaRPr lang="en-US" sz="1200" dirty="0"/>
          </a:p>
        </p:txBody>
      </p:sp>
      <p:sp>
        <p:nvSpPr>
          <p:cNvPr id="48" name="Text 46"/>
          <p:cNvSpPr txBox="1"/>
          <p:nvPr/>
        </p:nvSpPr>
        <p:spPr>
          <a:xfrm>
            <a:off x="9189720" y="367588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 conector_id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 id_externo</a:t>
            </a:r>
            <a:endParaRPr lang="en-US" sz="1100" dirty="0"/>
          </a:p>
        </p:txBody>
      </p:sp>
      <p:sp>
        <p:nvSpPr>
          <p:cNvPr id="49" name="Shape 47"/>
          <p:cNvSpPr/>
          <p:nvPr/>
        </p:nvSpPr>
        <p:spPr>
          <a:xfrm>
            <a:off x="548640" y="4754880"/>
            <a:ext cx="2514600" cy="1261872"/>
          </a:xfrm>
          <a:prstGeom prst="roundRect">
            <a:avLst>
              <a:gd name="adj" fmla="val 4348"/>
            </a:avLst>
          </a:prstGeom>
          <a:solidFill>
            <a:srgbClr val="FFFFFF"/>
          </a:solidFill>
          <a:ln w="12700">
            <a:solidFill>
              <a:srgbClr val="E69B00"/>
            </a:solidFill>
            <a:prstDash val="solid"/>
          </a:ln>
        </p:spPr>
      </p:sp>
      <p:sp>
        <p:nvSpPr>
          <p:cNvPr id="50" name="Shape 48"/>
          <p:cNvSpPr/>
          <p:nvPr/>
        </p:nvSpPr>
        <p:spPr>
          <a:xfrm>
            <a:off x="566928" y="4773168"/>
            <a:ext cx="2478024" cy="384048"/>
          </a:xfrm>
          <a:prstGeom prst="rect">
            <a:avLst/>
          </a:prstGeom>
          <a:solidFill>
            <a:srgbClr val="FDF3DC"/>
          </a:solidFill>
          <a:ln w="12700">
            <a:solidFill>
              <a:srgbClr val="FDF3DC"/>
            </a:solidFill>
            <a:prstDash val="solid"/>
          </a:ln>
        </p:spPr>
      </p:sp>
      <p:sp>
        <p:nvSpPr>
          <p:cNvPr id="51" name="Text 49"/>
          <p:cNvSpPr txBox="1"/>
          <p:nvPr/>
        </p:nvSpPr>
        <p:spPr>
          <a:xfrm>
            <a:off x="685800" y="477316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LOTE_INGESTA</a:t>
            </a:r>
            <a:endParaRPr lang="en-US" sz="1200" dirty="0"/>
          </a:p>
        </p:txBody>
      </p:sp>
      <p:sp>
        <p:nvSpPr>
          <p:cNvPr id="52" name="Text 50"/>
          <p:cNvSpPr txBox="1"/>
          <p:nvPr/>
        </p:nvSpPr>
        <p:spPr>
          <a:xfrm>
            <a:off x="685800" y="523036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conector_id · estado</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leídos · ok · rechazados</a:t>
            </a:r>
            <a:endParaRPr lang="en-US" sz="1100" dirty="0"/>
          </a:p>
        </p:txBody>
      </p:sp>
      <p:sp>
        <p:nvSpPr>
          <p:cNvPr id="53" name="Shape 51"/>
          <p:cNvSpPr/>
          <p:nvPr/>
        </p:nvSpPr>
        <p:spPr>
          <a:xfrm>
            <a:off x="3383280" y="4754880"/>
            <a:ext cx="2514600" cy="1261872"/>
          </a:xfrm>
          <a:prstGeom prst="roundRect">
            <a:avLst>
              <a:gd name="adj" fmla="val 4348"/>
            </a:avLst>
          </a:prstGeom>
          <a:solidFill>
            <a:srgbClr val="FFFFFF"/>
          </a:solidFill>
          <a:ln w="12700">
            <a:solidFill>
              <a:srgbClr val="E69B00"/>
            </a:solidFill>
            <a:prstDash val="solid"/>
          </a:ln>
        </p:spPr>
      </p:sp>
      <p:sp>
        <p:nvSpPr>
          <p:cNvPr id="54" name="Shape 52"/>
          <p:cNvSpPr/>
          <p:nvPr/>
        </p:nvSpPr>
        <p:spPr>
          <a:xfrm>
            <a:off x="3401568" y="4773168"/>
            <a:ext cx="2478024" cy="384048"/>
          </a:xfrm>
          <a:prstGeom prst="rect">
            <a:avLst/>
          </a:prstGeom>
          <a:solidFill>
            <a:srgbClr val="FDF3DC"/>
          </a:solidFill>
          <a:ln w="12700">
            <a:solidFill>
              <a:srgbClr val="FDF3DC"/>
            </a:solidFill>
            <a:prstDash val="solid"/>
          </a:ln>
        </p:spPr>
      </p:sp>
      <p:sp>
        <p:nvSpPr>
          <p:cNvPr id="55" name="Text 53"/>
          <p:cNvSpPr txBox="1"/>
          <p:nvPr/>
        </p:nvSpPr>
        <p:spPr>
          <a:xfrm>
            <a:off x="3520440" y="477316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INGESTA_CRUDA</a:t>
            </a:r>
            <a:endParaRPr lang="en-US" sz="1200" dirty="0"/>
          </a:p>
        </p:txBody>
      </p:sp>
      <p:sp>
        <p:nvSpPr>
          <p:cNvPr id="56" name="Text 54"/>
          <p:cNvSpPr txBox="1"/>
          <p:nvPr/>
        </p:nvSpPr>
        <p:spPr>
          <a:xfrm>
            <a:off x="3520440" y="523036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lote_id · payload (JSONB)</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hash</a:t>
            </a:r>
            <a:endParaRPr lang="en-US" sz="1100" dirty="0"/>
          </a:p>
        </p:txBody>
      </p:sp>
      <p:sp>
        <p:nvSpPr>
          <p:cNvPr id="57" name="Shape 55"/>
          <p:cNvSpPr/>
          <p:nvPr/>
        </p:nvSpPr>
        <p:spPr>
          <a:xfrm>
            <a:off x="6217920" y="4754880"/>
            <a:ext cx="2514600" cy="1261872"/>
          </a:xfrm>
          <a:prstGeom prst="roundRect">
            <a:avLst>
              <a:gd name="adj" fmla="val 4348"/>
            </a:avLst>
          </a:prstGeom>
          <a:solidFill>
            <a:srgbClr val="FFFFFF"/>
          </a:solidFill>
          <a:ln w="12700">
            <a:solidFill>
              <a:srgbClr val="E69B00"/>
            </a:solidFill>
            <a:prstDash val="solid"/>
          </a:ln>
        </p:spPr>
      </p:sp>
      <p:sp>
        <p:nvSpPr>
          <p:cNvPr id="58" name="Shape 56"/>
          <p:cNvSpPr/>
          <p:nvPr/>
        </p:nvSpPr>
        <p:spPr>
          <a:xfrm>
            <a:off x="6236208" y="4773168"/>
            <a:ext cx="2478024" cy="384048"/>
          </a:xfrm>
          <a:prstGeom prst="rect">
            <a:avLst/>
          </a:prstGeom>
          <a:solidFill>
            <a:srgbClr val="FDF3DC"/>
          </a:solidFill>
          <a:ln w="12700">
            <a:solidFill>
              <a:srgbClr val="FDF3DC"/>
            </a:solidFill>
            <a:prstDash val="solid"/>
          </a:ln>
        </p:spPr>
      </p:sp>
      <p:sp>
        <p:nvSpPr>
          <p:cNvPr id="59" name="Text 57"/>
          <p:cNvSpPr txBox="1"/>
          <p:nvPr/>
        </p:nvSpPr>
        <p:spPr>
          <a:xfrm>
            <a:off x="6355080" y="4773168"/>
            <a:ext cx="2240280" cy="384048"/>
          </a:xfrm>
          <a:prstGeom prst="rect">
            <a:avLst/>
          </a:prstGeom>
          <a:noFill/>
          <a:ln/>
        </p:spPr>
        <p:txBody>
          <a:bodyPr wrap="square" lIns="0" tIns="0" rIns="0" bIns="0" rtlCol="0" anchor="ctr"/>
          <a:lstStyle/>
          <a:p>
            <a:pPr indent="0" marL="0">
              <a:buNone/>
            </a:pPr>
            <a:r>
              <a:rPr lang="en-US" sz="1200" b="1" dirty="0">
                <a:solidFill>
                  <a:srgbClr val="9A5B00"/>
                </a:solidFill>
                <a:latin typeface="Calibri" pitchFamily="34" charset="0"/>
                <a:ea typeface="Calibri" pitchFamily="34" charset="-122"/>
                <a:cs typeface="Calibri" pitchFamily="34" charset="-120"/>
              </a:rPr>
              <a:t>RECHAZO_INGESTA</a:t>
            </a:r>
            <a:endParaRPr lang="en-US" sz="1200" dirty="0"/>
          </a:p>
        </p:txBody>
      </p:sp>
      <p:sp>
        <p:nvSpPr>
          <p:cNvPr id="60" name="Text 58"/>
          <p:cNvSpPr txBox="1"/>
          <p:nvPr/>
        </p:nvSpPr>
        <p:spPr>
          <a:xfrm>
            <a:off x="6355080" y="5230368"/>
            <a:ext cx="2240280" cy="7315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lote_id · motivo</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payload · resuelto</a:t>
            </a:r>
            <a:endParaRPr lang="en-US" sz="1100" dirty="0"/>
          </a:p>
        </p:txBody>
      </p:sp>
      <p:sp>
        <p:nvSpPr>
          <p:cNvPr id="61" name="Shape 59"/>
          <p:cNvSpPr/>
          <p:nvPr/>
        </p:nvSpPr>
        <p:spPr>
          <a:xfrm>
            <a:off x="9052560" y="4754880"/>
            <a:ext cx="2514600" cy="1261872"/>
          </a:xfrm>
          <a:prstGeom prst="roundRect">
            <a:avLst>
              <a:gd name="adj" fmla="val 5797"/>
            </a:avLst>
          </a:prstGeom>
          <a:solidFill>
            <a:srgbClr val="F5F7FA"/>
          </a:solidFill>
          <a:ln w="12700">
            <a:solidFill>
              <a:srgbClr val="DDE3EA"/>
            </a:solidFill>
            <a:prstDash val="solid"/>
          </a:ln>
        </p:spPr>
      </p:sp>
      <p:sp>
        <p:nvSpPr>
          <p:cNvPr id="62" name="Shape 60"/>
          <p:cNvSpPr/>
          <p:nvPr/>
        </p:nvSpPr>
        <p:spPr>
          <a:xfrm>
            <a:off x="9235440" y="4937760"/>
            <a:ext cx="292608" cy="201168"/>
          </a:xfrm>
          <a:prstGeom prst="rect">
            <a:avLst/>
          </a:prstGeom>
          <a:solidFill>
            <a:srgbClr val="FDF3DC"/>
          </a:solidFill>
          <a:ln w="12700">
            <a:solidFill>
              <a:srgbClr val="E69B00"/>
            </a:solidFill>
            <a:prstDash val="solid"/>
          </a:ln>
        </p:spPr>
      </p:sp>
      <p:sp>
        <p:nvSpPr>
          <p:cNvPr id="63" name="Text 61"/>
          <p:cNvSpPr txBox="1"/>
          <p:nvPr/>
        </p:nvSpPr>
        <p:spPr>
          <a:xfrm>
            <a:off x="9646920" y="4882896"/>
            <a:ext cx="1828800" cy="310896"/>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Tabla nueva</a:t>
            </a:r>
            <a:endParaRPr lang="en-US" sz="1100" dirty="0"/>
          </a:p>
        </p:txBody>
      </p:sp>
      <p:sp>
        <p:nvSpPr>
          <p:cNvPr id="64" name="Shape 62"/>
          <p:cNvSpPr/>
          <p:nvPr/>
        </p:nvSpPr>
        <p:spPr>
          <a:xfrm>
            <a:off x="9235440" y="5276088"/>
            <a:ext cx="292608" cy="201168"/>
          </a:xfrm>
          <a:prstGeom prst="rect">
            <a:avLst/>
          </a:prstGeom>
          <a:solidFill>
            <a:srgbClr val="EDF0F3"/>
          </a:solidFill>
          <a:ln w="12700">
            <a:solidFill>
              <a:srgbClr val="9AA6B2"/>
            </a:solidFill>
            <a:prstDash val="solid"/>
          </a:ln>
        </p:spPr>
      </p:sp>
      <p:sp>
        <p:nvSpPr>
          <p:cNvPr id="65" name="Text 63"/>
          <p:cNvSpPr txBox="1"/>
          <p:nvPr/>
        </p:nvSpPr>
        <p:spPr>
          <a:xfrm>
            <a:off x="9646920" y="5221224"/>
            <a:ext cx="1828800" cy="310896"/>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Tabla existente extendida</a:t>
            </a:r>
            <a:endParaRPr lang="en-US" sz="1100" dirty="0"/>
          </a:p>
        </p:txBody>
      </p:sp>
      <p:sp>
        <p:nvSpPr>
          <p:cNvPr id="66" name="Shape 64"/>
          <p:cNvSpPr/>
          <p:nvPr/>
        </p:nvSpPr>
        <p:spPr>
          <a:xfrm>
            <a:off x="9235440" y="5614416"/>
            <a:ext cx="292608" cy="201168"/>
          </a:xfrm>
          <a:prstGeom prst="rect">
            <a:avLst/>
          </a:prstGeom>
          <a:solidFill>
            <a:srgbClr val="E69B00"/>
          </a:solidFill>
          <a:ln w="12700">
            <a:solidFill>
              <a:srgbClr val="E69B00"/>
            </a:solidFill>
            <a:prstDash val="solid"/>
          </a:ln>
        </p:spPr>
      </p:sp>
      <p:sp>
        <p:nvSpPr>
          <p:cNvPr id="67" name="Text 65"/>
          <p:cNvSpPr txBox="1"/>
          <p:nvPr/>
        </p:nvSpPr>
        <p:spPr>
          <a:xfrm>
            <a:off x="9646920" y="5559552"/>
            <a:ext cx="1828800" cy="310896"/>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Tabla central</a:t>
            </a:r>
            <a:endParaRPr lang="en-US" sz="1100" dirty="0"/>
          </a:p>
        </p:txBody>
      </p:sp>
      <p:sp>
        <p:nvSpPr>
          <p:cNvPr id="68" name="Text 66"/>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69" name="Text 67"/>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13 / 17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ESTRATEGIA Y SOSTENIBILIDAD</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Propuesta de valor del módulo</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Barb es un producto SaaS B2B multi-empresa de Alloxentric; la integración reduce la barrera de adopción</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783080"/>
            <a:ext cx="3611880" cy="4389120"/>
          </a:xfrm>
          <a:prstGeom prst="roundRect">
            <a:avLst>
              <a:gd name="adj" fmla="val 2025"/>
            </a:avLst>
          </a:prstGeom>
          <a:solidFill>
            <a:srgbClr val="FFFFFF"/>
          </a:solidFill>
          <a:ln w="12700">
            <a:solidFill>
              <a:srgbClr val="DDE3EA"/>
            </a:solidFill>
            <a:prstDash val="solid"/>
          </a:ln>
        </p:spPr>
      </p:sp>
      <p:sp>
        <p:nvSpPr>
          <p:cNvPr id="8" name="Shape 6"/>
          <p:cNvSpPr/>
          <p:nvPr/>
        </p:nvSpPr>
        <p:spPr>
          <a:xfrm>
            <a:off x="822960" y="2011680"/>
            <a:ext cx="685800" cy="685800"/>
          </a:xfrm>
          <a:prstGeom prst="ellipse">
            <a:avLst/>
          </a:prstGeom>
          <a:solidFill>
            <a:srgbClr val="E4EEF9"/>
          </a:solidFill>
          <a:ln w="12700">
            <a:solidFill>
              <a:srgbClr val="E4EEF9"/>
            </a:solidFill>
            <a:prstDash val="solid"/>
          </a:ln>
        </p:spPr>
      </p:sp>
      <p:pic>
        <p:nvPicPr>
          <p:cNvPr id="9" name="Image 0" descr="preencoded.png">    </p:cNvPr>
          <p:cNvPicPr>
            <a:picLocks noChangeAspect="1"/>
          </p:cNvPicPr>
          <p:nvPr/>
        </p:nvPicPr>
        <p:blipFill>
          <a:blip r:embed="rId1"/>
          <a:stretch>
            <a:fillRect/>
          </a:stretch>
        </p:blipFill>
        <p:spPr>
          <a:xfrm>
            <a:off x="973836" y="2162556"/>
            <a:ext cx="384048" cy="384048"/>
          </a:xfrm>
          <a:prstGeom prst="rect">
            <a:avLst/>
          </a:prstGeom>
        </p:spPr>
      </p:pic>
      <p:sp>
        <p:nvSpPr>
          <p:cNvPr id="10" name="Text 7"/>
          <p:cNvSpPr txBox="1"/>
          <p:nvPr/>
        </p:nvSpPr>
        <p:spPr>
          <a:xfrm>
            <a:off x="1645920" y="2011680"/>
            <a:ext cx="2377440" cy="68580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Para el cliente</a:t>
            </a:r>
            <a:endParaRPr lang="en-US" sz="1900" dirty="0"/>
          </a:p>
        </p:txBody>
      </p:sp>
      <p:sp>
        <p:nvSpPr>
          <p:cNvPr id="11" name="Text 8"/>
          <p:cNvSpPr txBox="1"/>
          <p:nvPr/>
        </p:nvSpPr>
        <p:spPr>
          <a:xfrm>
            <a:off x="822960" y="3017520"/>
            <a:ext cx="3108960" cy="3017520"/>
          </a:xfrm>
          <a:prstGeom prst="rect">
            <a:avLst/>
          </a:prstGeom>
          <a:noFill/>
          <a:ln/>
        </p:spPr>
        <p:txBody>
          <a:bodyPr wrap="square" lIns="0" tIns="0" rIns="0" bIns="0" rtlCol="0" anchor="t"/>
          <a:lstStyle/>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Conserva su ERP corporativo; no hay migración.</a:t>
            </a:r>
            <a:endParaRPr lang="en-US" sz="1600" dirty="0"/>
          </a:p>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Su historial de fallas está disponible desde el primer día.</a:t>
            </a:r>
            <a:endParaRPr lang="en-US" sz="1600" dirty="0"/>
          </a:p>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Obtiene indicadores de confiabilidad por máquina.</a:t>
            </a:r>
            <a:endParaRPr lang="en-US" sz="1600" dirty="0"/>
          </a:p>
        </p:txBody>
      </p:sp>
      <p:sp>
        <p:nvSpPr>
          <p:cNvPr id="12" name="Shape 9"/>
          <p:cNvSpPr/>
          <p:nvPr/>
        </p:nvSpPr>
        <p:spPr>
          <a:xfrm>
            <a:off x="4297680" y="1783080"/>
            <a:ext cx="3611880" cy="4389120"/>
          </a:xfrm>
          <a:prstGeom prst="roundRect">
            <a:avLst>
              <a:gd name="adj" fmla="val 2025"/>
            </a:avLst>
          </a:prstGeom>
          <a:solidFill>
            <a:srgbClr val="FFFFFF"/>
          </a:solidFill>
          <a:ln w="12700">
            <a:solidFill>
              <a:srgbClr val="DDE3EA"/>
            </a:solidFill>
            <a:prstDash val="solid"/>
          </a:ln>
        </p:spPr>
      </p:sp>
      <p:sp>
        <p:nvSpPr>
          <p:cNvPr id="13" name="Shape 10"/>
          <p:cNvSpPr/>
          <p:nvPr/>
        </p:nvSpPr>
        <p:spPr>
          <a:xfrm>
            <a:off x="4572000" y="2011680"/>
            <a:ext cx="685800" cy="685800"/>
          </a:xfrm>
          <a:prstGeom prst="ellipse">
            <a:avLst/>
          </a:prstGeom>
          <a:solidFill>
            <a:srgbClr val="FDF3DC"/>
          </a:solidFill>
          <a:ln w="12700">
            <a:solidFill>
              <a:srgbClr val="FDF3DC"/>
            </a:solidFill>
            <a:prstDash val="solid"/>
          </a:ln>
        </p:spPr>
      </p:sp>
      <p:pic>
        <p:nvPicPr>
          <p:cNvPr id="14" name="Image 1" descr="preencoded.png">    </p:cNvPr>
          <p:cNvPicPr>
            <a:picLocks noChangeAspect="1"/>
          </p:cNvPicPr>
          <p:nvPr/>
        </p:nvPicPr>
        <p:blipFill>
          <a:blip r:embed="rId2"/>
          <a:stretch>
            <a:fillRect/>
          </a:stretch>
        </p:blipFill>
        <p:spPr>
          <a:xfrm>
            <a:off x="4722876" y="2162556"/>
            <a:ext cx="384048" cy="384048"/>
          </a:xfrm>
          <a:prstGeom prst="rect">
            <a:avLst/>
          </a:prstGeom>
        </p:spPr>
      </p:pic>
      <p:sp>
        <p:nvSpPr>
          <p:cNvPr id="15" name="Text 11"/>
          <p:cNvSpPr txBox="1"/>
          <p:nvPr/>
        </p:nvSpPr>
        <p:spPr>
          <a:xfrm>
            <a:off x="5394960" y="2011680"/>
            <a:ext cx="2377440" cy="68580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Para Alloxentric</a:t>
            </a:r>
            <a:endParaRPr lang="en-US" sz="1900" dirty="0"/>
          </a:p>
        </p:txBody>
      </p:sp>
      <p:sp>
        <p:nvSpPr>
          <p:cNvPr id="16" name="Text 12"/>
          <p:cNvSpPr txBox="1"/>
          <p:nvPr/>
        </p:nvSpPr>
        <p:spPr>
          <a:xfrm>
            <a:off x="4572000" y="3017520"/>
            <a:ext cx="3108960" cy="3017520"/>
          </a:xfrm>
          <a:prstGeom prst="rect">
            <a:avLst/>
          </a:prstGeom>
          <a:noFill/>
          <a:ln/>
        </p:spPr>
        <p:txBody>
          <a:bodyPr wrap="square" lIns="0" tIns="0" rIns="0" bIns="0" rtlCol="0" anchor="t"/>
          <a:lstStyle/>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Implementaciones más rápidas en clientes nuevos.</a:t>
            </a:r>
            <a:endParaRPr lang="en-US" sz="1600" dirty="0"/>
          </a:p>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Un conector sirve a todos los clientes de ese ERP.</a:t>
            </a:r>
            <a:endParaRPr lang="en-US" sz="1600" dirty="0"/>
          </a:p>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La integración se vuelve un diferenciador comercial.</a:t>
            </a:r>
            <a:endParaRPr lang="en-US" sz="1600" dirty="0"/>
          </a:p>
        </p:txBody>
      </p:sp>
      <p:sp>
        <p:nvSpPr>
          <p:cNvPr id="17" name="Shape 13"/>
          <p:cNvSpPr/>
          <p:nvPr/>
        </p:nvSpPr>
        <p:spPr>
          <a:xfrm>
            <a:off x="8046720" y="1783080"/>
            <a:ext cx="3611880" cy="4389120"/>
          </a:xfrm>
          <a:prstGeom prst="roundRect">
            <a:avLst>
              <a:gd name="adj" fmla="val 2025"/>
            </a:avLst>
          </a:prstGeom>
          <a:solidFill>
            <a:srgbClr val="FFFFFF"/>
          </a:solidFill>
          <a:ln w="12700">
            <a:solidFill>
              <a:srgbClr val="DDE3EA"/>
            </a:solidFill>
            <a:prstDash val="solid"/>
          </a:ln>
        </p:spPr>
      </p:sp>
      <p:sp>
        <p:nvSpPr>
          <p:cNvPr id="18" name="Shape 14"/>
          <p:cNvSpPr/>
          <p:nvPr/>
        </p:nvSpPr>
        <p:spPr>
          <a:xfrm>
            <a:off x="8321040" y="2011680"/>
            <a:ext cx="685800" cy="685800"/>
          </a:xfrm>
          <a:prstGeom prst="ellipse">
            <a:avLst/>
          </a:prstGeom>
          <a:solidFill>
            <a:srgbClr val="E3F2EA"/>
          </a:solidFill>
          <a:ln w="12700">
            <a:solidFill>
              <a:srgbClr val="E3F2EA"/>
            </a:solidFill>
            <a:prstDash val="solid"/>
          </a:ln>
        </p:spPr>
      </p:sp>
      <p:pic>
        <p:nvPicPr>
          <p:cNvPr id="19" name="Image 2" descr="preencoded.png">    </p:cNvPr>
          <p:cNvPicPr>
            <a:picLocks noChangeAspect="1"/>
          </p:cNvPicPr>
          <p:nvPr/>
        </p:nvPicPr>
        <p:blipFill>
          <a:blip r:embed="rId3"/>
          <a:stretch>
            <a:fillRect/>
          </a:stretch>
        </p:blipFill>
        <p:spPr>
          <a:xfrm>
            <a:off x="8471916" y="2162556"/>
            <a:ext cx="384048" cy="384048"/>
          </a:xfrm>
          <a:prstGeom prst="rect">
            <a:avLst/>
          </a:prstGeom>
        </p:spPr>
      </p:pic>
      <p:sp>
        <p:nvSpPr>
          <p:cNvPr id="20" name="Text 15"/>
          <p:cNvSpPr txBox="1"/>
          <p:nvPr/>
        </p:nvSpPr>
        <p:spPr>
          <a:xfrm>
            <a:off x="9144000" y="2011680"/>
            <a:ext cx="2377440" cy="68580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Modelo</a:t>
            </a:r>
            <a:endParaRPr lang="en-US" sz="1900" dirty="0"/>
          </a:p>
        </p:txBody>
      </p:sp>
      <p:sp>
        <p:nvSpPr>
          <p:cNvPr id="21" name="Text 16"/>
          <p:cNvSpPr txBox="1"/>
          <p:nvPr/>
        </p:nvSpPr>
        <p:spPr>
          <a:xfrm>
            <a:off x="8321040" y="3017520"/>
            <a:ext cx="3108960" cy="3017520"/>
          </a:xfrm>
          <a:prstGeom prst="rect">
            <a:avLst/>
          </a:prstGeom>
          <a:noFill/>
          <a:ln/>
        </p:spPr>
        <p:txBody>
          <a:bodyPr wrap="square" lIns="0" tIns="0" rIns="0" bIns="0" rtlCol="0" anchor="t"/>
          <a:lstStyle/>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Suscripción SaaS por empresa, con aislamiento de datos.</a:t>
            </a:r>
            <a:endParaRPr lang="en-US" sz="1600" dirty="0"/>
          </a:p>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La integración se ofrece como capacidad de la plataforma.</a:t>
            </a:r>
            <a:endParaRPr lang="en-US" sz="1600" dirty="0"/>
          </a:p>
          <a:p>
            <a:pPr marL="177800" indent="-177800">
              <a:spcAft>
                <a:spcPts val="1800"/>
              </a:spcAft>
              <a:buSzPct val="100000"/>
              <a:buChar char="•"/>
            </a:pPr>
            <a:r>
              <a:rPr lang="en-US" sz="1600" dirty="0">
                <a:solidFill>
                  <a:srgbClr val="1F2933"/>
                </a:solidFill>
                <a:latin typeface="Calibri" pitchFamily="34" charset="0"/>
                <a:ea typeface="Calibri" pitchFamily="34" charset="-122"/>
                <a:cs typeface="Calibri" pitchFamily="34" charset="-120"/>
              </a:rPr>
              <a:t>Los precios y planes los define Alloxentric.</a:t>
            </a:r>
            <a:endParaRPr lang="en-US" sz="1600" dirty="0"/>
          </a:p>
        </p:txBody>
      </p:sp>
      <p:sp>
        <p:nvSpPr>
          <p:cNvPr id="22" name="Text 17"/>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23" name="Text 18"/>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14 / 17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VALIDACIÓN DEL INCREMENTO</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Demostración</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Selector de conectores y migración ejecutada sobre el esquema real</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548640" y="1691640"/>
            <a:ext cx="5577840" cy="4480560"/>
          </a:xfrm>
          <a:prstGeom prst="roundRect">
            <a:avLst>
              <a:gd name="adj" fmla="val 1633"/>
            </a:avLst>
          </a:prstGeom>
          <a:solidFill>
            <a:srgbClr val="E9EDF2"/>
          </a:solidFill>
          <a:ln w="12700">
            <a:solidFill>
              <a:srgbClr val="E9EDF2"/>
            </a:solidFill>
            <a:prstDash val="solid"/>
          </a:ln>
        </p:spPr>
      </p:sp>
      <p:sp>
        <p:nvSpPr>
          <p:cNvPr id="8" name="Text 6"/>
          <p:cNvSpPr txBox="1"/>
          <p:nvPr/>
        </p:nvSpPr>
        <p:spPr>
          <a:xfrm>
            <a:off x="777240" y="1828800"/>
            <a:ext cx="3657600" cy="3200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Selector de módulos de Barb</a:t>
            </a:r>
            <a:endParaRPr lang="en-US" sz="1200" dirty="0"/>
          </a:p>
        </p:txBody>
      </p:sp>
      <p:sp>
        <p:nvSpPr>
          <p:cNvPr id="9" name="Shape 7"/>
          <p:cNvSpPr/>
          <p:nvPr/>
        </p:nvSpPr>
        <p:spPr>
          <a:xfrm>
            <a:off x="2148840" y="2240280"/>
            <a:ext cx="3749040" cy="3154680"/>
          </a:xfrm>
          <a:prstGeom prst="roundRect">
            <a:avLst>
              <a:gd name="adj" fmla="val 2319"/>
            </a:avLst>
          </a:prstGeom>
          <a:solidFill>
            <a:srgbClr val="FFFFFF"/>
          </a:solidFill>
          <a:ln w="12700">
            <a:solidFill>
              <a:srgbClr val="DDE3EA"/>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2331720" y="2350008"/>
            <a:ext cx="2743200" cy="27432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Origen de los datos</a:t>
            </a:r>
            <a:endParaRPr lang="en-US" sz="1100" dirty="0"/>
          </a:p>
        </p:txBody>
      </p:sp>
      <p:sp>
        <p:nvSpPr>
          <p:cNvPr id="11" name="Shape 9"/>
          <p:cNvSpPr/>
          <p:nvPr/>
        </p:nvSpPr>
        <p:spPr>
          <a:xfrm>
            <a:off x="2240280" y="2660904"/>
            <a:ext cx="3566160" cy="566928"/>
          </a:xfrm>
          <a:prstGeom prst="roundRect">
            <a:avLst>
              <a:gd name="adj" fmla="val 9677"/>
            </a:avLst>
          </a:prstGeom>
          <a:solidFill>
            <a:srgbClr val="E4EEF9"/>
          </a:solidFill>
          <a:ln w="12700">
            <a:solidFill>
              <a:srgbClr val="E4EEF9"/>
            </a:solidFill>
            <a:prstDash val="solid"/>
          </a:ln>
        </p:spPr>
      </p:sp>
      <p:sp>
        <p:nvSpPr>
          <p:cNvPr id="12" name="Shape 10"/>
          <p:cNvSpPr/>
          <p:nvPr/>
        </p:nvSpPr>
        <p:spPr>
          <a:xfrm>
            <a:off x="2331720" y="2734056"/>
            <a:ext cx="438912" cy="420624"/>
          </a:xfrm>
          <a:prstGeom prst="roundRect">
            <a:avLst>
              <a:gd name="adj" fmla="val 10870"/>
            </a:avLst>
          </a:prstGeom>
          <a:solidFill>
            <a:srgbClr val="EDF0F3"/>
          </a:solidFill>
          <a:ln w="12700">
            <a:solidFill>
              <a:srgbClr val="EDF0F3"/>
            </a:solidFill>
            <a:prstDash val="solid"/>
          </a:ln>
        </p:spPr>
      </p:sp>
      <p:sp>
        <p:nvSpPr>
          <p:cNvPr id="13" name="Text 11"/>
          <p:cNvSpPr txBox="1"/>
          <p:nvPr/>
        </p:nvSpPr>
        <p:spPr>
          <a:xfrm>
            <a:off x="2331720" y="2734056"/>
            <a:ext cx="438912" cy="420624"/>
          </a:xfrm>
          <a:prstGeom prst="rect">
            <a:avLst/>
          </a:prstGeom>
          <a:noFill/>
          <a:ln/>
        </p:spPr>
        <p:txBody>
          <a:bodyPr wrap="square" lIns="0" tIns="0" rIns="0" bIns="0" rtlCol="0" anchor="ctr"/>
          <a:lstStyle/>
          <a:p>
            <a:pPr algn="ctr" indent="0" marL="0">
              <a:buNone/>
            </a:pPr>
            <a:r>
              <a:rPr lang="en-US" sz="900" b="1" dirty="0">
                <a:solidFill>
                  <a:srgbClr val="5B6770"/>
                </a:solidFill>
                <a:latin typeface="Calibri" pitchFamily="34" charset="0"/>
                <a:ea typeface="Calibri" pitchFamily="34" charset="-122"/>
                <a:cs typeface="Calibri" pitchFamily="34" charset="-120"/>
              </a:rPr>
              <a:t>∑</a:t>
            </a:r>
            <a:endParaRPr lang="en-US" sz="900" dirty="0"/>
          </a:p>
        </p:txBody>
      </p:sp>
      <p:sp>
        <p:nvSpPr>
          <p:cNvPr id="14" name="Text 12"/>
          <p:cNvSpPr txBox="1"/>
          <p:nvPr/>
        </p:nvSpPr>
        <p:spPr>
          <a:xfrm>
            <a:off x="2898648" y="2715768"/>
            <a:ext cx="2743200" cy="256032"/>
          </a:xfrm>
          <a:prstGeom prst="rect">
            <a:avLst/>
          </a:prstGeom>
          <a:noFill/>
          <a:ln/>
        </p:spPr>
        <p:txBody>
          <a:bodyPr wrap="square" lIns="0" tIns="0" rIns="0" bIns="0" rtlCol="0" anchor="t"/>
          <a:lstStyle/>
          <a:p>
            <a:pPr indent="0" marL="0">
              <a:buNone/>
            </a:pPr>
            <a:r>
              <a:rPr lang="en-US" sz="1200" b="1" dirty="0">
                <a:solidFill>
                  <a:srgbClr val="1F2933"/>
                </a:solidFill>
                <a:latin typeface="Calibri" pitchFamily="34" charset="0"/>
                <a:ea typeface="Calibri" pitchFamily="34" charset="-122"/>
                <a:cs typeface="Calibri" pitchFamily="34" charset="-120"/>
              </a:rPr>
              <a:t>Todas las fuentes</a:t>
            </a:r>
            <a:endParaRPr lang="en-US" sz="1200" dirty="0"/>
          </a:p>
        </p:txBody>
      </p:sp>
      <p:sp>
        <p:nvSpPr>
          <p:cNvPr id="15" name="Text 13"/>
          <p:cNvSpPr txBox="1"/>
          <p:nvPr/>
        </p:nvSpPr>
        <p:spPr>
          <a:xfrm>
            <a:off x="2898648" y="2953512"/>
            <a:ext cx="2743200" cy="237744"/>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Barb y todos los conectores activos</a:t>
            </a:r>
            <a:endParaRPr lang="en-US" sz="1000" dirty="0"/>
          </a:p>
        </p:txBody>
      </p:sp>
      <p:sp>
        <p:nvSpPr>
          <p:cNvPr id="16" name="Shape 14"/>
          <p:cNvSpPr/>
          <p:nvPr/>
        </p:nvSpPr>
        <p:spPr>
          <a:xfrm>
            <a:off x="2331720" y="3355848"/>
            <a:ext cx="438912" cy="420624"/>
          </a:xfrm>
          <a:prstGeom prst="roundRect">
            <a:avLst>
              <a:gd name="adj" fmla="val 10870"/>
            </a:avLst>
          </a:prstGeom>
          <a:solidFill>
            <a:srgbClr val="EDF0F3"/>
          </a:solidFill>
          <a:ln w="12700">
            <a:solidFill>
              <a:srgbClr val="EDF0F3"/>
            </a:solidFill>
            <a:prstDash val="solid"/>
          </a:ln>
        </p:spPr>
      </p:sp>
      <p:sp>
        <p:nvSpPr>
          <p:cNvPr id="17" name="Text 15"/>
          <p:cNvSpPr txBox="1"/>
          <p:nvPr/>
        </p:nvSpPr>
        <p:spPr>
          <a:xfrm>
            <a:off x="2331720" y="3355848"/>
            <a:ext cx="438912" cy="420624"/>
          </a:xfrm>
          <a:prstGeom prst="rect">
            <a:avLst/>
          </a:prstGeom>
          <a:noFill/>
          <a:ln/>
        </p:spPr>
        <p:txBody>
          <a:bodyPr wrap="square" lIns="0" tIns="0" rIns="0" bIns="0" rtlCol="0" anchor="ctr"/>
          <a:lstStyle/>
          <a:p>
            <a:pPr algn="ctr" indent="0" marL="0">
              <a:buNone/>
            </a:pPr>
            <a:r>
              <a:rPr lang="en-US" sz="900" b="1" dirty="0">
                <a:solidFill>
                  <a:srgbClr val="5B6770"/>
                </a:solidFill>
                <a:latin typeface="Calibri" pitchFamily="34" charset="0"/>
                <a:ea typeface="Calibri" pitchFamily="34" charset="-122"/>
                <a:cs typeface="Calibri" pitchFamily="34" charset="-120"/>
              </a:rPr>
              <a:t>SAP</a:t>
            </a:r>
            <a:endParaRPr lang="en-US" sz="900" dirty="0"/>
          </a:p>
        </p:txBody>
      </p:sp>
      <p:sp>
        <p:nvSpPr>
          <p:cNvPr id="18" name="Shape 16"/>
          <p:cNvSpPr/>
          <p:nvPr/>
        </p:nvSpPr>
        <p:spPr>
          <a:xfrm>
            <a:off x="2679192" y="3685032"/>
            <a:ext cx="118872" cy="118872"/>
          </a:xfrm>
          <a:prstGeom prst="ellipse">
            <a:avLst/>
          </a:prstGeom>
          <a:solidFill>
            <a:srgbClr val="2F855A"/>
          </a:solidFill>
          <a:ln w="12700">
            <a:solidFill>
              <a:srgbClr val="FFFFFF"/>
            </a:solidFill>
            <a:prstDash val="solid"/>
          </a:ln>
        </p:spPr>
      </p:sp>
      <p:sp>
        <p:nvSpPr>
          <p:cNvPr id="19" name="Text 17"/>
          <p:cNvSpPr txBox="1"/>
          <p:nvPr/>
        </p:nvSpPr>
        <p:spPr>
          <a:xfrm>
            <a:off x="2898648" y="3337560"/>
            <a:ext cx="2743200" cy="256032"/>
          </a:xfrm>
          <a:prstGeom prst="rect">
            <a:avLst/>
          </a:prstGeom>
          <a:noFill/>
          <a:ln/>
        </p:spPr>
        <p:txBody>
          <a:bodyPr wrap="square" lIns="0" tIns="0" rIns="0" bIns="0" rtlCol="0" anchor="t"/>
          <a:lstStyle/>
          <a:p>
            <a:pPr indent="0" marL="0">
              <a:buNone/>
            </a:pPr>
            <a:r>
              <a:rPr lang="en-US" sz="1200" b="1" dirty="0">
                <a:solidFill>
                  <a:srgbClr val="1F2933"/>
                </a:solidFill>
                <a:latin typeface="Calibri" pitchFamily="34" charset="0"/>
                <a:ea typeface="Calibri" pitchFamily="34" charset="-122"/>
                <a:cs typeface="Calibri" pitchFamily="34" charset="-120"/>
              </a:rPr>
              <a:t>SAP PM Planta Central</a:t>
            </a:r>
            <a:endParaRPr lang="en-US" sz="1200" dirty="0"/>
          </a:p>
        </p:txBody>
      </p:sp>
      <p:sp>
        <p:nvSpPr>
          <p:cNvPr id="20" name="Text 18"/>
          <p:cNvSpPr txBox="1"/>
          <p:nvPr/>
        </p:nvSpPr>
        <p:spPr>
          <a:xfrm>
            <a:off x="2898648" y="3575304"/>
            <a:ext cx="2743200" cy="237744"/>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Sincronizado hace 25 minutos</a:t>
            </a:r>
            <a:endParaRPr lang="en-US" sz="1000" dirty="0"/>
          </a:p>
        </p:txBody>
      </p:sp>
      <p:sp>
        <p:nvSpPr>
          <p:cNvPr id="21" name="Shape 19"/>
          <p:cNvSpPr/>
          <p:nvPr/>
        </p:nvSpPr>
        <p:spPr>
          <a:xfrm>
            <a:off x="2331720" y="3977640"/>
            <a:ext cx="438912" cy="420624"/>
          </a:xfrm>
          <a:prstGeom prst="roundRect">
            <a:avLst>
              <a:gd name="adj" fmla="val 10870"/>
            </a:avLst>
          </a:prstGeom>
          <a:solidFill>
            <a:srgbClr val="EDF0F3"/>
          </a:solidFill>
          <a:ln w="12700">
            <a:solidFill>
              <a:srgbClr val="EDF0F3"/>
            </a:solidFill>
            <a:prstDash val="solid"/>
          </a:ln>
        </p:spPr>
      </p:sp>
      <p:sp>
        <p:nvSpPr>
          <p:cNvPr id="22" name="Text 20"/>
          <p:cNvSpPr txBox="1"/>
          <p:nvPr/>
        </p:nvSpPr>
        <p:spPr>
          <a:xfrm>
            <a:off x="2331720" y="3977640"/>
            <a:ext cx="438912" cy="420624"/>
          </a:xfrm>
          <a:prstGeom prst="rect">
            <a:avLst/>
          </a:prstGeom>
          <a:noFill/>
          <a:ln/>
        </p:spPr>
        <p:txBody>
          <a:bodyPr wrap="square" lIns="0" tIns="0" rIns="0" bIns="0" rtlCol="0" anchor="ctr"/>
          <a:lstStyle/>
          <a:p>
            <a:pPr algn="ctr" indent="0" marL="0">
              <a:buNone/>
            </a:pPr>
            <a:r>
              <a:rPr lang="en-US" sz="900" b="1" dirty="0">
                <a:solidFill>
                  <a:srgbClr val="5B6770"/>
                </a:solidFill>
                <a:latin typeface="Calibri" pitchFamily="34" charset="0"/>
                <a:ea typeface="Calibri" pitchFamily="34" charset="-122"/>
                <a:cs typeface="Calibri" pitchFamily="34" charset="-120"/>
              </a:rPr>
              <a:t>ORA</a:t>
            </a:r>
            <a:endParaRPr lang="en-US" sz="900" dirty="0"/>
          </a:p>
        </p:txBody>
      </p:sp>
      <p:sp>
        <p:nvSpPr>
          <p:cNvPr id="23" name="Shape 21"/>
          <p:cNvSpPr/>
          <p:nvPr/>
        </p:nvSpPr>
        <p:spPr>
          <a:xfrm>
            <a:off x="2679192" y="4306824"/>
            <a:ext cx="118872" cy="118872"/>
          </a:xfrm>
          <a:prstGeom prst="ellipse">
            <a:avLst/>
          </a:prstGeom>
          <a:solidFill>
            <a:srgbClr val="B23B3B"/>
          </a:solidFill>
          <a:ln w="12700">
            <a:solidFill>
              <a:srgbClr val="FFFFFF"/>
            </a:solidFill>
            <a:prstDash val="solid"/>
          </a:ln>
        </p:spPr>
      </p:sp>
      <p:sp>
        <p:nvSpPr>
          <p:cNvPr id="24" name="Text 22"/>
          <p:cNvSpPr txBox="1"/>
          <p:nvPr/>
        </p:nvSpPr>
        <p:spPr>
          <a:xfrm>
            <a:off x="2898648" y="3959352"/>
            <a:ext cx="2743200" cy="256032"/>
          </a:xfrm>
          <a:prstGeom prst="rect">
            <a:avLst/>
          </a:prstGeom>
          <a:noFill/>
          <a:ln/>
        </p:spPr>
        <p:txBody>
          <a:bodyPr wrap="square" lIns="0" tIns="0" rIns="0" bIns="0" rtlCol="0" anchor="t"/>
          <a:lstStyle/>
          <a:p>
            <a:pPr indent="0" marL="0">
              <a:buNone/>
            </a:pPr>
            <a:r>
              <a:rPr lang="en-US" sz="1200" b="1" dirty="0">
                <a:solidFill>
                  <a:srgbClr val="1F2933"/>
                </a:solidFill>
                <a:latin typeface="Calibri" pitchFamily="34" charset="0"/>
                <a:ea typeface="Calibri" pitchFamily="34" charset="-122"/>
                <a:cs typeface="Calibri" pitchFamily="34" charset="-120"/>
              </a:rPr>
              <a:t>Oracle EAM Antofagasta</a:t>
            </a:r>
            <a:endParaRPr lang="en-US" sz="1200" dirty="0"/>
          </a:p>
        </p:txBody>
      </p:sp>
      <p:sp>
        <p:nvSpPr>
          <p:cNvPr id="25" name="Text 23"/>
          <p:cNvSpPr txBox="1"/>
          <p:nvPr/>
        </p:nvSpPr>
        <p:spPr>
          <a:xfrm>
            <a:off x="2898648" y="4197096"/>
            <a:ext cx="2743200" cy="237744"/>
          </a:xfrm>
          <a:prstGeom prst="rect">
            <a:avLst/>
          </a:prstGeom>
          <a:noFill/>
          <a:ln/>
        </p:spPr>
        <p:txBody>
          <a:bodyPr wrap="square" lIns="0" tIns="0" rIns="0" bIns="0" rtlCol="0" anchor="t"/>
          <a:lstStyle/>
          <a:p>
            <a:pPr indent="0" marL="0">
              <a:buNone/>
            </a:pPr>
            <a:r>
              <a:rPr lang="en-US" sz="1000" dirty="0">
                <a:solidFill>
                  <a:srgbClr val="B23B3B"/>
                </a:solidFill>
                <a:latin typeface="Calibri" pitchFamily="34" charset="0"/>
                <a:ea typeface="Calibri" pitchFamily="34" charset="-122"/>
                <a:cs typeface="Calibri" pitchFamily="34" charset="-120"/>
              </a:rPr>
              <a:t>Credenciales rechazadas (401)</a:t>
            </a:r>
            <a:endParaRPr lang="en-US" sz="1000" dirty="0"/>
          </a:p>
        </p:txBody>
      </p:sp>
      <p:sp>
        <p:nvSpPr>
          <p:cNvPr id="26" name="Shape 24"/>
          <p:cNvSpPr/>
          <p:nvPr/>
        </p:nvSpPr>
        <p:spPr>
          <a:xfrm>
            <a:off x="2331720" y="4599432"/>
            <a:ext cx="438912" cy="420624"/>
          </a:xfrm>
          <a:prstGeom prst="roundRect">
            <a:avLst>
              <a:gd name="adj" fmla="val 10870"/>
            </a:avLst>
          </a:prstGeom>
          <a:solidFill>
            <a:srgbClr val="EDF0F3"/>
          </a:solidFill>
          <a:ln w="12700">
            <a:solidFill>
              <a:srgbClr val="EDF0F3"/>
            </a:solidFill>
            <a:prstDash val="solid"/>
          </a:ln>
        </p:spPr>
      </p:sp>
      <p:sp>
        <p:nvSpPr>
          <p:cNvPr id="27" name="Text 25"/>
          <p:cNvSpPr txBox="1"/>
          <p:nvPr/>
        </p:nvSpPr>
        <p:spPr>
          <a:xfrm>
            <a:off x="2331720" y="4599432"/>
            <a:ext cx="438912" cy="420624"/>
          </a:xfrm>
          <a:prstGeom prst="rect">
            <a:avLst/>
          </a:prstGeom>
          <a:noFill/>
          <a:ln/>
        </p:spPr>
        <p:txBody>
          <a:bodyPr wrap="square" lIns="0" tIns="0" rIns="0" bIns="0" rtlCol="0" anchor="ctr"/>
          <a:lstStyle/>
          <a:p>
            <a:pPr algn="ctr" indent="0" marL="0">
              <a:buNone/>
            </a:pPr>
            <a:r>
              <a:rPr lang="en-US" sz="900" b="1" dirty="0">
                <a:solidFill>
                  <a:srgbClr val="5B6770"/>
                </a:solidFill>
                <a:latin typeface="Calibri" pitchFamily="34" charset="0"/>
                <a:ea typeface="Calibri" pitchFamily="34" charset="-122"/>
                <a:cs typeface="Calibri" pitchFamily="34" charset="-120"/>
              </a:rPr>
              <a:t>CSV</a:t>
            </a:r>
            <a:endParaRPr lang="en-US" sz="900" dirty="0"/>
          </a:p>
        </p:txBody>
      </p:sp>
      <p:sp>
        <p:nvSpPr>
          <p:cNvPr id="28" name="Shape 26"/>
          <p:cNvSpPr/>
          <p:nvPr/>
        </p:nvSpPr>
        <p:spPr>
          <a:xfrm>
            <a:off x="2679192" y="4928616"/>
            <a:ext cx="118872" cy="118872"/>
          </a:xfrm>
          <a:prstGeom prst="ellipse">
            <a:avLst/>
          </a:prstGeom>
          <a:solidFill>
            <a:srgbClr val="8A96A3"/>
          </a:solidFill>
          <a:ln w="12700">
            <a:solidFill>
              <a:srgbClr val="FFFFFF"/>
            </a:solidFill>
            <a:prstDash val="solid"/>
          </a:ln>
        </p:spPr>
      </p:sp>
      <p:sp>
        <p:nvSpPr>
          <p:cNvPr id="29" name="Text 27"/>
          <p:cNvSpPr txBox="1"/>
          <p:nvPr/>
        </p:nvSpPr>
        <p:spPr>
          <a:xfrm>
            <a:off x="2898648" y="4581144"/>
            <a:ext cx="2743200" cy="256032"/>
          </a:xfrm>
          <a:prstGeom prst="rect">
            <a:avLst/>
          </a:prstGeom>
          <a:noFill/>
          <a:ln/>
        </p:spPr>
        <p:txBody>
          <a:bodyPr wrap="square" lIns="0" tIns="0" rIns="0" bIns="0" rtlCol="0" anchor="t"/>
          <a:lstStyle/>
          <a:p>
            <a:pPr indent="0" marL="0">
              <a:buNone/>
            </a:pPr>
            <a:r>
              <a:rPr lang="en-US" sz="1200" b="1" dirty="0">
                <a:solidFill>
                  <a:srgbClr val="1F2933"/>
                </a:solidFill>
                <a:latin typeface="Calibri" pitchFamily="34" charset="0"/>
                <a:ea typeface="Calibri" pitchFamily="34" charset="-122"/>
                <a:cs typeface="Calibri" pitchFamily="34" charset="-120"/>
              </a:rPr>
              <a:t>Histórico CSV 2020-2025</a:t>
            </a:r>
            <a:endParaRPr lang="en-US" sz="1200" dirty="0"/>
          </a:p>
        </p:txBody>
      </p:sp>
      <p:sp>
        <p:nvSpPr>
          <p:cNvPr id="30" name="Text 28"/>
          <p:cNvSpPr txBox="1"/>
          <p:nvPr/>
        </p:nvSpPr>
        <p:spPr>
          <a:xfrm>
            <a:off x="2898648" y="4818888"/>
            <a:ext cx="2743200" cy="237744"/>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Pausado</a:t>
            </a:r>
            <a:endParaRPr lang="en-US" sz="1000" dirty="0"/>
          </a:p>
        </p:txBody>
      </p:sp>
      <p:sp>
        <p:nvSpPr>
          <p:cNvPr id="31" name="Text 29"/>
          <p:cNvSpPr txBox="1"/>
          <p:nvPr/>
        </p:nvSpPr>
        <p:spPr>
          <a:xfrm>
            <a:off x="2331720" y="5056632"/>
            <a:ext cx="2743200" cy="274320"/>
          </a:xfrm>
          <a:prstGeom prst="rect">
            <a:avLst/>
          </a:prstGeom>
          <a:noFill/>
          <a:ln/>
        </p:spPr>
        <p:txBody>
          <a:bodyPr wrap="square" lIns="0" tIns="0" rIns="0" bIns="0" rtlCol="0" anchor="t"/>
          <a:lstStyle/>
          <a:p>
            <a:pPr indent="0" marL="0">
              <a:buNone/>
            </a:pPr>
            <a:r>
              <a:rPr lang="en-US" sz="1100" b="1" dirty="0">
                <a:solidFill>
                  <a:srgbClr val="2B6CB0"/>
                </a:solidFill>
                <a:latin typeface="Calibri" pitchFamily="34" charset="0"/>
                <a:ea typeface="Calibri" pitchFamily="34" charset="-122"/>
                <a:cs typeface="Calibri" pitchFamily="34" charset="-120"/>
              </a:rPr>
              <a:t>Gestionar conectores</a:t>
            </a:r>
            <a:endParaRPr lang="en-US" sz="1100" dirty="0"/>
          </a:p>
        </p:txBody>
      </p:sp>
      <p:sp>
        <p:nvSpPr>
          <p:cNvPr id="32" name="Shape 30"/>
          <p:cNvSpPr/>
          <p:nvPr/>
        </p:nvSpPr>
        <p:spPr>
          <a:xfrm>
            <a:off x="3611880" y="5532120"/>
            <a:ext cx="2286000" cy="411480"/>
          </a:xfrm>
          <a:prstGeom prst="roundRect">
            <a:avLst>
              <a:gd name="adj" fmla="val 48889"/>
            </a:avLst>
          </a:prstGeom>
          <a:solidFill>
            <a:srgbClr val="FFFFFF"/>
          </a:solidFill>
          <a:ln w="12700">
            <a:solidFill>
              <a:srgbClr val="DDE3EA"/>
            </a:solidFill>
            <a:prstDash val="solid"/>
          </a:ln>
        </p:spPr>
      </p:sp>
      <p:sp>
        <p:nvSpPr>
          <p:cNvPr id="33" name="Shape 31"/>
          <p:cNvSpPr/>
          <p:nvPr/>
        </p:nvSpPr>
        <p:spPr>
          <a:xfrm>
            <a:off x="3767328" y="5687568"/>
            <a:ext cx="109728" cy="109728"/>
          </a:xfrm>
          <a:prstGeom prst="ellipse">
            <a:avLst/>
          </a:prstGeom>
          <a:solidFill>
            <a:srgbClr val="2B6CB0"/>
          </a:solidFill>
          <a:ln w="12700">
            <a:solidFill>
              <a:srgbClr val="2B6CB0"/>
            </a:solidFill>
            <a:prstDash val="solid"/>
          </a:ln>
        </p:spPr>
      </p:sp>
      <p:sp>
        <p:nvSpPr>
          <p:cNvPr id="34" name="Text 32"/>
          <p:cNvSpPr txBox="1"/>
          <p:nvPr/>
        </p:nvSpPr>
        <p:spPr>
          <a:xfrm>
            <a:off x="3977640" y="5532120"/>
            <a:ext cx="1828800"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Todas las fuentes  ▾</a:t>
            </a:r>
            <a:endParaRPr lang="en-US" sz="1200" dirty="0"/>
          </a:p>
        </p:txBody>
      </p:sp>
      <p:sp>
        <p:nvSpPr>
          <p:cNvPr id="35" name="Shape 33"/>
          <p:cNvSpPr/>
          <p:nvPr/>
        </p:nvSpPr>
        <p:spPr>
          <a:xfrm>
            <a:off x="6355080" y="1691640"/>
            <a:ext cx="5303520" cy="4480560"/>
          </a:xfrm>
          <a:prstGeom prst="roundRect">
            <a:avLst>
              <a:gd name="adj" fmla="val 1633"/>
            </a:avLst>
          </a:prstGeom>
          <a:solidFill>
            <a:srgbClr val="FFFFFF"/>
          </a:solidFill>
          <a:ln w="12700">
            <a:solidFill>
              <a:srgbClr val="DDE3EA"/>
            </a:solidFill>
            <a:prstDash val="solid"/>
          </a:ln>
        </p:spPr>
      </p:sp>
      <p:sp>
        <p:nvSpPr>
          <p:cNvPr id="36" name="Text 34"/>
          <p:cNvSpPr txBox="1"/>
          <p:nvPr/>
        </p:nvSpPr>
        <p:spPr>
          <a:xfrm>
            <a:off x="6629400" y="1874520"/>
            <a:ext cx="4754880" cy="411480"/>
          </a:xfrm>
          <a:prstGeom prst="rect">
            <a:avLst/>
          </a:prstGeom>
          <a:noFill/>
          <a:ln/>
        </p:spPr>
        <p:txBody>
          <a:bodyPr wrap="square" lIns="0" tIns="0" rIns="0" bIns="0" rtlCol="0" anchor="t"/>
          <a:lstStyle/>
          <a:p>
            <a:pPr indent="0" marL="0">
              <a:buNone/>
            </a:pPr>
            <a:r>
              <a:rPr lang="en-US" sz="1900" b="1" dirty="0">
                <a:solidFill>
                  <a:srgbClr val="1F2933"/>
                </a:solidFill>
                <a:latin typeface="Calibri" pitchFamily="34" charset="0"/>
                <a:ea typeface="Calibri" pitchFamily="34" charset="-122"/>
                <a:cs typeface="Calibri" pitchFamily="34" charset="-120"/>
              </a:rPr>
              <a:t>Qué se demuestra</a:t>
            </a:r>
            <a:endParaRPr lang="en-US" sz="1900" dirty="0"/>
          </a:p>
        </p:txBody>
      </p:sp>
      <p:sp>
        <p:nvSpPr>
          <p:cNvPr id="37" name="Shape 35"/>
          <p:cNvSpPr/>
          <p:nvPr/>
        </p:nvSpPr>
        <p:spPr>
          <a:xfrm>
            <a:off x="6629400" y="2468880"/>
            <a:ext cx="384048" cy="384048"/>
          </a:xfrm>
          <a:prstGeom prst="ellipse">
            <a:avLst/>
          </a:prstGeom>
          <a:solidFill>
            <a:srgbClr val="E69B00"/>
          </a:solidFill>
          <a:ln w="12700">
            <a:solidFill>
              <a:srgbClr val="E69B00"/>
            </a:solidFill>
            <a:prstDash val="solid"/>
          </a:ln>
        </p:spPr>
      </p:sp>
      <p:sp>
        <p:nvSpPr>
          <p:cNvPr id="38" name="Text 36"/>
          <p:cNvSpPr txBox="1"/>
          <p:nvPr/>
        </p:nvSpPr>
        <p:spPr>
          <a:xfrm>
            <a:off x="6629400" y="2468880"/>
            <a:ext cx="384048" cy="384048"/>
          </a:xfrm>
          <a:prstGeom prst="rect">
            <a:avLst/>
          </a:prstGeom>
          <a:noFill/>
          <a:ln/>
        </p:spPr>
        <p:txBody>
          <a:bodyPr wrap="square" lIns="0" tIns="0" rIns="0" bIns="0" rtlCol="0" anchor="ctr"/>
          <a:lstStyle/>
          <a:p>
            <a:pPr algn="ctr" indent="0" marL="0">
              <a:buNone/>
            </a:pPr>
            <a:r>
              <a:rPr lang="en-US" sz="1300" b="1" dirty="0">
                <a:solidFill>
                  <a:srgbClr val="17212B"/>
                </a:solidFill>
                <a:latin typeface="Calibri" pitchFamily="34" charset="0"/>
                <a:ea typeface="Calibri" pitchFamily="34" charset="-122"/>
                <a:cs typeface="Calibri" pitchFamily="34" charset="-120"/>
              </a:rPr>
              <a:t>1</a:t>
            </a:r>
            <a:endParaRPr lang="en-US" sz="1300" dirty="0"/>
          </a:p>
        </p:txBody>
      </p:sp>
      <p:sp>
        <p:nvSpPr>
          <p:cNvPr id="39" name="Text 37"/>
          <p:cNvSpPr txBox="1"/>
          <p:nvPr/>
        </p:nvSpPr>
        <p:spPr>
          <a:xfrm>
            <a:off x="7178040" y="2423160"/>
            <a:ext cx="4297680" cy="73152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Migración aditiva: </a:t>
            </a:r>
            <a:pPr indent="0" marL="0">
              <a:buNone/>
            </a:pPr>
            <a:r>
              <a:rPr lang="en-US" sz="1300" dirty="0">
                <a:solidFill>
                  <a:srgbClr val="1F2933"/>
                </a:solidFill>
                <a:latin typeface="Calibri" pitchFamily="34" charset="0"/>
                <a:ea typeface="Calibri" pitchFamily="34" charset="-122"/>
                <a:cs typeface="Calibri" pitchFamily="34" charset="-120"/>
              </a:rPr>
              <a:t>se ejecuta dos veces sobre el esquema real sin errores ni duplicados.</a:t>
            </a:r>
            <a:endParaRPr lang="en-US" sz="1300" dirty="0"/>
          </a:p>
        </p:txBody>
      </p:sp>
      <p:sp>
        <p:nvSpPr>
          <p:cNvPr id="40" name="Shape 38"/>
          <p:cNvSpPr/>
          <p:nvPr/>
        </p:nvSpPr>
        <p:spPr>
          <a:xfrm>
            <a:off x="6629400" y="3246120"/>
            <a:ext cx="384048" cy="384048"/>
          </a:xfrm>
          <a:prstGeom prst="ellipse">
            <a:avLst/>
          </a:prstGeom>
          <a:solidFill>
            <a:srgbClr val="E69B00"/>
          </a:solidFill>
          <a:ln w="12700">
            <a:solidFill>
              <a:srgbClr val="E69B00"/>
            </a:solidFill>
            <a:prstDash val="solid"/>
          </a:ln>
        </p:spPr>
      </p:sp>
      <p:sp>
        <p:nvSpPr>
          <p:cNvPr id="41" name="Text 39"/>
          <p:cNvSpPr txBox="1"/>
          <p:nvPr/>
        </p:nvSpPr>
        <p:spPr>
          <a:xfrm>
            <a:off x="6629400" y="3246120"/>
            <a:ext cx="384048" cy="384048"/>
          </a:xfrm>
          <a:prstGeom prst="rect">
            <a:avLst/>
          </a:prstGeom>
          <a:noFill/>
          <a:ln/>
        </p:spPr>
        <p:txBody>
          <a:bodyPr wrap="square" lIns="0" tIns="0" rIns="0" bIns="0" rtlCol="0" anchor="ctr"/>
          <a:lstStyle/>
          <a:p>
            <a:pPr algn="ctr" indent="0" marL="0">
              <a:buNone/>
            </a:pPr>
            <a:r>
              <a:rPr lang="en-US" sz="1300" b="1" dirty="0">
                <a:solidFill>
                  <a:srgbClr val="17212B"/>
                </a:solidFill>
                <a:latin typeface="Calibri" pitchFamily="34" charset="0"/>
                <a:ea typeface="Calibri" pitchFamily="34" charset="-122"/>
                <a:cs typeface="Calibri" pitchFamily="34" charset="-120"/>
              </a:rPr>
              <a:t>2</a:t>
            </a:r>
            <a:endParaRPr lang="en-US" sz="1300" dirty="0"/>
          </a:p>
        </p:txBody>
      </p:sp>
      <p:sp>
        <p:nvSpPr>
          <p:cNvPr id="42" name="Text 40"/>
          <p:cNvSpPr txBox="1"/>
          <p:nvPr/>
        </p:nvSpPr>
        <p:spPr>
          <a:xfrm>
            <a:off x="7178040" y="3200400"/>
            <a:ext cx="4297680" cy="73152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Selector por rol: </a:t>
            </a:r>
            <a:pPr indent="0" marL="0">
              <a:buNone/>
            </a:pPr>
            <a:r>
              <a:rPr lang="en-US" sz="1300" dirty="0">
                <a:solidFill>
                  <a:srgbClr val="1F2933"/>
                </a:solidFill>
                <a:latin typeface="Calibri" pitchFamily="34" charset="0"/>
                <a:ea typeface="Calibri" pitchFamily="34" charset="-122"/>
                <a:cs typeface="Calibri" pitchFamily="34" charset="-120"/>
              </a:rPr>
              <a:t>cada usuario elige el origen de los datos; solo el administrador ve “Gestionar conectores”.</a:t>
            </a:r>
            <a:endParaRPr lang="en-US" sz="1300" dirty="0"/>
          </a:p>
        </p:txBody>
      </p:sp>
      <p:sp>
        <p:nvSpPr>
          <p:cNvPr id="43" name="Shape 41"/>
          <p:cNvSpPr/>
          <p:nvPr/>
        </p:nvSpPr>
        <p:spPr>
          <a:xfrm>
            <a:off x="6629400" y="4023360"/>
            <a:ext cx="384048" cy="384048"/>
          </a:xfrm>
          <a:prstGeom prst="ellipse">
            <a:avLst/>
          </a:prstGeom>
          <a:solidFill>
            <a:srgbClr val="E69B00"/>
          </a:solidFill>
          <a:ln w="12700">
            <a:solidFill>
              <a:srgbClr val="E69B00"/>
            </a:solidFill>
            <a:prstDash val="solid"/>
          </a:ln>
        </p:spPr>
      </p:sp>
      <p:sp>
        <p:nvSpPr>
          <p:cNvPr id="44" name="Text 42"/>
          <p:cNvSpPr txBox="1"/>
          <p:nvPr/>
        </p:nvSpPr>
        <p:spPr>
          <a:xfrm>
            <a:off x="6629400" y="4023360"/>
            <a:ext cx="384048" cy="384048"/>
          </a:xfrm>
          <a:prstGeom prst="rect">
            <a:avLst/>
          </a:prstGeom>
          <a:noFill/>
          <a:ln/>
        </p:spPr>
        <p:txBody>
          <a:bodyPr wrap="square" lIns="0" tIns="0" rIns="0" bIns="0" rtlCol="0" anchor="ctr"/>
          <a:lstStyle/>
          <a:p>
            <a:pPr algn="ctr" indent="0" marL="0">
              <a:buNone/>
            </a:pPr>
            <a:r>
              <a:rPr lang="en-US" sz="1300" b="1" dirty="0">
                <a:solidFill>
                  <a:srgbClr val="17212B"/>
                </a:solidFill>
                <a:latin typeface="Calibri" pitchFamily="34" charset="0"/>
                <a:ea typeface="Calibri" pitchFamily="34" charset="-122"/>
                <a:cs typeface="Calibri" pitchFamily="34" charset="-120"/>
              </a:rPr>
              <a:t>3</a:t>
            </a:r>
            <a:endParaRPr lang="en-US" sz="1300" dirty="0"/>
          </a:p>
        </p:txBody>
      </p:sp>
      <p:sp>
        <p:nvSpPr>
          <p:cNvPr id="45" name="Text 43"/>
          <p:cNvSpPr txBox="1"/>
          <p:nvPr/>
        </p:nvSpPr>
        <p:spPr>
          <a:xfrm>
            <a:off x="7178040" y="3977640"/>
            <a:ext cx="4297680" cy="73152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Estados del conector: </a:t>
            </a:r>
            <a:pPr indent="0" marL="0">
              <a:buNone/>
            </a:pPr>
            <a:r>
              <a:rPr lang="en-US" sz="1300" dirty="0">
                <a:solidFill>
                  <a:srgbClr val="1F2933"/>
                </a:solidFill>
                <a:latin typeface="Calibri" pitchFamily="34" charset="0"/>
                <a:ea typeface="Calibri" pitchFamily="34" charset="-122"/>
                <a:cs typeface="Calibri" pitchFamily="34" charset="-120"/>
              </a:rPr>
              <a:t>activo, con error y pausado, con su última sincronización.</a:t>
            </a:r>
            <a:endParaRPr lang="en-US" sz="1300" dirty="0"/>
          </a:p>
        </p:txBody>
      </p:sp>
      <p:sp>
        <p:nvSpPr>
          <p:cNvPr id="46" name="Shape 44"/>
          <p:cNvSpPr/>
          <p:nvPr/>
        </p:nvSpPr>
        <p:spPr>
          <a:xfrm>
            <a:off x="6629400" y="4800600"/>
            <a:ext cx="384048" cy="384048"/>
          </a:xfrm>
          <a:prstGeom prst="ellipse">
            <a:avLst/>
          </a:prstGeom>
          <a:solidFill>
            <a:srgbClr val="E69B00"/>
          </a:solidFill>
          <a:ln w="12700">
            <a:solidFill>
              <a:srgbClr val="E69B00"/>
            </a:solidFill>
            <a:prstDash val="solid"/>
          </a:ln>
        </p:spPr>
      </p:sp>
      <p:sp>
        <p:nvSpPr>
          <p:cNvPr id="47" name="Text 45"/>
          <p:cNvSpPr txBox="1"/>
          <p:nvPr/>
        </p:nvSpPr>
        <p:spPr>
          <a:xfrm>
            <a:off x="6629400" y="4800600"/>
            <a:ext cx="384048" cy="384048"/>
          </a:xfrm>
          <a:prstGeom prst="rect">
            <a:avLst/>
          </a:prstGeom>
          <a:noFill/>
          <a:ln/>
        </p:spPr>
        <p:txBody>
          <a:bodyPr wrap="square" lIns="0" tIns="0" rIns="0" bIns="0" rtlCol="0" anchor="ctr"/>
          <a:lstStyle/>
          <a:p>
            <a:pPr algn="ctr" indent="0" marL="0">
              <a:buNone/>
            </a:pPr>
            <a:r>
              <a:rPr lang="en-US" sz="1300" b="1" dirty="0">
                <a:solidFill>
                  <a:srgbClr val="17212B"/>
                </a:solidFill>
                <a:latin typeface="Calibri" pitchFamily="34" charset="0"/>
                <a:ea typeface="Calibri" pitchFamily="34" charset="-122"/>
                <a:cs typeface="Calibri" pitchFamily="34" charset="-120"/>
              </a:rPr>
              <a:t>4</a:t>
            </a:r>
            <a:endParaRPr lang="en-US" sz="1300" dirty="0"/>
          </a:p>
        </p:txBody>
      </p:sp>
      <p:sp>
        <p:nvSpPr>
          <p:cNvPr id="48" name="Text 46"/>
          <p:cNvSpPr txBox="1"/>
          <p:nvPr/>
        </p:nvSpPr>
        <p:spPr>
          <a:xfrm>
            <a:off x="7178040" y="4754880"/>
            <a:ext cx="4297680" cy="73152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Fallas consolidadas: </a:t>
            </a:r>
            <a:pPr indent="0" marL="0">
              <a:buNone/>
            </a:pPr>
            <a:r>
              <a:rPr lang="en-US" sz="1300" dirty="0">
                <a:solidFill>
                  <a:srgbClr val="1F2933"/>
                </a:solidFill>
                <a:latin typeface="Calibri" pitchFamily="34" charset="0"/>
                <a:ea typeface="Calibri" pitchFamily="34" charset="-122"/>
                <a:cs typeface="Calibri" pitchFamily="34" charset="-120"/>
              </a:rPr>
              <a:t>consulta de EVENTO_FALLA con su origen y tiempo de detención.</a:t>
            </a:r>
            <a:endParaRPr lang="en-US" sz="1300" dirty="0"/>
          </a:p>
        </p:txBody>
      </p:sp>
      <p:sp>
        <p:nvSpPr>
          <p:cNvPr id="49" name="Text 47"/>
          <p:cNvSpPr txBox="1"/>
          <p:nvPr/>
        </p:nvSpPr>
        <p:spPr>
          <a:xfrm>
            <a:off x="6629400" y="5623560"/>
            <a:ext cx="4846320" cy="365760"/>
          </a:xfrm>
          <a:prstGeom prst="rect">
            <a:avLst/>
          </a:prstGeom>
          <a:noFill/>
          <a:ln/>
        </p:spPr>
        <p:txBody>
          <a:bodyPr wrap="square" lIns="0" tIns="0" rIns="0" bIns="0" rtlCol="0" anchor="t"/>
          <a:lstStyle/>
          <a:p>
            <a:pPr indent="0" marL="0">
              <a:buNone/>
            </a:pPr>
            <a:r>
              <a:rPr lang="en-US" sz="1300" b="1" dirty="0">
                <a:solidFill>
                  <a:srgbClr val="5B6770"/>
                </a:solidFill>
                <a:latin typeface="Calibri" pitchFamily="34" charset="0"/>
                <a:ea typeface="Calibri" pitchFamily="34" charset="-122"/>
                <a:cs typeface="Calibri" pitchFamily="34" charset="-120"/>
              </a:rPr>
              <a:t>Enlace a la demo: </a:t>
            </a:r>
            <a:pPr indent="0" marL="0">
              <a:buNone/>
            </a:pPr>
            <a:r>
              <a:rPr lang="en-US" sz="1300" dirty="0">
                <a:solidFill>
                  <a:srgbClr val="5B6770"/>
                </a:solidFill>
                <a:latin typeface="Calibri" pitchFamily="34" charset="0"/>
                <a:ea typeface="Calibri" pitchFamily="34" charset="-122"/>
                <a:cs typeface="Calibri" pitchFamily="34" charset="-120"/>
              </a:rPr>
              <a:t>[agregar URL del despliegue]</a:t>
            </a:r>
            <a:endParaRPr lang="en-US" sz="1300" dirty="0"/>
          </a:p>
        </p:txBody>
      </p:sp>
      <p:sp>
        <p:nvSpPr>
          <p:cNvPr id="50" name="Text 48"/>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51" name="Text 49"/>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15 / 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VISIÓN A MEDIANO PLAZO</a:t>
            </a:r>
            <a:endParaRPr lang="en-US" sz="1100" dirty="0"/>
          </a:p>
        </p:txBody>
      </p:sp>
      <p:sp>
        <p:nvSpPr>
          <p:cNvPr id="3" name="Text 1"/>
          <p:cNvSpPr txBox="1"/>
          <p:nvPr/>
        </p:nvSpPr>
        <p:spPr>
          <a:xfrm>
            <a:off x="548640" y="594360"/>
            <a:ext cx="9692640" cy="54864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Mejoras futuras</a:t>
            </a:r>
            <a:endParaRPr lang="en-US" sz="2800" dirty="0"/>
          </a:p>
        </p:txBody>
      </p:sp>
      <p:sp>
        <p:nvSpPr>
          <p:cNvPr id="4" name="Text 2"/>
          <p:cNvSpPr txBox="1"/>
          <p:nvPr/>
        </p:nvSpPr>
        <p:spPr>
          <a:xfrm>
            <a:off x="548640" y="1143000"/>
            <a:ext cx="10515600" cy="3657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Lo que habilita la base construida en este proyecto</a:t>
            </a:r>
            <a:endParaRPr lang="en-US" sz="1400" dirty="0"/>
          </a:p>
        </p:txBody>
      </p:sp>
      <p:sp>
        <p:nvSpPr>
          <p:cNvPr id="5" name="Shape 3"/>
          <p:cNvSpPr/>
          <p:nvPr/>
        </p:nvSpPr>
        <p:spPr>
          <a:xfrm>
            <a:off x="10561320" y="347472"/>
            <a:ext cx="1097280" cy="365760"/>
          </a:xfrm>
          <a:prstGeom prst="roundRect">
            <a:avLst>
              <a:gd name="adj" fmla="val 50000"/>
            </a:avLst>
          </a:prstGeom>
          <a:solidFill>
            <a:srgbClr val="17212B"/>
          </a:solidFill>
          <a:ln w="12700">
            <a:solidFill>
              <a:srgbClr val="17212B"/>
            </a:solidFill>
            <a:prstDash val="solid"/>
          </a:ln>
        </p:spPr>
      </p:sp>
      <p:sp>
        <p:nvSpPr>
          <p:cNvPr id="6" name="Text 4"/>
          <p:cNvSpPr txBox="1"/>
          <p:nvPr/>
        </p:nvSpPr>
        <p:spPr>
          <a:xfrm>
            <a:off x="10561320" y="347472"/>
            <a:ext cx="1097280" cy="365760"/>
          </a:xfrm>
          <a:prstGeom prst="rect">
            <a:avLst/>
          </a:prstGeom>
          <a:noFill/>
          <a:ln/>
        </p:spPr>
        <p:txBody>
          <a:bodyPr wrap="square" lIns="0" tIns="0" rIns="0" bIns="0" rtlCol="0" anchor="ctr"/>
          <a:lstStyle/>
          <a:p>
            <a:pPr algn="ctr" indent="0" marL="0">
              <a:buNone/>
            </a:pPr>
            <a:r>
              <a:rPr lang="en-US" sz="1200" b="1" spc="300" kern="0" dirty="0">
                <a:solidFill>
                  <a:srgbClr val="E69B00"/>
                </a:solidFill>
                <a:latin typeface="Calibri" pitchFamily="34" charset="0"/>
                <a:ea typeface="Calibri" pitchFamily="34" charset="-122"/>
                <a:cs typeface="Calibri" pitchFamily="34" charset="-120"/>
              </a:rPr>
              <a:t>BARB</a:t>
            </a:r>
            <a:endParaRPr lang="en-US" sz="1200" dirty="0"/>
          </a:p>
        </p:txBody>
      </p:sp>
      <p:sp>
        <p:nvSpPr>
          <p:cNvPr id="7" name="Shape 5"/>
          <p:cNvSpPr/>
          <p:nvPr/>
        </p:nvSpPr>
        <p:spPr>
          <a:xfrm>
            <a:off x="914400" y="2743200"/>
            <a:ext cx="10424160" cy="0"/>
          </a:xfrm>
          <a:prstGeom prst="line">
            <a:avLst/>
          </a:prstGeom>
          <a:noFill/>
          <a:ln w="25400">
            <a:solidFill>
              <a:srgbClr val="DDE3EA"/>
            </a:solidFill>
            <a:prstDash val="solid"/>
          </a:ln>
        </p:spPr>
      </p:sp>
      <p:sp>
        <p:nvSpPr>
          <p:cNvPr id="8" name="Shape 6"/>
          <p:cNvSpPr/>
          <p:nvPr/>
        </p:nvSpPr>
        <p:spPr>
          <a:xfrm>
            <a:off x="1517904" y="2377440"/>
            <a:ext cx="731520" cy="731520"/>
          </a:xfrm>
          <a:prstGeom prst="ellipse">
            <a:avLst/>
          </a:prstGeom>
          <a:solidFill>
            <a:srgbClr val="17212B"/>
          </a:solidFill>
          <a:ln w="12700">
            <a:solidFill>
              <a:srgbClr val="17212B"/>
            </a:solidFill>
            <a:prstDash val="solid"/>
          </a:ln>
        </p:spPr>
      </p:sp>
      <p:pic>
        <p:nvPicPr>
          <p:cNvPr id="9" name="Image 0" descr="preencoded.png">    </p:cNvPr>
          <p:cNvPicPr>
            <a:picLocks noChangeAspect="1"/>
          </p:cNvPicPr>
          <p:nvPr/>
        </p:nvPicPr>
        <p:blipFill>
          <a:blip r:embed="rId1"/>
          <a:stretch>
            <a:fillRect/>
          </a:stretch>
        </p:blipFill>
        <p:spPr>
          <a:xfrm>
            <a:off x="1678838" y="2538374"/>
            <a:ext cx="409651" cy="409651"/>
          </a:xfrm>
          <a:prstGeom prst="rect">
            <a:avLst/>
          </a:prstGeom>
        </p:spPr>
      </p:pic>
      <p:sp>
        <p:nvSpPr>
          <p:cNvPr id="10" name="Shape 7"/>
          <p:cNvSpPr/>
          <p:nvPr/>
        </p:nvSpPr>
        <p:spPr>
          <a:xfrm>
            <a:off x="548640" y="3429000"/>
            <a:ext cx="2679192" cy="2743200"/>
          </a:xfrm>
          <a:prstGeom prst="roundRect">
            <a:avLst>
              <a:gd name="adj" fmla="val 2730"/>
            </a:avLst>
          </a:prstGeom>
          <a:solidFill>
            <a:srgbClr val="FFFFFF"/>
          </a:solidFill>
          <a:ln w="12700">
            <a:solidFill>
              <a:srgbClr val="DDE3EA"/>
            </a:solidFill>
            <a:prstDash val="solid"/>
          </a:ln>
        </p:spPr>
      </p:sp>
      <p:sp>
        <p:nvSpPr>
          <p:cNvPr id="11" name="Text 8"/>
          <p:cNvSpPr txBox="1"/>
          <p:nvPr/>
        </p:nvSpPr>
        <p:spPr>
          <a:xfrm>
            <a:off x="777240" y="3611880"/>
            <a:ext cx="2240280" cy="68580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Conectores productivos</a:t>
            </a:r>
            <a:endParaRPr lang="en-US" sz="1700" dirty="0"/>
          </a:p>
        </p:txBody>
      </p:sp>
      <p:sp>
        <p:nvSpPr>
          <p:cNvPr id="12" name="Text 9"/>
          <p:cNvSpPr txBox="1"/>
          <p:nvPr/>
        </p:nvSpPr>
        <p:spPr>
          <a:xfrm>
            <a:off x="777240" y="4343400"/>
            <a:ext cx="2240280" cy="16916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Conector SAP PM vía OData y conector Oracle EAM sobre un ERP real de un cliente.</a:t>
            </a:r>
            <a:endParaRPr lang="en-US" sz="1500" dirty="0"/>
          </a:p>
        </p:txBody>
      </p:sp>
      <p:sp>
        <p:nvSpPr>
          <p:cNvPr id="13" name="Shape 10"/>
          <p:cNvSpPr/>
          <p:nvPr/>
        </p:nvSpPr>
        <p:spPr>
          <a:xfrm>
            <a:off x="4325112" y="2377440"/>
            <a:ext cx="731520" cy="731520"/>
          </a:xfrm>
          <a:prstGeom prst="ellipse">
            <a:avLst/>
          </a:prstGeom>
          <a:solidFill>
            <a:srgbClr val="E69B00"/>
          </a:solidFill>
          <a:ln w="12700">
            <a:solidFill>
              <a:srgbClr val="E69B00"/>
            </a:solidFill>
            <a:prstDash val="solid"/>
          </a:ln>
        </p:spPr>
      </p:sp>
      <p:pic>
        <p:nvPicPr>
          <p:cNvPr id="14" name="Image 1" descr="preencoded.png">    </p:cNvPr>
          <p:cNvPicPr>
            <a:picLocks noChangeAspect="1"/>
          </p:cNvPicPr>
          <p:nvPr/>
        </p:nvPicPr>
        <p:blipFill>
          <a:blip r:embed="rId2"/>
          <a:stretch>
            <a:fillRect/>
          </a:stretch>
        </p:blipFill>
        <p:spPr>
          <a:xfrm>
            <a:off x="4486046" y="2538374"/>
            <a:ext cx="409651" cy="409651"/>
          </a:xfrm>
          <a:prstGeom prst="rect">
            <a:avLst/>
          </a:prstGeom>
        </p:spPr>
      </p:pic>
      <p:sp>
        <p:nvSpPr>
          <p:cNvPr id="15" name="Shape 11"/>
          <p:cNvSpPr/>
          <p:nvPr/>
        </p:nvSpPr>
        <p:spPr>
          <a:xfrm>
            <a:off x="3355848" y="3429000"/>
            <a:ext cx="2679192" cy="2743200"/>
          </a:xfrm>
          <a:prstGeom prst="roundRect">
            <a:avLst>
              <a:gd name="adj" fmla="val 2730"/>
            </a:avLst>
          </a:prstGeom>
          <a:solidFill>
            <a:srgbClr val="FFFFFF"/>
          </a:solidFill>
          <a:ln w="12700">
            <a:solidFill>
              <a:srgbClr val="DDE3EA"/>
            </a:solidFill>
            <a:prstDash val="solid"/>
          </a:ln>
        </p:spPr>
      </p:sp>
      <p:sp>
        <p:nvSpPr>
          <p:cNvPr id="16" name="Text 12"/>
          <p:cNvSpPr txBox="1"/>
          <p:nvPr/>
        </p:nvSpPr>
        <p:spPr>
          <a:xfrm>
            <a:off x="3584448" y="3611880"/>
            <a:ext cx="2240280" cy="68580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Modelo predictivo</a:t>
            </a:r>
            <a:endParaRPr lang="en-US" sz="1700" dirty="0"/>
          </a:p>
        </p:txBody>
      </p:sp>
      <p:sp>
        <p:nvSpPr>
          <p:cNvPr id="17" name="Text 13"/>
          <p:cNvSpPr txBox="1"/>
          <p:nvPr/>
        </p:nvSpPr>
        <p:spPr>
          <a:xfrm>
            <a:off x="3584448" y="4343400"/>
            <a:ext cx="2240280" cy="16916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Análisis de supervivencia sobre los eventos de falla para estimar la probabilidad de falla por máquina.</a:t>
            </a:r>
            <a:endParaRPr lang="en-US" sz="1500" dirty="0"/>
          </a:p>
        </p:txBody>
      </p:sp>
      <p:sp>
        <p:nvSpPr>
          <p:cNvPr id="18" name="Shape 14"/>
          <p:cNvSpPr/>
          <p:nvPr/>
        </p:nvSpPr>
        <p:spPr>
          <a:xfrm>
            <a:off x="7132320" y="2377440"/>
            <a:ext cx="731520" cy="731520"/>
          </a:xfrm>
          <a:prstGeom prst="ellipse">
            <a:avLst/>
          </a:prstGeom>
          <a:solidFill>
            <a:srgbClr val="17212B"/>
          </a:solidFill>
          <a:ln w="12700">
            <a:solidFill>
              <a:srgbClr val="17212B"/>
            </a:solidFill>
            <a:prstDash val="solid"/>
          </a:ln>
        </p:spPr>
      </p:sp>
      <p:pic>
        <p:nvPicPr>
          <p:cNvPr id="19" name="Image 2" descr="preencoded.png">    </p:cNvPr>
          <p:cNvPicPr>
            <a:picLocks noChangeAspect="1"/>
          </p:cNvPicPr>
          <p:nvPr/>
        </p:nvPicPr>
        <p:blipFill>
          <a:blip r:embed="rId3"/>
          <a:stretch>
            <a:fillRect/>
          </a:stretch>
        </p:blipFill>
        <p:spPr>
          <a:xfrm>
            <a:off x="7293254" y="2538374"/>
            <a:ext cx="409651" cy="409651"/>
          </a:xfrm>
          <a:prstGeom prst="rect">
            <a:avLst/>
          </a:prstGeom>
        </p:spPr>
      </p:pic>
      <p:sp>
        <p:nvSpPr>
          <p:cNvPr id="20" name="Shape 15"/>
          <p:cNvSpPr/>
          <p:nvPr/>
        </p:nvSpPr>
        <p:spPr>
          <a:xfrm>
            <a:off x="6163056" y="3429000"/>
            <a:ext cx="2679192" cy="2743200"/>
          </a:xfrm>
          <a:prstGeom prst="roundRect">
            <a:avLst>
              <a:gd name="adj" fmla="val 2730"/>
            </a:avLst>
          </a:prstGeom>
          <a:solidFill>
            <a:srgbClr val="FFFFFF"/>
          </a:solidFill>
          <a:ln w="12700">
            <a:solidFill>
              <a:srgbClr val="DDE3EA"/>
            </a:solidFill>
            <a:prstDash val="solid"/>
          </a:ln>
        </p:spPr>
      </p:sp>
      <p:sp>
        <p:nvSpPr>
          <p:cNvPr id="21" name="Text 16"/>
          <p:cNvSpPr txBox="1"/>
          <p:nvPr/>
        </p:nvSpPr>
        <p:spPr>
          <a:xfrm>
            <a:off x="6391656" y="3611880"/>
            <a:ext cx="2240280" cy="68580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Mapeo asistido por IA</a:t>
            </a:r>
            <a:endParaRPr lang="en-US" sz="1700" dirty="0"/>
          </a:p>
        </p:txBody>
      </p:sp>
      <p:sp>
        <p:nvSpPr>
          <p:cNvPr id="22" name="Text 17"/>
          <p:cNvSpPr txBox="1"/>
          <p:nvPr/>
        </p:nvSpPr>
        <p:spPr>
          <a:xfrm>
            <a:off x="6391656" y="4343400"/>
            <a:ext cx="2240280" cy="16916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Sugerir equivalencias entre los códigos de un ERP nuevo y el catálogo de Barb.</a:t>
            </a:r>
            <a:endParaRPr lang="en-US" sz="1500" dirty="0"/>
          </a:p>
        </p:txBody>
      </p:sp>
      <p:sp>
        <p:nvSpPr>
          <p:cNvPr id="23" name="Shape 18"/>
          <p:cNvSpPr/>
          <p:nvPr/>
        </p:nvSpPr>
        <p:spPr>
          <a:xfrm>
            <a:off x="9939528" y="2377440"/>
            <a:ext cx="731520" cy="731520"/>
          </a:xfrm>
          <a:prstGeom prst="ellipse">
            <a:avLst/>
          </a:prstGeom>
          <a:solidFill>
            <a:srgbClr val="17212B"/>
          </a:solidFill>
          <a:ln w="12700">
            <a:solidFill>
              <a:srgbClr val="17212B"/>
            </a:solidFill>
            <a:prstDash val="solid"/>
          </a:ln>
        </p:spPr>
      </p:sp>
      <p:pic>
        <p:nvPicPr>
          <p:cNvPr id="24" name="Image 3" descr="preencoded.png">    </p:cNvPr>
          <p:cNvPicPr>
            <a:picLocks noChangeAspect="1"/>
          </p:cNvPicPr>
          <p:nvPr/>
        </p:nvPicPr>
        <p:blipFill>
          <a:blip r:embed="rId4"/>
          <a:stretch>
            <a:fillRect/>
          </a:stretch>
        </p:blipFill>
        <p:spPr>
          <a:xfrm>
            <a:off x="10100462" y="2538374"/>
            <a:ext cx="409651" cy="409651"/>
          </a:xfrm>
          <a:prstGeom prst="rect">
            <a:avLst/>
          </a:prstGeom>
        </p:spPr>
      </p:pic>
      <p:sp>
        <p:nvSpPr>
          <p:cNvPr id="25" name="Shape 19"/>
          <p:cNvSpPr/>
          <p:nvPr/>
        </p:nvSpPr>
        <p:spPr>
          <a:xfrm>
            <a:off x="8970264" y="3429000"/>
            <a:ext cx="2679192" cy="2743200"/>
          </a:xfrm>
          <a:prstGeom prst="roundRect">
            <a:avLst>
              <a:gd name="adj" fmla="val 2730"/>
            </a:avLst>
          </a:prstGeom>
          <a:solidFill>
            <a:srgbClr val="FFFFFF"/>
          </a:solidFill>
          <a:ln w="12700">
            <a:solidFill>
              <a:srgbClr val="DDE3EA"/>
            </a:solidFill>
            <a:prstDash val="solid"/>
          </a:ln>
        </p:spPr>
      </p:sp>
      <p:sp>
        <p:nvSpPr>
          <p:cNvPr id="26" name="Text 20"/>
          <p:cNvSpPr txBox="1"/>
          <p:nvPr/>
        </p:nvSpPr>
        <p:spPr>
          <a:xfrm>
            <a:off x="9198864" y="3611880"/>
            <a:ext cx="2240280" cy="68580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Deuda técnica</a:t>
            </a:r>
            <a:endParaRPr lang="en-US" sz="1700" dirty="0"/>
          </a:p>
        </p:txBody>
      </p:sp>
      <p:sp>
        <p:nvSpPr>
          <p:cNvPr id="27" name="Text 21"/>
          <p:cNvSpPr txBox="1"/>
          <p:nvPr/>
        </p:nvSpPr>
        <p:spPr>
          <a:xfrm>
            <a:off x="9198864" y="4343400"/>
            <a:ext cx="2240280" cy="16916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Completar el aislamiento entre empresas detectado en documentos y alinear los estados de OT.</a:t>
            </a:r>
            <a:endParaRPr lang="en-US" sz="1500" dirty="0"/>
          </a:p>
        </p:txBody>
      </p:sp>
      <p:sp>
        <p:nvSpPr>
          <p:cNvPr id="28" name="Text 22"/>
          <p:cNvSpPr txBox="1"/>
          <p:nvPr/>
        </p:nvSpPr>
        <p:spPr>
          <a:xfrm>
            <a:off x="54864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29" name="Text 23"/>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16 / 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212B"/>
        </a:solidFill>
      </p:bgPr>
    </p:bg>
    <p:spTree>
      <p:nvGrpSpPr>
        <p:cNvPr id="1" name=""/>
        <p:cNvGrpSpPr/>
        <p:nvPr/>
      </p:nvGrpSpPr>
      <p:grpSpPr>
        <a:xfrm>
          <a:off x="0" y="0"/>
          <a:ext cx="0" cy="0"/>
          <a:chOff x="0" y="0"/>
          <a:chExt cx="0" cy="0"/>
        </a:xfrm>
      </p:grpSpPr>
      <p:sp>
        <p:nvSpPr>
          <p:cNvPr id="2" name="Text 0"/>
          <p:cNvSpPr txBox="1"/>
          <p:nvPr/>
        </p:nvSpPr>
        <p:spPr>
          <a:xfrm>
            <a:off x="731520" y="548640"/>
            <a:ext cx="7315200" cy="320040"/>
          </a:xfrm>
          <a:prstGeom prst="rect">
            <a:avLst/>
          </a:prstGeom>
          <a:noFill/>
          <a:ln/>
        </p:spPr>
        <p:txBody>
          <a:bodyPr wrap="square" lIns="0" tIns="0" rIns="0" bIns="0" rtlCol="0" anchor="t"/>
          <a:lstStyle/>
          <a:p>
            <a:pPr indent="0" marL="0">
              <a:buNone/>
            </a:pPr>
            <a:r>
              <a:rPr lang="en-US" sz="1300" b="1" spc="300" kern="0" dirty="0">
                <a:solidFill>
                  <a:srgbClr val="E69B00"/>
                </a:solidFill>
                <a:latin typeface="Calibri" pitchFamily="34" charset="0"/>
                <a:ea typeface="Calibri" pitchFamily="34" charset="-122"/>
                <a:cs typeface="Calibri" pitchFamily="34" charset="-120"/>
              </a:rPr>
              <a:t>SÍNTESIS Y CIERRE</a:t>
            </a:r>
            <a:endParaRPr lang="en-US" sz="1300" dirty="0"/>
          </a:p>
        </p:txBody>
      </p:sp>
      <p:sp>
        <p:nvSpPr>
          <p:cNvPr id="3" name="Text 1"/>
          <p:cNvSpPr txBox="1"/>
          <p:nvPr/>
        </p:nvSpPr>
        <p:spPr>
          <a:xfrm>
            <a:off x="731520" y="868680"/>
            <a:ext cx="7315200" cy="64008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Conclusiones del avance</a:t>
            </a:r>
            <a:endParaRPr lang="en-US" sz="3000" dirty="0"/>
          </a:p>
        </p:txBody>
      </p:sp>
      <p:sp>
        <p:nvSpPr>
          <p:cNvPr id="4" name="Shape 2"/>
          <p:cNvSpPr/>
          <p:nvPr/>
        </p:nvSpPr>
        <p:spPr>
          <a:xfrm>
            <a:off x="731520" y="1901952"/>
            <a:ext cx="502920" cy="502920"/>
          </a:xfrm>
          <a:prstGeom prst="ellipse">
            <a:avLst/>
          </a:prstGeom>
          <a:solidFill>
            <a:srgbClr val="E69B00"/>
          </a:solidFill>
          <a:ln w="12700">
            <a:solidFill>
              <a:srgbClr val="E69B00"/>
            </a:solidFill>
            <a:prstDash val="solid"/>
          </a:ln>
        </p:spPr>
      </p:sp>
      <p:pic>
        <p:nvPicPr>
          <p:cNvPr id="5" name="Image 0" descr="preencoded.png">    </p:cNvPr>
          <p:cNvPicPr>
            <a:picLocks noChangeAspect="1"/>
          </p:cNvPicPr>
          <p:nvPr/>
        </p:nvPicPr>
        <p:blipFill>
          <a:blip r:embed="rId1"/>
          <a:stretch>
            <a:fillRect/>
          </a:stretch>
        </p:blipFill>
        <p:spPr>
          <a:xfrm>
            <a:off x="842162" y="2012594"/>
            <a:ext cx="281635" cy="281635"/>
          </a:xfrm>
          <a:prstGeom prst="rect">
            <a:avLst/>
          </a:prstGeom>
        </p:spPr>
      </p:pic>
      <p:sp>
        <p:nvSpPr>
          <p:cNvPr id="6" name="Text 3"/>
          <p:cNvSpPr txBox="1"/>
          <p:nvPr/>
        </p:nvSpPr>
        <p:spPr>
          <a:xfrm>
            <a:off x="1463040" y="1828800"/>
            <a:ext cx="6035040" cy="868680"/>
          </a:xfrm>
          <a:prstGeom prst="rect">
            <a:avLst/>
          </a:prstGeom>
          <a:noFill/>
          <a:ln/>
        </p:spPr>
        <p:txBody>
          <a:bodyPr wrap="square" lIns="0" tIns="0" rIns="0" bIns="0" rtlCol="0" anchor="ctr"/>
          <a:lstStyle/>
          <a:p>
            <a:pPr indent="0" marL="0">
              <a:buNone/>
            </a:pPr>
            <a:r>
              <a:rPr lang="en-US" sz="1600" b="1" dirty="0">
                <a:solidFill>
                  <a:srgbClr val="E69B00"/>
                </a:solidFill>
                <a:latin typeface="Calibri" pitchFamily="34" charset="0"/>
                <a:ea typeface="Calibri" pitchFamily="34" charset="-122"/>
                <a:cs typeface="Calibri" pitchFamily="34" charset="-120"/>
              </a:rPr>
              <a:t>Alcance ajustado y justificado: </a:t>
            </a:r>
            <a:pPr indent="0" marL="0">
              <a:buNone/>
            </a:pPr>
            <a:r>
              <a:rPr lang="en-US" sz="1600" dirty="0">
                <a:solidFill>
                  <a:srgbClr val="FFFFFF"/>
                </a:solidFill>
                <a:latin typeface="Calibri" pitchFamily="34" charset="0"/>
                <a:ea typeface="Calibri" pitchFamily="34" charset="-122"/>
                <a:cs typeface="Calibri" pitchFamily="34" charset="-120"/>
              </a:rPr>
              <a:t>el plan se centró en el requerimiento asignado sin perder el propósito original.</a:t>
            </a:r>
            <a:endParaRPr lang="en-US" sz="1600" dirty="0"/>
          </a:p>
        </p:txBody>
      </p:sp>
      <p:sp>
        <p:nvSpPr>
          <p:cNvPr id="7" name="Shape 4"/>
          <p:cNvSpPr/>
          <p:nvPr/>
        </p:nvSpPr>
        <p:spPr>
          <a:xfrm>
            <a:off x="731520" y="2926080"/>
            <a:ext cx="502920" cy="502920"/>
          </a:xfrm>
          <a:prstGeom prst="ellipse">
            <a:avLst/>
          </a:prstGeom>
          <a:solidFill>
            <a:srgbClr val="E69B00"/>
          </a:solidFill>
          <a:ln w="12700">
            <a:solidFill>
              <a:srgbClr val="E69B00"/>
            </a:solidFill>
            <a:prstDash val="solid"/>
          </a:ln>
        </p:spPr>
      </p:sp>
      <p:pic>
        <p:nvPicPr>
          <p:cNvPr id="8" name="Image 1" descr="preencoded.png">    </p:cNvPr>
          <p:cNvPicPr>
            <a:picLocks noChangeAspect="1"/>
          </p:cNvPicPr>
          <p:nvPr/>
        </p:nvPicPr>
        <p:blipFill>
          <a:blip r:embed="rId2"/>
          <a:stretch>
            <a:fillRect/>
          </a:stretch>
        </p:blipFill>
        <p:spPr>
          <a:xfrm>
            <a:off x="842162" y="3036722"/>
            <a:ext cx="281635" cy="281635"/>
          </a:xfrm>
          <a:prstGeom prst="rect">
            <a:avLst/>
          </a:prstGeom>
        </p:spPr>
      </p:pic>
      <p:sp>
        <p:nvSpPr>
          <p:cNvPr id="9" name="Text 5"/>
          <p:cNvSpPr txBox="1"/>
          <p:nvPr/>
        </p:nvSpPr>
        <p:spPr>
          <a:xfrm>
            <a:off x="1463040" y="2852928"/>
            <a:ext cx="6035040" cy="868680"/>
          </a:xfrm>
          <a:prstGeom prst="rect">
            <a:avLst/>
          </a:prstGeom>
          <a:noFill/>
          <a:ln/>
        </p:spPr>
        <p:txBody>
          <a:bodyPr wrap="square" lIns="0" tIns="0" rIns="0" bIns="0" rtlCol="0" anchor="ctr"/>
          <a:lstStyle/>
          <a:p>
            <a:pPr indent="0" marL="0">
              <a:buNone/>
            </a:pPr>
            <a:r>
              <a:rPr lang="en-US" sz="1600" b="1" dirty="0">
                <a:solidFill>
                  <a:srgbClr val="E69B00"/>
                </a:solidFill>
                <a:latin typeface="Calibri" pitchFamily="34" charset="0"/>
                <a:ea typeface="Calibri" pitchFamily="34" charset="-122"/>
                <a:cs typeface="Calibri" pitchFamily="34" charset="-120"/>
              </a:rPr>
              <a:t>Base de datos lista: </a:t>
            </a:r>
            <a:pPr indent="0" marL="0">
              <a:buNone/>
            </a:pPr>
            <a:r>
              <a:rPr lang="en-US" sz="1600" dirty="0">
                <a:solidFill>
                  <a:srgbClr val="FFFFFF"/>
                </a:solidFill>
                <a:latin typeface="Calibri" pitchFamily="34" charset="0"/>
                <a:ea typeface="Calibri" pitchFamily="34" charset="-122"/>
                <a:cs typeface="Calibri" pitchFamily="34" charset="-120"/>
              </a:rPr>
              <a:t>modelo canónico y migración probados sobre el esquema real, sin afectar la operación.</a:t>
            </a:r>
            <a:endParaRPr lang="en-US" sz="1600" dirty="0"/>
          </a:p>
        </p:txBody>
      </p:sp>
      <p:sp>
        <p:nvSpPr>
          <p:cNvPr id="10" name="Shape 6"/>
          <p:cNvSpPr/>
          <p:nvPr/>
        </p:nvSpPr>
        <p:spPr>
          <a:xfrm>
            <a:off x="731520" y="3950208"/>
            <a:ext cx="502920" cy="502920"/>
          </a:xfrm>
          <a:prstGeom prst="ellipse">
            <a:avLst/>
          </a:prstGeom>
          <a:solidFill>
            <a:srgbClr val="E69B00"/>
          </a:solidFill>
          <a:ln w="12700">
            <a:solidFill>
              <a:srgbClr val="E69B00"/>
            </a:solidFill>
            <a:prstDash val="solid"/>
          </a:ln>
        </p:spPr>
      </p:sp>
      <p:pic>
        <p:nvPicPr>
          <p:cNvPr id="11" name="Image 2" descr="preencoded.png">    </p:cNvPr>
          <p:cNvPicPr>
            <a:picLocks noChangeAspect="1"/>
          </p:cNvPicPr>
          <p:nvPr/>
        </p:nvPicPr>
        <p:blipFill>
          <a:blip r:embed="rId3"/>
          <a:stretch>
            <a:fillRect/>
          </a:stretch>
        </p:blipFill>
        <p:spPr>
          <a:xfrm>
            <a:off x="842162" y="4060850"/>
            <a:ext cx="281635" cy="281635"/>
          </a:xfrm>
          <a:prstGeom prst="rect">
            <a:avLst/>
          </a:prstGeom>
        </p:spPr>
      </p:pic>
      <p:sp>
        <p:nvSpPr>
          <p:cNvPr id="12" name="Text 7"/>
          <p:cNvSpPr txBox="1"/>
          <p:nvPr/>
        </p:nvSpPr>
        <p:spPr>
          <a:xfrm>
            <a:off x="1463040" y="3877056"/>
            <a:ext cx="6035040" cy="868680"/>
          </a:xfrm>
          <a:prstGeom prst="rect">
            <a:avLst/>
          </a:prstGeom>
          <a:noFill/>
          <a:ln/>
        </p:spPr>
        <p:txBody>
          <a:bodyPr wrap="square" lIns="0" tIns="0" rIns="0" bIns="0" rtlCol="0" anchor="ctr"/>
          <a:lstStyle/>
          <a:p>
            <a:pPr indent="0" marL="0">
              <a:buNone/>
            </a:pPr>
            <a:r>
              <a:rPr lang="en-US" sz="1600" b="1" dirty="0">
                <a:solidFill>
                  <a:srgbClr val="E69B00"/>
                </a:solidFill>
                <a:latin typeface="Calibri" pitchFamily="34" charset="0"/>
                <a:ea typeface="Calibri" pitchFamily="34" charset="-122"/>
                <a:cs typeface="Calibri" pitchFamily="34" charset="-120"/>
              </a:rPr>
              <a:t>Arquitectura extensible: </a:t>
            </a:r>
            <a:pPr indent="0" marL="0">
              <a:buNone/>
            </a:pPr>
            <a:r>
              <a:rPr lang="en-US" sz="1600" dirty="0">
                <a:solidFill>
                  <a:srgbClr val="FFFFFF"/>
                </a:solidFill>
                <a:latin typeface="Calibri" pitchFamily="34" charset="0"/>
                <a:ea typeface="Calibri" pitchFamily="34" charset="-122"/>
                <a:cs typeface="Calibri" pitchFamily="34" charset="-120"/>
              </a:rPr>
              <a:t>incorporar un ERP nuevo solo requiere un conector.</a:t>
            </a:r>
            <a:endParaRPr lang="en-US" sz="1600" dirty="0"/>
          </a:p>
        </p:txBody>
      </p:sp>
      <p:sp>
        <p:nvSpPr>
          <p:cNvPr id="13" name="Shape 8"/>
          <p:cNvSpPr/>
          <p:nvPr/>
        </p:nvSpPr>
        <p:spPr>
          <a:xfrm>
            <a:off x="731520" y="4974336"/>
            <a:ext cx="502920" cy="502920"/>
          </a:xfrm>
          <a:prstGeom prst="ellipse">
            <a:avLst/>
          </a:prstGeom>
          <a:solidFill>
            <a:srgbClr val="E69B00"/>
          </a:solidFill>
          <a:ln w="12700">
            <a:solidFill>
              <a:srgbClr val="E69B00"/>
            </a:solidFill>
            <a:prstDash val="solid"/>
          </a:ln>
        </p:spPr>
      </p:sp>
      <p:pic>
        <p:nvPicPr>
          <p:cNvPr id="14" name="Image 3" descr="preencoded.png">    </p:cNvPr>
          <p:cNvPicPr>
            <a:picLocks noChangeAspect="1"/>
          </p:cNvPicPr>
          <p:nvPr/>
        </p:nvPicPr>
        <p:blipFill>
          <a:blip r:embed="rId4"/>
          <a:stretch>
            <a:fillRect/>
          </a:stretch>
        </p:blipFill>
        <p:spPr>
          <a:xfrm>
            <a:off x="842162" y="5084978"/>
            <a:ext cx="281635" cy="281635"/>
          </a:xfrm>
          <a:prstGeom prst="rect">
            <a:avLst/>
          </a:prstGeom>
        </p:spPr>
      </p:pic>
      <p:sp>
        <p:nvSpPr>
          <p:cNvPr id="15" name="Text 9"/>
          <p:cNvSpPr txBox="1"/>
          <p:nvPr/>
        </p:nvSpPr>
        <p:spPr>
          <a:xfrm>
            <a:off x="1463040" y="4901184"/>
            <a:ext cx="6035040" cy="868680"/>
          </a:xfrm>
          <a:prstGeom prst="rect">
            <a:avLst/>
          </a:prstGeom>
          <a:noFill/>
          <a:ln/>
        </p:spPr>
        <p:txBody>
          <a:bodyPr wrap="square" lIns="0" tIns="0" rIns="0" bIns="0" rtlCol="0" anchor="ctr"/>
          <a:lstStyle/>
          <a:p>
            <a:pPr indent="0" marL="0">
              <a:buNone/>
            </a:pPr>
            <a:r>
              <a:rPr lang="en-US" sz="1600" b="1" dirty="0">
                <a:solidFill>
                  <a:srgbClr val="E69B00"/>
                </a:solidFill>
                <a:latin typeface="Calibri" pitchFamily="34" charset="0"/>
                <a:ea typeface="Calibri" pitchFamily="34" charset="-122"/>
                <a:cs typeface="Calibri" pitchFamily="34" charset="-120"/>
              </a:rPr>
              <a:t>Próximo hito: </a:t>
            </a:r>
            <a:pPr indent="0" marL="0">
              <a:buNone/>
            </a:pPr>
            <a:r>
              <a:rPr lang="en-US" sz="1600" dirty="0">
                <a:solidFill>
                  <a:srgbClr val="FFFFFF"/>
                </a:solidFill>
                <a:latin typeface="Calibri" pitchFamily="34" charset="0"/>
                <a:ea typeface="Calibri" pitchFamily="34" charset="-122"/>
                <a:cs typeface="Calibri" pitchFamily="34" charset="-120"/>
              </a:rPr>
              <a:t>conector de referencia, ingesta e indicadores MTBF y MTTR.</a:t>
            </a:r>
            <a:endParaRPr lang="en-US" sz="1600" dirty="0"/>
          </a:p>
        </p:txBody>
      </p:sp>
      <p:sp>
        <p:nvSpPr>
          <p:cNvPr id="16" name="Shape 10"/>
          <p:cNvSpPr/>
          <p:nvPr/>
        </p:nvSpPr>
        <p:spPr>
          <a:xfrm>
            <a:off x="8046720" y="1828800"/>
            <a:ext cx="3474720" cy="3931920"/>
          </a:xfrm>
          <a:prstGeom prst="roundRect">
            <a:avLst>
              <a:gd name="adj" fmla="val 2632"/>
            </a:avLst>
          </a:prstGeom>
          <a:solidFill>
            <a:srgbClr val="223040"/>
          </a:solidFill>
          <a:ln w="15875">
            <a:solidFill>
              <a:srgbClr val="E69B00"/>
            </a:solidFill>
            <a:prstDash val="solid"/>
          </a:ln>
        </p:spPr>
      </p:sp>
      <p:sp>
        <p:nvSpPr>
          <p:cNvPr id="17" name="Text 11"/>
          <p:cNvSpPr txBox="1"/>
          <p:nvPr/>
        </p:nvSpPr>
        <p:spPr>
          <a:xfrm>
            <a:off x="8046720" y="2286000"/>
            <a:ext cx="3474720" cy="822960"/>
          </a:xfrm>
          <a:prstGeom prst="rect">
            <a:avLst/>
          </a:prstGeom>
          <a:noFill/>
          <a:ln/>
        </p:spPr>
        <p:txBody>
          <a:bodyPr wrap="square" lIns="0" tIns="0" rIns="0" bIns="0" rtlCol="0" anchor="t"/>
          <a:lstStyle/>
          <a:p>
            <a:pPr algn="ctr" indent="0" marL="0">
              <a:buNone/>
            </a:pPr>
            <a:r>
              <a:rPr lang="en-US" sz="3600" b="1" dirty="0">
                <a:solidFill>
                  <a:srgbClr val="FFFFFF"/>
                </a:solidFill>
                <a:latin typeface="Calibri" pitchFamily="34" charset="0"/>
                <a:ea typeface="Calibri" pitchFamily="34" charset="-122"/>
                <a:cs typeface="Calibri" pitchFamily="34" charset="-120"/>
              </a:rPr>
              <a:t>¡Gracias!</a:t>
            </a:r>
            <a:endParaRPr lang="en-US" sz="3600" dirty="0"/>
          </a:p>
        </p:txBody>
      </p:sp>
      <p:sp>
        <p:nvSpPr>
          <p:cNvPr id="18" name="Text 12"/>
          <p:cNvSpPr txBox="1"/>
          <p:nvPr/>
        </p:nvSpPr>
        <p:spPr>
          <a:xfrm>
            <a:off x="8321040" y="3154680"/>
            <a:ext cx="2926080" cy="731520"/>
          </a:xfrm>
          <a:prstGeom prst="rect">
            <a:avLst/>
          </a:prstGeom>
          <a:noFill/>
          <a:ln/>
        </p:spPr>
        <p:txBody>
          <a:bodyPr wrap="square" lIns="0" tIns="0" rIns="0" bIns="0" rtlCol="0" anchor="t"/>
          <a:lstStyle/>
          <a:p>
            <a:pPr algn="ctr" indent="0" marL="0">
              <a:buNone/>
            </a:pPr>
            <a:r>
              <a:rPr lang="en-US" sz="1500" dirty="0">
                <a:solidFill>
                  <a:srgbClr val="DCE3EA"/>
                </a:solidFill>
                <a:latin typeface="Calibri" pitchFamily="34" charset="0"/>
                <a:ea typeface="Calibri" pitchFamily="34" charset="-122"/>
                <a:cs typeface="Calibri" pitchFamily="34" charset="-120"/>
              </a:rPr>
              <a:t>Preguntas y comentarios de la comisión</a:t>
            </a:r>
            <a:endParaRPr lang="en-US" sz="1500" dirty="0"/>
          </a:p>
        </p:txBody>
      </p:sp>
      <p:sp>
        <p:nvSpPr>
          <p:cNvPr id="19" name="Text 13"/>
          <p:cNvSpPr txBox="1"/>
          <p:nvPr/>
        </p:nvSpPr>
        <p:spPr>
          <a:xfrm>
            <a:off x="8321040" y="4206240"/>
            <a:ext cx="2926080" cy="1188720"/>
          </a:xfrm>
          <a:prstGeom prst="rect">
            <a:avLst/>
          </a:prstGeom>
          <a:noFill/>
          <a:ln/>
        </p:spPr>
        <p:txBody>
          <a:bodyPr wrap="square" lIns="0" tIns="0" rIns="0" bIns="0" rtlCol="0" anchor="t"/>
          <a:lstStyle/>
          <a:p>
            <a:pPr algn="ctr" indent="0" marL="0">
              <a:buNone/>
            </a:pPr>
            <a:r>
              <a:rPr lang="en-US" sz="1300" b="1" dirty="0">
                <a:solidFill>
                  <a:srgbClr val="E69B00"/>
                </a:solidFill>
                <a:latin typeface="Calibri" pitchFamily="34" charset="0"/>
                <a:ea typeface="Calibri" pitchFamily="34" charset="-122"/>
                <a:cs typeface="Calibri" pitchFamily="34" charset="-120"/>
              </a:rPr>
              <a:t>Sebastián Valdés Zúñiga</a:t>
            </a:r>
            <a:endParaRPr lang="en-US" sz="1300" dirty="0"/>
          </a:p>
          <a:p>
            <a:pPr algn="ctr" indent="0" marL="0">
              <a:buNone/>
            </a:pPr>
            <a:r>
              <a:rPr lang="en-US" sz="1300" dirty="0">
                <a:solidFill>
                  <a:srgbClr val="DCE3EA"/>
                </a:solidFill>
                <a:latin typeface="Calibri" pitchFamily="34" charset="0"/>
                <a:ea typeface="Calibri" pitchFamily="34" charset="-122"/>
                <a:cs typeface="Calibri" pitchFamily="34" charset="-120"/>
              </a:rPr>
              <a:t>Barb · Alloxentric</a:t>
            </a:r>
            <a:endParaRPr lang="en-US" sz="1300" dirty="0"/>
          </a:p>
          <a:p>
            <a:pPr algn="ctr" indent="0" marL="0">
              <a:buNone/>
            </a:pPr>
            <a:r>
              <a:rPr lang="en-US" sz="1300" dirty="0">
                <a:solidFill>
                  <a:srgbClr val="DCE3EA"/>
                </a:solidFill>
                <a:latin typeface="Calibri" pitchFamily="34" charset="0"/>
                <a:ea typeface="Calibri" pitchFamily="34" charset="-122"/>
                <a:cs typeface="Calibri" pitchFamily="34" charset="-120"/>
              </a:rPr>
              <a:t>Repositorio: [agregar enlace]</a:t>
            </a:r>
            <a:endParaRPr lang="en-US" sz="1300" dirty="0"/>
          </a:p>
        </p:txBody>
      </p:sp>
      <p:sp>
        <p:nvSpPr>
          <p:cNvPr id="20" name="Text 14"/>
          <p:cNvSpPr txBox="1"/>
          <p:nvPr/>
        </p:nvSpPr>
        <p:spPr>
          <a:xfrm>
            <a:off x="731520" y="6419088"/>
            <a:ext cx="7315200" cy="274320"/>
          </a:xfrm>
          <a:prstGeom prst="rect">
            <a:avLst/>
          </a:prstGeom>
          <a:noFill/>
          <a:ln/>
        </p:spPr>
        <p:txBody>
          <a:bodyPr wrap="square" lIns="0" tIns="0" rIns="0" bIns="0" rtlCol="0" anchor="t"/>
          <a:lstStyle/>
          <a:p>
            <a:pPr indent="0" marL="0">
              <a:buNone/>
            </a:pPr>
            <a:r>
              <a:rPr lang="en-US" sz="1000" dirty="0">
                <a:solidFill>
                  <a:srgbClr val="8A96A3"/>
                </a:solidFill>
                <a:latin typeface="Calibri" pitchFamily="34" charset="0"/>
                <a:ea typeface="Calibri" pitchFamily="34" charset="-122"/>
                <a:cs typeface="Calibri" pitchFamily="34" charset="-120"/>
              </a:rPr>
              <a:t>Barb · Proyecto APT · Ingeniería en Informática · Duoc UC</a:t>
            </a:r>
            <a:endParaRPr lang="en-US" sz="1000" dirty="0"/>
          </a:p>
        </p:txBody>
      </p:sp>
      <p:sp>
        <p:nvSpPr>
          <p:cNvPr id="21" name="Text 15"/>
          <p:cNvSpPr txBox="1"/>
          <p:nvPr/>
        </p:nvSpPr>
        <p:spPr>
          <a:xfrm>
            <a:off x="10725912" y="6419088"/>
            <a:ext cx="914400" cy="274320"/>
          </a:xfrm>
          <a:prstGeom prst="rect">
            <a:avLst/>
          </a:prstGeom>
          <a:noFill/>
          <a:ln/>
        </p:spPr>
        <p:txBody>
          <a:bodyPr wrap="square" lIns="0" tIns="0" rIns="0" bIns="0" rtlCol="0" anchor="t"/>
          <a:lstStyle/>
          <a:p>
            <a:pPr algn="r" indent="0" marL="0">
              <a:buNone/>
            </a:pPr>
            <a:r>
              <a:rPr lang="en-US" sz="1000" dirty="0">
                <a:solidFill>
                  <a:srgbClr val="8A96A3"/>
                </a:solidFill>
                <a:latin typeface="Calibri" pitchFamily="34" charset="0"/>
                <a:ea typeface="Calibri" pitchFamily="34" charset="-122"/>
                <a:cs typeface="Calibri" pitchFamily="34" charset="-120"/>
              </a:rPr>
              <a:t>17 /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Barb — Integración multi-ERP para mantención predictiva</dc:title>
  <dc:subject>PptxGenJS Presentation</dc:subject>
  <dc:creator>Sebastián Valdés Zúñiga</dc:creator>
  <cp:lastModifiedBy>Sebastián Valdés Zúñiga</cp:lastModifiedBy>
  <cp:revision>1</cp:revision>
  <dcterms:created xsi:type="dcterms:W3CDTF">2026-10-02T21:53:10Z</dcterms:created>
  <dcterms:modified xsi:type="dcterms:W3CDTF">2026-10-02T21:53:10Z</dcterms:modified>
</cp:coreProperties>
</file>