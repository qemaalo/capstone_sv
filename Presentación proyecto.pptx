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47172" y="971550"/>
            <a:ext cx="0" cy="679996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4" name="Image 0" descr="/tmp/h2p-svg-1788907276800-7nr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486275"/>
            <a:ext cx="800100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971550"/>
            <a:ext cx="7584948" cy="118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6"/>
              </a:lnSpc>
              <a:buNone/>
            </a:pPr>
            <a:r>
              <a:rPr lang="en-US" sz="10125" spc="-456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Barb</a:t>
            </a:r>
            <a:endParaRPr lang="en-US" sz="10125" dirty="0"/>
          </a:p>
        </p:txBody>
      </p:sp>
      <p:sp>
        <p:nvSpPr>
          <p:cNvPr id="6" name="Text 3"/>
          <p:cNvSpPr/>
          <p:nvPr/>
        </p:nvSpPr>
        <p:spPr>
          <a:xfrm>
            <a:off x="571500" y="2321719"/>
            <a:ext cx="5937982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 GESTIÓN PREDICTIVA DE MANTENCIÓN INDUSTRIAL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179344" y="971550"/>
            <a:ext cx="2502884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 / Sebastián Valdés Zúñiga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179344" y="1141549"/>
            <a:ext cx="2502884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 / Ingeniería en Informática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79344" y="1311548"/>
            <a:ext cx="2393156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SEDE / Duoc UC San Joaquín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79344" y="1481547"/>
            <a:ext cx="250288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/ Desarrollado en Alloxentric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200025"/>
            <a:ext cx="142227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S-01 / COVER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723765"/>
            <a:ext cx="6400800" cy="139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spc="-88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mantención industrial </a:t>
            </a:r>
            <a:pPr algn="l" indent="0" marL="0">
              <a:lnSpc>
                <a:spcPts val="3402"/>
              </a:lnSpc>
              <a:buNone/>
            </a:pPr>
            <a:r>
              <a:rPr lang="en-US" sz="3150" spc="-88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reacciona</a:t>
            </a:r>
            <a:pPr algn="l" indent="0" marL="0">
              <a:lnSpc>
                <a:spcPts val="3402"/>
              </a:lnSpc>
              <a:buNone/>
            </a:pPr>
            <a:r>
              <a:rPr lang="en-US" sz="3150" spc="-88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cuando la falla ya está deteniendo la faena.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71500" y="3248285"/>
            <a:ext cx="85725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4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COSTO DE NO ANTICIPAR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200025"/>
            <a:ext cx="202621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S-02 / PROBLEM-DEFINITION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789384"/>
            <a:ext cx="2476426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4" name="Image 0" descr="/tmp/h2p-svg-1788907276786-sgn8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64406"/>
            <a:ext cx="285750" cy="285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33676" y="789384"/>
            <a:ext cx="2476537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6" name="Image 1" descr="/tmp/h2p-svg-1788907276788-s0j5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676" y="964406"/>
            <a:ext cx="285750" cy="285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5963" y="789384"/>
            <a:ext cx="2476426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8" name="Image 2" descr="/tmp/h2p-svg-1788907276791-bh4a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63" y="964406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COSTO DE FALLAR TARDE — TRES DIMENSIONES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71500" y="1421606"/>
            <a:ext cx="247642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101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571500" y="1764506"/>
            <a:ext cx="247642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Detención de producción</a:t>
            </a:r>
            <a:endParaRPr lang="en-US" sz="1238" dirty="0"/>
          </a:p>
        </p:txBody>
      </p:sp>
      <p:sp>
        <p:nvSpPr>
          <p:cNvPr id="12" name="Text 7"/>
          <p:cNvSpPr/>
          <p:nvPr/>
        </p:nvSpPr>
        <p:spPr>
          <a:xfrm>
            <a:off x="571500" y="2038759"/>
            <a:ext cx="24764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falla detiene la faena cuando el bien ya está comprometido.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333676" y="1421606"/>
            <a:ext cx="247653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101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4" name="Text 9"/>
          <p:cNvSpPr/>
          <p:nvPr/>
        </p:nvSpPr>
        <p:spPr>
          <a:xfrm>
            <a:off x="3333676" y="1764506"/>
            <a:ext cx="2476537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Inhabilitación de maquinaria y personal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3333676" y="2227287"/>
            <a:ext cx="247653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Equipos y operadores fuera de servicio mientras dura la intervención.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95963" y="1421606"/>
            <a:ext cx="247642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101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17" name="Text 12"/>
          <p:cNvSpPr/>
          <p:nvPr/>
        </p:nvSpPr>
        <p:spPr>
          <a:xfrm>
            <a:off x="6095963" y="1764506"/>
            <a:ext cx="2476426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Intervención de emergencia, no planificada</a:t>
            </a:r>
            <a:endParaRPr lang="en-US" sz="1238" dirty="0"/>
          </a:p>
        </p:txBody>
      </p:sp>
      <p:sp>
        <p:nvSpPr>
          <p:cNvPr id="18" name="Text 13"/>
          <p:cNvSpPr/>
          <p:nvPr/>
        </p:nvSpPr>
        <p:spPr>
          <a:xfrm>
            <a:off x="6095963" y="2227287"/>
            <a:ext cx="247642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ventana de mantención: costo de oportunidad y sobre-precio de repuestos.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71500" y="2848794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ANTICIPACIÓN, CADA FALLA ES UNA URGENCIA.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71500" y="200025"/>
            <a:ext cx="20554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S-03 / PROBLEM-COST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6793-iibbz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77962"/>
            <a:ext cx="3143250" cy="2444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 PROBLEMA — CONOCIMIENTO EN UNA SOLA PERSONA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3994138"/>
            <a:ext cx="19452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CUSTODIA DEL CONOCIMIENTO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857750" y="2239454"/>
            <a:ext cx="3714750" cy="7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spc="-6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información existe. Está </a:t>
            </a:r>
            <a:pPr algn="l" indent="0" marL="0">
              <a:lnSpc>
                <a:spcPts val="2673"/>
              </a:lnSpc>
              <a:buNone/>
            </a:pPr>
            <a:r>
              <a:rPr lang="en-US" sz="2475" spc="-62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atrapada</a:t>
            </a:r>
            <a:pPr algn="l" indent="0" marL="0">
              <a:lnSpc>
                <a:spcPts val="2673"/>
              </a:lnSpc>
              <a:buNone/>
            </a:pPr>
            <a:r>
              <a:rPr lang="en-US" sz="2475" spc="-6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en una persona.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4857750" y="3118358"/>
            <a:ext cx="428625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6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DE CONTINUIDAD OPERATIVA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00025"/>
            <a:ext cx="216726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S-04 / KNOWLEDGE-BOTTLENECK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6801-eubez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5856"/>
            <a:ext cx="8001000" cy="3143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 DE FLUJOS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200025"/>
            <a:ext cx="20554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S-05 / FLOW-COMPARE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6825-8ycv9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174616"/>
            <a:ext cx="7429500" cy="428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275829"/>
            <a:ext cx="8572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PROPUESTA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1718742"/>
            <a:ext cx="7200900" cy="1140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spc="-6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Construir el sistema que </a:t>
            </a:r>
            <a:pPr algn="l" indent="0" marL="0">
              <a:lnSpc>
                <a:spcPts val="2772"/>
              </a:lnSpc>
              <a:buNone/>
            </a:pPr>
            <a:r>
              <a:rPr lang="en-US" sz="2475" spc="-62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agiliza la operación diaria</a:t>
            </a:r>
            <a:pPr algn="l" indent="0" marL="0">
              <a:lnSpc>
                <a:spcPts val="2772"/>
              </a:lnSpc>
              <a:buNone/>
            </a:pPr>
            <a:r>
              <a:rPr lang="en-US" sz="2475" spc="-6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y, al mismo tiempo, acumula los datos que permiten </a:t>
            </a:r>
            <a:pPr algn="l" indent="0" marL="0">
              <a:lnSpc>
                <a:spcPts val="2772"/>
              </a:lnSpc>
              <a:buNone/>
            </a:pPr>
            <a:r>
              <a:rPr lang="en-US" sz="2475" spc="-62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anticipar la próxima falla</a:t>
            </a:r>
            <a:pPr algn="l" indent="0" marL="0">
              <a:lnSpc>
                <a:spcPts val="2772"/>
              </a:lnSpc>
              <a:buNone/>
            </a:pPr>
            <a:r>
              <a:rPr lang="en-US" sz="2475" spc="-6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714375" y="3703253"/>
            <a:ext cx="643093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OPERACIÓN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59600" y="3703253"/>
            <a:ext cx="91444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PREDICCIÓN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00025"/>
            <a:ext cx="202621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S-06 / OBJECTIVE-ONE-LINE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6826-3t1p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700088"/>
            <a:ext cx="8001000" cy="3857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— CUATRO MÓDULOS SOBRE UN MISMO HISTÓRICO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200025"/>
            <a:ext cx="20554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S-07 / ARCHITECTURE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732234"/>
            <a:ext cx="3829050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4" name="Image 0" descr="/tmp/h2p-svg-1788907277493-yhqw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377418"/>
            <a:ext cx="1571625" cy="285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43450" y="732234"/>
            <a:ext cx="3829050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6" name="Image 1" descr="/tmp/h2p-svg-1788907277494-lm88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377418"/>
            <a:ext cx="1571625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MÓDULOS — CONSULTA Y DIAGNÓSTICO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71500" y="935831"/>
            <a:ext cx="382905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spc="135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M1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71500" y="1393031"/>
            <a:ext cx="382905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spc="-3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Consulta documental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571500" y="172733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en lenguaje natural. Disciplinas: eléctrica, mecánica, hidráulica, neumática, automatización. Sin conocer la ubicación del documento.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743450" y="935831"/>
            <a:ext cx="382905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spc="135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M2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4743450" y="1393031"/>
            <a:ext cx="3938778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spc="-3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Troubleshooting asistido por IA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4743450" y="172733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Selección de máquina · descripción textual de síntomas · fotografías adjuntas → diagnóstico fundamentado en la documentación.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200025"/>
            <a:ext cx="196506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S-08 / MODULES-1-2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732234"/>
            <a:ext cx="3829050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4" name="Image 0" descr="/tmp/h2p-svg-1788907278780-er70k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377418"/>
            <a:ext cx="1571625" cy="285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43450" y="732234"/>
            <a:ext cx="3829050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pic>
        <p:nvPicPr>
          <p:cNvPr id="6" name="Image 1" descr="/tmp/h2p-svg-1788907278783-8wx5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377418"/>
            <a:ext cx="1571625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MÓDULOS — TOPOLOGÍA Y GESTIÓN DE ÓT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71500" y="935831"/>
            <a:ext cx="382905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spc="135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M3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71500" y="1393031"/>
            <a:ext cx="382905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spc="-3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Topología de planta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571500" y="172733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Diagrama interactivo de relaciones físicas y lógicas entre equipos. Navegable, con zoom. Dependencias operativas visibles al diagnosticar.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743450" y="935831"/>
            <a:ext cx="382905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spc="135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M4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4743450" y="1393031"/>
            <a:ext cx="3938778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spc="-3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Gestor de órdenes de trabajo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4743450" y="172733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seis estados: creado · asignado · en progreso · en espera · completado · cerrado. Registra tiempos, repuestos, fotografías, comentarios.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200025"/>
            <a:ext cx="196506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S-09 / MODULES-3-4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8248-jwnlq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6063" y="760809"/>
            <a:ext cx="3571875" cy="3571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00050"/>
            <a:ext cx="20289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RETROALIMENTACIÓN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0" y="4593431"/>
            <a:ext cx="8636000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99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ÓT CERRADA FORTALECE LA PREDICCIÓN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00025"/>
            <a:ext cx="214609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S-10 / FEEDBACK-LOOP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1424280"/>
            <a:ext cx="8001000" cy="0"/>
          </a:xfrm>
          <a:prstGeom prst="line">
            <a:avLst/>
          </a:prstGeom>
          <a:noFill/>
          <a:ln w="7144">
            <a:solidFill>
              <a:srgbClr val="2A2F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400117"/>
            <a:ext cx="8572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632217"/>
            <a:ext cx="8572500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1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GENERAL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71500" y="825098"/>
            <a:ext cx="8001000" cy="650974"/>
          </a:xfrm>
          <a:prstGeom prst="rect">
            <a:avLst/>
          </a:prstGeom>
          <a:noFill/>
          <a:ln/>
        </p:spPr>
        <p:txBody>
          <a:bodyPr wrap="square" lIns="0" tIns="0" rIns="0" bIns="171450" rtlCol="0" anchor="t"/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238" spc="-15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Desarrollar un sistema de gestión de mantención industrial que </a:t>
            </a:r>
            <a:pPr algn="l" indent="0" marL="0">
              <a:lnSpc>
                <a:spcPts val="1671"/>
              </a:lnSpc>
              <a:buNone/>
            </a:pPr>
            <a:r>
              <a:rPr lang="en-US" sz="1238" spc="-15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anticipe fallas</a:t>
            </a:r>
            <a:pPr algn="l" indent="0" marL="0">
              <a:lnSpc>
                <a:spcPts val="1671"/>
              </a:lnSpc>
              <a:buNone/>
            </a:pPr>
            <a:r>
              <a:rPr lang="en-US" sz="1238" spc="-15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y agilice la faena, mediante registro histórico de indicadores, generación automatizada de documentación y consulta ágil de la información.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571500" y="1663871"/>
            <a:ext cx="8572500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1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ESPECÍFICOS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500" y="1863896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00113" y="1856752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Analizar la especificación técnica y definir el alcance del incremento.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2256802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00113" y="2249659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Diseñar un esquema de base de datos para registro de indicadores de condición por tipo de maquinaria.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1500" y="2649709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0113" y="2642565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Implementar el módulo de captura y registro de intervenciones en terreno.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" y="3042615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00113" y="3035471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 procesos de consolidación que relacionen mediciones históricas con eventos de falla.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4875" y="1863896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43488" y="1856752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Desarrollar un componente de análisis que proyecte la necesidad de mantención según comportamiento histórico.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14875" y="2256802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43488" y="2249659"/>
            <a:ext cx="3529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Automatizar la generación y exportación de la documentación de las órdenes de trabajo.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14875" y="2649709"/>
            <a:ext cx="3429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39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43488" y="2642565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 el funcionamiento del sistema con usuarios del área.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1500" y="200025"/>
            <a:ext cx="187462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S-11 / OBJECTIVES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9889-g3wnw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25456"/>
            <a:ext cx="8001000" cy="2714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00116"/>
            <a:ext cx="857250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spc="18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SEMANAS · 3 FASES · 8 SPRINTS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571500" y="667933"/>
            <a:ext cx="8572500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88" kern="0" dirty="0">
                <a:solidFill>
                  <a:srgbClr val="7A8284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Scrum adaptado al trabajo individual · sprints de 2 semanas · incremento funcional al cierre de cada sprint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00025"/>
            <a:ext cx="196506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S-12 / METHODOLOGY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000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EVIDENCIAS COMPROMETIDAS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5072" y="732795"/>
            <a:ext cx="7993856" cy="3950494"/>
          </a:xfrm>
          <a:prstGeom prst="rect">
            <a:avLst/>
          </a:prstGeom>
          <a:noFill/>
          <a:ln w="7144">
            <a:solidFill>
              <a:srgbClr val="2A2F3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1544" y="1825789"/>
            <a:ext cx="7300913" cy="201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01Especificación técnica y modelo de datos (ERD y script del esquema)</a:t>
            </a:r>
            <a:endParaRPr lang="en-US" sz="900" dirty="0"/>
          </a:p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02Repositorio con pipeline CI/CD</a:t>
            </a:r>
            <a:endParaRPr lang="en-US" sz="900" dirty="0"/>
          </a:p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03Gestor de órdenes de trabajo funcional</a:t>
            </a:r>
            <a:endParaRPr lang="en-US" sz="900" dirty="0"/>
          </a:p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04Sistema completo desplegado: activos · OT · mantención preventiva con autogeneración de planes · inventario · topología · consulta documental · dashboard con KPI · exportación CSV/PDF</a:t>
            </a:r>
            <a:endParaRPr lang="en-US" sz="900" dirty="0"/>
          </a:p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05Informe de pruebas y validación</a:t>
            </a:r>
            <a:endParaRPr lang="en-US" sz="900" dirty="0"/>
          </a:p>
          <a:p>
            <a:pPr algn="l" marL="342900" indent="-342900">
              <a:spcAft>
                <a:spcPts val="1125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06Documentación técnica y de usuario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00025"/>
            <a:ext cx="169359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S-13 / EVIDENCE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8907279828-ysop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719" y="1568038"/>
            <a:ext cx="2286000" cy="2286000"/>
          </a:xfrm>
          <a:prstGeom prst="rect">
            <a:avLst/>
          </a:prstGeom>
        </p:spPr>
      </p:pic>
      <p:pic>
        <p:nvPicPr>
          <p:cNvPr id="4" name="Image 1" descr="/tmp/h2p-svg-1788907279830-p0ak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169" y="1568038"/>
            <a:ext cx="214313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00115"/>
            <a:ext cx="8572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71500" y="1556318"/>
            <a:ext cx="4457700" cy="81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63" spc="-2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Prácticamente toda empresa con operación productiva tiene un área de mantención que trabaja así. La información existe pero está </a:t>
            </a:r>
            <a:pPr algn="l" indent="0" marL="0">
              <a:lnSpc>
                <a:spcPts val="1974"/>
              </a:lnSpc>
              <a:buNone/>
            </a:pPr>
            <a:r>
              <a:rPr lang="en-US" sz="1463" spc="-22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subutilizada</a:t>
            </a:r>
            <a:pPr algn="l" indent="0" marL="0">
              <a:lnSpc>
                <a:spcPts val="1974"/>
              </a:lnSpc>
              <a:buNone/>
            </a:pPr>
            <a:r>
              <a:rPr lang="en-US" sz="1463" spc="-22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463" dirty="0"/>
          </a:p>
        </p:txBody>
      </p:sp>
      <p:sp>
        <p:nvSpPr>
          <p:cNvPr id="7" name="Text 3"/>
          <p:cNvSpPr/>
          <p:nvPr/>
        </p:nvSpPr>
        <p:spPr>
          <a:xfrm>
            <a:off x="571500" y="2537021"/>
            <a:ext cx="4457700" cy="101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spc="-56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Este proyecto transforma un área que reacciona en un área que </a:t>
            </a:r>
            <a:pPr algn="l" indent="0" marL="0">
              <a:lnSpc>
                <a:spcPts val="2475"/>
              </a:lnSpc>
              <a:buNone/>
            </a:pPr>
            <a:r>
              <a:rPr lang="en-US" sz="2250" spc="-56" kern="0" dirty="0">
                <a:solidFill>
                  <a:srgbClr val="FFB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predice</a:t>
            </a:r>
            <a:pPr algn="l" indent="0" marL="0">
              <a:lnSpc>
                <a:spcPts val="2475"/>
              </a:lnSpc>
              <a:buNone/>
            </a:pPr>
            <a:r>
              <a:rPr lang="en-US" sz="2250" spc="-56" kern="0" dirty="0">
                <a:solidFill>
                  <a:srgbClr val="E8E6E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571500" y="3765746"/>
            <a:ext cx="53242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BARB · SEBASTIÁN VALDÉS ZÚÑIGA · DUOC UC · ALLOXENTRIC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200025"/>
            <a:ext cx="160315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S-14 / CLOSING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853883" y="200025"/>
            <a:ext cx="718617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7A82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APT</a:t>
            </a:r>
            <a:endParaRPr lang="en-US" sz="80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00" spc="108" kern="0" dirty="0">
                <a:solidFill>
                  <a:srgbClr val="E8E6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52073" y="4893469"/>
            <a:ext cx="59192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2" kern="0" dirty="0">
                <a:solidFill>
                  <a:srgbClr val="FFB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buNone/>
            </a:pPr>
            <a:r>
              <a:rPr lang="en-US" sz="800" spc="132" kern="0" dirty="0">
                <a:solidFill>
                  <a:srgbClr val="4B5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800" spc="132" kern="0" dirty="0">
                <a:solidFill>
                  <a:srgbClr val="7A828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2026-09-08T22:41:19Z</dcterms:created>
  <dcterms:modified xsi:type="dcterms:W3CDTF">2026-09-08T22:41:19Z</dcterms:modified>
</cp:coreProperties>
</file>