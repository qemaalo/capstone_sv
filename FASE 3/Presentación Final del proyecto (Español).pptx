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3f7e2719-2a18-6c58-bcac-13d3b0b6d5c0}">
          <p14:sldIdLst>
            <p14:sldId id="256"/>
            <p14:sldId id="257"/>
          </p14:sldIdLst>
        </p14:section>
        <p14:section name="Proyecto" id="{25da4e8f-a9c3-e775-11f6-fabaaad8799c}">
          <p14:sldIdLst>
            <p14:sldId id="258"/>
            <p14:sldId id="259"/>
            <p14:sldId id="260"/>
          </p14:sldIdLst>
        </p14:section>
        <p14:section name="Desarrollo" id="{d7ac80a1-75a0-f289-6f26-6c85383d88ea}">
          <p14:sldIdLst>
            <p14:sldId id="261"/>
            <p14:sldId id="262"/>
          </p14:sldIdLst>
        </p14:section>
        <p14:section name="Diseño" id="{6eedfaa8-b114-0728-79f6-45ba4d6117b5}">
          <p14:sldIdLst>
            <p14:sldId id="263"/>
            <p14:sldId id="264"/>
            <p14:sldId id="265"/>
            <p14:sldId id="266"/>
          </p14:sldIdLst>
        </p14:section>
        <p14:section name="Resultados" id="{a993ae4d-92db-ef80-10d0-f480721c8492}">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Presentarse y presentar Barb en una frase: un sistema de gestión predictiva de mantención desarrollado en Alloxentric. Mi parte es la integración multi-ERP: traer el historial de fallas desde los ERP de los clientes y dejarlo en un formato único para predecir. El diagrama de la derecha resume el proyecto en cuatro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desde el inicio que el proyecto es individual y que trabajo dentro de un producto que ya existe. Asumo todos los roles técnicos; Alloxentric actúa como dueño del producto y valida cada incremento.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de fondo no es la falta de datos, sino que están dispersos. Las empresas ya registran su mantención en un ERP. La propuesta es ir a buscar esos datos donde están, en vez de pedirle al cliente que cambie de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el objetivo general en impacto y medio. Cada objetivo específico empieza con un verbo y es una meta de ingeniería, no una funcionalidad. El orden sigue la dependencia: primero el modelo, después la ingesta y al final los indicadores.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tarjetas blancas son lo que entrego. Las dos grises dejan claro lo que no entrego y por qué. La falta de un ERP real se resuelve con una fuente simulada que imita SAP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fue pertinente porque el alcance cambió a mitad de camino y el enfoque iterativo permitió replanificar sin perder el trabajo hecho. La definición de terminado asegura la calidad de cada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actividades E son las dos del plan original que se mantuvieron; las A son las del plan ajustado. La columna de la derecha muestra el estado a la fecha: E1 a A6 cumplidas, A7 en curso y A8 a A9 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de arriba hacia abajo. Arriba, la interfaz que usa el cliente: el selector y la pantalla de gestión de conectores. Debajo, el backend, que controla quién puede hacer qué y guarda cifradas las credenciales de cada ERP. La capa de integración es el aporte central: cada ERP tiene su propio conector y es el único lugar que conoce ese ERP. La capa de datos sigue el patrón bronce, plata y oro: el dato crudo, el modelo canónico de fallas y los indicadores. Abajo, las fuentes externas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de partida: el modelo de datos original de Barb, organizado en nueve módulos. Cubre autenticación, plantas y máquinas, documentación, chat, diagnóstico, órdenes de trabajo, inventario, topología y mantención preventiva. Lo que no tenía era una forma de recibir datos desde sistemas externos ni un registro de fallas pensado para predecir.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quedó. En ámbar, las nueve tablas nuevas. CONECTOR_ERP guarda la configuración de cada ERP con credenciales cifradas; MAPEO_CODIGO traduce sus códigos; MAQUINA_ORIGEN vincula la máquina externa con la de Barb. LOTE_INGESTA, INGESTA_CRUDA y RECHAZO_INGESTA dejan la carga trazable. EVENTO_FALLA es la tabla central: una fila por falla, con su modo, su causa y su origen. En azul, MAQUINA y ORDEN_TRABAJO solo recibieron columnas opcionales. La migración se ejecutó dos veces sobre el esquema real sin errores ni duplicados.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eligieron tecnologías nuevas: el módulo se integra al stack que Barb ya usa. La IA del producto (DeepSeek, en la consulta documental y el diagnóstico) consume los datos que este módulo consolida.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demo en vivo, seguir los cuatro puntos en orden. Si no, usar la maqueta de la izquierda: muestra el botón del selector y la lista con los tres estados posibles de un conector. Tener la consulta de EVENTO_FALLA preparada de antemano.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por los números: nueve tablas nuevas, migración probada dos veces y cero cambios destructivos sobre un sistema en uso. Luego recorrer los entregables. Cuatro objetivos están cumplidos; el cálculo de MTBF y MTTR está en curso y la validación final es la última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cada obstáculo con su respuesta concreta. El más relevante es el cambio de alcance: se resolvió acotando el plan al requerimiento asignado. El segundo es no tener un ERP real, resuelto con una fuente simulada y un contrato común para todos los conectores.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mejora más importante es el modelo predictivo: este proyecto deja los datos en el formato que ese modelo necesita. El mapeo asistido por IA conecta con la capacidad de IA que Barb ya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lo demostrado, no con promesas. Repetir la idea central: el área de mantención ya tiene los datos para anticipar fallas; este proyecto los saca del ERP y los deja listos para usarse. Luego abrir las preguntas de la comisión.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256032"/>
            <a:ext cx="548640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PROYECTO “BARB”</a:t>
            </a:r>
            <a:endParaRPr lang="en-US" sz="1100" dirty="0"/>
          </a:p>
        </p:txBody>
      </p:sp>
      <p:sp>
        <p:nvSpPr>
          <p:cNvPr id="3" name="Shape 1"/>
          <p:cNvSpPr/>
          <p:nvPr/>
        </p:nvSpPr>
        <p:spPr>
          <a:xfrm>
            <a:off x="9692640" y="182880"/>
            <a:ext cx="1947672" cy="512064"/>
          </a:xfrm>
          <a:prstGeom prst="rect">
            <a:avLst>
              <a:gd name="adj" fmla="val 10714"/>
            </a:avLst>
          </a:prstGeom>
          <a:solidFill>
            <a:schemeClr val="bg1"/>
          </a:solidFill>
          <a:ln/>
        </p:spPr>
      </p:sp>
      <p:pic>
        <p:nvPicPr>
          <p:cNvPr id="4" name="Image 0" descr="preencoded.png">    </p:cNvPr>
          <p:cNvPicPr>
            <a:picLocks noChangeAspect="1"/>
          </p:cNvPicPr>
          <p:nvPr/>
        </p:nvPicPr>
        <p:blipFill>
          <a:blip r:embed="rId1"/>
          <a:stretch>
            <a:fillRect/>
          </a:stretch>
        </p:blipFill>
        <p:spPr>
          <a:xfrm>
            <a:off x="9765792" y="228600"/>
            <a:ext cx="1801368" cy="448056"/>
          </a:xfrm>
          <a:prstGeom prst="rect">
            <a:avLst/>
          </a:prstGeom>
        </p:spPr>
      </p:pic>
      <p:sp>
        <p:nvSpPr>
          <p:cNvPr id="5" name="Text 2"/>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Barb · Presentación final Capstone · Ingeniería en Informática · Duoc UC</a:t>
            </a:r>
            <a:endParaRPr lang="en-US" sz="1000" dirty="0"/>
          </a:p>
        </p:txBody>
      </p:sp>
      <p:sp>
        <p:nvSpPr>
          <p:cNvPr id="6" name="Text 3"/>
          <p:cNvSpPr/>
          <p:nvPr>
            <p:ph idx="104" type="title" hasCustomPrompt="1"/>
          </p:nvPr>
        </p:nvSpPr>
        <p:spPr>
          <a:xfrm>
            <a:off x="548640" y="566928"/>
            <a:ext cx="896112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7" name="Text 3"/>
          <p:cNvSpPr/>
          <p:nvPr>
            <p:ph idx="105" type="body" hasCustomPrompt="1"/>
          </p:nvPr>
        </p:nvSpPr>
        <p:spPr>
          <a:xfrm>
            <a:off x="548640" y="1188720"/>
            <a:ext cx="11064240" cy="384048"/>
          </a:xfrm>
          <a:prstGeom prst="rect">
            <a:avLst/>
          </a:prstGeom>
          <a:noFill/>
          <a:ln/>
        </p:spPr>
        <p:txBody>
          <a:bodyPr wrap="square" rtlCol="0"/>
          <a:lstStyle>
            <a:lvl1pPr indent="0" marL="0">
              <a:buNone/>
              <a:defRPr lang="en-US" sz="1500" dirty="0">
                <a:solidFill>
                  <a:schemeClr val="accent4"/>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3.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jpe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6400800"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PROYECTO APT · PRESENTACIÓN FINAL CAPSTONE</a:t>
            </a:r>
            <a:endParaRPr lang="en-US" sz="1200" dirty="0"/>
          </a:p>
        </p:txBody>
      </p:sp>
      <p:sp>
        <p:nvSpPr>
          <p:cNvPr id="3" name="Text 1"/>
          <p:cNvSpPr txBox="1"/>
          <p:nvPr/>
        </p:nvSpPr>
        <p:spPr>
          <a:xfrm>
            <a:off x="731520" y="1463040"/>
            <a:ext cx="6400800" cy="1097280"/>
          </a:xfrm>
          <a:prstGeom prst="rect">
            <a:avLst/>
          </a:prstGeom>
          <a:noFill/>
          <a:ln/>
        </p:spPr>
        <p:txBody>
          <a:bodyPr wrap="square" lIns="0" tIns="0" rIns="0" bIns="0" rtlCol="0" anchor="ctr"/>
          <a:lstStyle/>
          <a:p>
            <a:pPr indent="0" marL="0">
              <a:buNone/>
            </a:pPr>
            <a:r>
              <a:rPr lang="en-US" sz="6600" b="1" dirty="0">
                <a:solidFill>
                  <a:schemeClr val="bg1"/>
                </a:solidFill>
              </a:rPr>
              <a:t>Barb</a:t>
            </a:r>
            <a:endParaRPr lang="en-US" sz="6600" dirty="0"/>
          </a:p>
        </p:txBody>
      </p:sp>
      <p:sp>
        <p:nvSpPr>
          <p:cNvPr id="4" name="Text 2"/>
          <p:cNvSpPr txBox="1"/>
          <p:nvPr/>
        </p:nvSpPr>
        <p:spPr>
          <a:xfrm>
            <a:off x="731520" y="2651760"/>
            <a:ext cx="6035040" cy="822960"/>
          </a:xfrm>
          <a:prstGeom prst="rect">
            <a:avLst/>
          </a:prstGeom>
          <a:noFill/>
          <a:ln/>
        </p:spPr>
        <p:txBody>
          <a:bodyPr wrap="square" lIns="0" tIns="0" rIns="0" bIns="0" rtlCol="0" anchor="t"/>
          <a:lstStyle/>
          <a:p>
            <a:pPr indent="0" marL="0">
              <a:buNone/>
            </a:pPr>
            <a:r>
              <a:rPr lang="en-US" sz="2000" dirty="0">
                <a:solidFill>
                  <a:srgbClr val="DCE3EA"/>
                </a:solidFill>
              </a:rPr>
              <a:t>Integración multi-ERP para la gestión predictiva de mantención industrial</a:t>
            </a:r>
            <a:endParaRPr lang="en-US" sz="2000" dirty="0"/>
          </a:p>
        </p:txBody>
      </p:sp>
      <p:sp>
        <p:nvSpPr>
          <p:cNvPr id="5" name="Text 3"/>
          <p:cNvSpPr txBox="1"/>
          <p:nvPr/>
        </p:nvSpPr>
        <p:spPr>
          <a:xfrm>
            <a:off x="731520" y="3886200"/>
            <a:ext cx="2926080" cy="256032"/>
          </a:xfrm>
          <a:prstGeom prst="rect">
            <a:avLst/>
          </a:prstGeom>
          <a:noFill/>
          <a:ln/>
        </p:spPr>
        <p:txBody>
          <a:bodyPr wrap="square" lIns="0" tIns="0" rIns="0" bIns="0" rtlCol="0" anchor="t"/>
          <a:lstStyle/>
          <a:p>
            <a:pPr indent="0" marL="0">
              <a:buNone/>
            </a:pPr>
            <a:r>
              <a:rPr lang="en-US" sz="1000" b="1" spc="200" kern="0" dirty="0">
                <a:solidFill>
                  <a:schemeClr val="accent1"/>
                </a:solidFill>
              </a:rPr>
              <a:t>AUTOR</a:t>
            </a:r>
            <a:endParaRPr lang="en-US" sz="1000" dirty="0"/>
          </a:p>
        </p:txBody>
      </p:sp>
      <p:sp>
        <p:nvSpPr>
          <p:cNvPr id="6" name="Text 4"/>
          <p:cNvSpPr txBox="1"/>
          <p:nvPr/>
        </p:nvSpPr>
        <p:spPr>
          <a:xfrm>
            <a:off x="731520" y="4160520"/>
            <a:ext cx="2926080" cy="320040"/>
          </a:xfrm>
          <a:prstGeom prst="rect">
            <a:avLst/>
          </a:prstGeom>
          <a:noFill/>
          <a:ln/>
        </p:spPr>
        <p:txBody>
          <a:bodyPr wrap="square" lIns="0" tIns="0" rIns="0" bIns="0" rtlCol="0" anchor="t"/>
          <a:lstStyle/>
          <a:p>
            <a:pPr indent="0" marL="0">
              <a:buNone/>
            </a:pPr>
            <a:r>
              <a:rPr lang="en-US" sz="1500" dirty="0">
                <a:solidFill>
                  <a:schemeClr val="bg1"/>
                </a:solidFill>
              </a:rPr>
              <a:t>Sebastián Valdés Zúñiga</a:t>
            </a:r>
            <a:endParaRPr lang="en-US" sz="1500" dirty="0"/>
          </a:p>
        </p:txBody>
      </p:sp>
      <p:sp>
        <p:nvSpPr>
          <p:cNvPr id="7" name="Text 5"/>
          <p:cNvSpPr txBox="1"/>
          <p:nvPr/>
        </p:nvSpPr>
        <p:spPr>
          <a:xfrm>
            <a:off x="3840480" y="3886200"/>
            <a:ext cx="2926080" cy="256032"/>
          </a:xfrm>
          <a:prstGeom prst="rect">
            <a:avLst/>
          </a:prstGeom>
          <a:noFill/>
          <a:ln/>
        </p:spPr>
        <p:txBody>
          <a:bodyPr wrap="square" lIns="0" tIns="0" rIns="0" bIns="0" rtlCol="0" anchor="t"/>
          <a:lstStyle/>
          <a:p>
            <a:pPr indent="0" marL="0">
              <a:buNone/>
            </a:pPr>
            <a:r>
              <a:rPr lang="en-US" sz="1000" b="1" spc="200" kern="0" dirty="0">
                <a:solidFill>
                  <a:schemeClr val="accent1"/>
                </a:solidFill>
              </a:rPr>
              <a:t>CARRERA</a:t>
            </a:r>
            <a:endParaRPr lang="en-US" sz="1000" dirty="0"/>
          </a:p>
        </p:txBody>
      </p:sp>
      <p:sp>
        <p:nvSpPr>
          <p:cNvPr id="8" name="Text 6"/>
          <p:cNvSpPr txBox="1"/>
          <p:nvPr/>
        </p:nvSpPr>
        <p:spPr>
          <a:xfrm>
            <a:off x="3840480" y="4160520"/>
            <a:ext cx="2926080" cy="320040"/>
          </a:xfrm>
          <a:prstGeom prst="rect">
            <a:avLst/>
          </a:prstGeom>
          <a:noFill/>
          <a:ln/>
        </p:spPr>
        <p:txBody>
          <a:bodyPr wrap="square" lIns="0" tIns="0" rIns="0" bIns="0" rtlCol="0" anchor="t"/>
          <a:lstStyle/>
          <a:p>
            <a:pPr indent="0" marL="0">
              <a:buNone/>
            </a:pPr>
            <a:r>
              <a:rPr lang="en-US" sz="1500" dirty="0">
                <a:solidFill>
                  <a:schemeClr val="bg1"/>
                </a:solidFill>
              </a:rPr>
              <a:t>Ingeniería en Informática</a:t>
            </a:r>
            <a:endParaRPr lang="en-US" sz="1500" dirty="0"/>
          </a:p>
        </p:txBody>
      </p:sp>
      <p:sp>
        <p:nvSpPr>
          <p:cNvPr id="9" name="Text 7"/>
          <p:cNvSpPr txBox="1"/>
          <p:nvPr/>
        </p:nvSpPr>
        <p:spPr>
          <a:xfrm>
            <a:off x="731520" y="4663440"/>
            <a:ext cx="2926080" cy="256032"/>
          </a:xfrm>
          <a:prstGeom prst="rect">
            <a:avLst/>
          </a:prstGeom>
          <a:noFill/>
          <a:ln/>
        </p:spPr>
        <p:txBody>
          <a:bodyPr wrap="square" lIns="0" tIns="0" rIns="0" bIns="0" rtlCol="0" anchor="t"/>
          <a:lstStyle/>
          <a:p>
            <a:pPr indent="0" marL="0">
              <a:buNone/>
            </a:pPr>
            <a:r>
              <a:rPr lang="en-US" sz="1000" b="1" spc="200" kern="0" dirty="0">
                <a:solidFill>
                  <a:schemeClr val="accent1"/>
                </a:solidFill>
              </a:rPr>
              <a:t>ORGANIZACIÓN</a:t>
            </a:r>
            <a:endParaRPr lang="en-US" sz="1000" dirty="0"/>
          </a:p>
        </p:txBody>
      </p:sp>
      <p:sp>
        <p:nvSpPr>
          <p:cNvPr id="10" name="Text 8"/>
          <p:cNvSpPr txBox="1"/>
          <p:nvPr/>
        </p:nvSpPr>
        <p:spPr>
          <a:xfrm>
            <a:off x="731520" y="4937760"/>
            <a:ext cx="2926080" cy="320040"/>
          </a:xfrm>
          <a:prstGeom prst="rect">
            <a:avLst/>
          </a:prstGeom>
          <a:noFill/>
          <a:ln/>
        </p:spPr>
        <p:txBody>
          <a:bodyPr wrap="square" lIns="0" tIns="0" rIns="0" bIns="0" rtlCol="0" anchor="t"/>
          <a:lstStyle/>
          <a:p>
            <a:pPr indent="0" marL="0">
              <a:buNone/>
            </a:pPr>
            <a:r>
              <a:rPr lang="en-US" sz="1500" dirty="0">
                <a:solidFill>
                  <a:schemeClr val="bg1"/>
                </a:solidFill>
              </a:rPr>
              <a:t>Desarrollado en Alloxentric</a:t>
            </a:r>
            <a:endParaRPr lang="en-US" sz="1500" dirty="0"/>
          </a:p>
        </p:txBody>
      </p:sp>
      <p:sp>
        <p:nvSpPr>
          <p:cNvPr id="11" name="Text 9"/>
          <p:cNvSpPr txBox="1"/>
          <p:nvPr/>
        </p:nvSpPr>
        <p:spPr>
          <a:xfrm>
            <a:off x="3840480" y="4663440"/>
            <a:ext cx="2926080" cy="256032"/>
          </a:xfrm>
          <a:prstGeom prst="rect">
            <a:avLst/>
          </a:prstGeom>
          <a:noFill/>
          <a:ln/>
        </p:spPr>
        <p:txBody>
          <a:bodyPr wrap="square" lIns="0" tIns="0" rIns="0" bIns="0" rtlCol="0" anchor="t"/>
          <a:lstStyle/>
          <a:p>
            <a:pPr indent="0" marL="0">
              <a:buNone/>
            </a:pPr>
            <a:r>
              <a:rPr lang="en-US" sz="1000" b="1" spc="200" kern="0" dirty="0">
                <a:solidFill>
                  <a:schemeClr val="accent1"/>
                </a:solidFill>
              </a:rPr>
              <a:t>SEDE</a:t>
            </a:r>
            <a:endParaRPr lang="en-US" sz="1000" dirty="0"/>
          </a:p>
        </p:txBody>
      </p:sp>
      <p:sp>
        <p:nvSpPr>
          <p:cNvPr id="12" name="Text 10"/>
          <p:cNvSpPr txBox="1"/>
          <p:nvPr/>
        </p:nvSpPr>
        <p:spPr>
          <a:xfrm>
            <a:off x="3840480" y="4937760"/>
            <a:ext cx="2926080" cy="320040"/>
          </a:xfrm>
          <a:prstGeom prst="rect">
            <a:avLst/>
          </a:prstGeom>
          <a:noFill/>
          <a:ln/>
        </p:spPr>
        <p:txBody>
          <a:bodyPr wrap="square" lIns="0" tIns="0" rIns="0" bIns="0" rtlCol="0" anchor="t"/>
          <a:lstStyle/>
          <a:p>
            <a:pPr indent="0" marL="0">
              <a:buNone/>
            </a:pPr>
            <a:r>
              <a:rPr lang="en-US" sz="1500" dirty="0">
                <a:solidFill>
                  <a:schemeClr val="bg1"/>
                </a:solidFill>
              </a:rPr>
              <a:t>Duoc UC San Joaquín · 2026</a:t>
            </a:r>
            <a:endParaRPr lang="en-US" sz="1500" dirty="0"/>
          </a:p>
        </p:txBody>
      </p:sp>
      <p:sp>
        <p:nvSpPr>
          <p:cNvPr id="13" name="Shape 11"/>
          <p:cNvSpPr/>
          <p:nvPr/>
        </p:nvSpPr>
        <p:spPr>
          <a:xfrm>
            <a:off x="731520" y="5715000"/>
            <a:ext cx="2194560" cy="566928"/>
          </a:xfrm>
          <a:prstGeom prst="roundRect">
            <a:avLst>
              <a:gd name="adj" fmla="val 9677"/>
            </a:avLst>
          </a:prstGeom>
          <a:solidFill>
            <a:schemeClr val="bg1"/>
          </a:solidFill>
          <a:ln/>
        </p:spPr>
      </p:sp>
      <p:pic>
        <p:nvPicPr>
          <p:cNvPr id="14" name="Image 0" descr="preencoded.png">    </p:cNvPr>
          <p:cNvPicPr>
            <a:picLocks noChangeAspect="1"/>
          </p:cNvPicPr>
          <p:nvPr/>
        </p:nvPicPr>
        <p:blipFill>
          <a:blip r:embed="rId1"/>
          <a:stretch>
            <a:fillRect/>
          </a:stretch>
        </p:blipFill>
        <p:spPr>
          <a:xfrm>
            <a:off x="822960" y="5769864"/>
            <a:ext cx="2011680" cy="457200"/>
          </a:xfrm>
          <a:prstGeom prst="rect">
            <a:avLst/>
          </a:prstGeom>
        </p:spPr>
      </p:pic>
      <p:sp>
        <p:nvSpPr>
          <p:cNvPr id="15" name="Shape 12"/>
          <p:cNvSpPr/>
          <p:nvPr/>
        </p:nvSpPr>
        <p:spPr>
          <a:xfrm>
            <a:off x="7680960" y="1051560"/>
            <a:ext cx="3749040" cy="868680"/>
          </a:xfrm>
          <a:prstGeom prst="roundRect">
            <a:avLst>
              <a:gd name="adj" fmla="val 8421"/>
            </a:avLst>
          </a:prstGeom>
          <a:solidFill>
            <a:srgbClr val="223040"/>
          </a:solidFill>
          <a:ln w="12700">
            <a:solidFill>
              <a:srgbClr val="34465A"/>
            </a:solidFill>
            <a:prstDash val="solid"/>
          </a:ln>
        </p:spPr>
      </p:sp>
      <p:pic>
        <p:nvPicPr>
          <p:cNvPr id="16" name="Image 1" descr="preencoded.png">    </p:cNvPr>
          <p:cNvPicPr>
            <a:picLocks noChangeAspect="1"/>
          </p:cNvPicPr>
          <p:nvPr/>
        </p:nvPicPr>
        <p:blipFill>
          <a:blip r:embed="rId2"/>
          <a:stretch>
            <a:fillRect/>
          </a:stretch>
        </p:blipFill>
        <p:spPr>
          <a:xfrm>
            <a:off x="7909560" y="1307592"/>
            <a:ext cx="365760" cy="365760"/>
          </a:xfrm>
          <a:prstGeom prst="rect">
            <a:avLst/>
          </a:prstGeom>
        </p:spPr>
      </p:pic>
      <p:sp>
        <p:nvSpPr>
          <p:cNvPr id="17" name="Text 13"/>
          <p:cNvSpPr txBox="1"/>
          <p:nvPr/>
        </p:nvSpPr>
        <p:spPr>
          <a:xfrm>
            <a:off x="8503920" y="1179576"/>
            <a:ext cx="2834640" cy="347472"/>
          </a:xfrm>
          <a:prstGeom prst="rect">
            <a:avLst/>
          </a:prstGeom>
          <a:noFill/>
          <a:ln/>
        </p:spPr>
        <p:txBody>
          <a:bodyPr wrap="square" lIns="0" tIns="0" rIns="0" bIns="0" rtlCol="0" anchor="t"/>
          <a:lstStyle/>
          <a:p>
            <a:pPr indent="0" marL="0">
              <a:buNone/>
            </a:pPr>
            <a:r>
              <a:rPr lang="en-US" sz="1600" b="1" dirty="0">
                <a:solidFill>
                  <a:schemeClr val="bg1"/>
                </a:solidFill>
              </a:rPr>
              <a:t>ERP del cliente</a:t>
            </a:r>
            <a:endParaRPr lang="en-US" sz="1600" dirty="0"/>
          </a:p>
        </p:txBody>
      </p:sp>
      <p:sp>
        <p:nvSpPr>
          <p:cNvPr id="18" name="Text 14"/>
          <p:cNvSpPr txBox="1"/>
          <p:nvPr/>
        </p:nvSpPr>
        <p:spPr>
          <a:xfrm>
            <a:off x="8503920" y="1508760"/>
            <a:ext cx="2834640" cy="292608"/>
          </a:xfrm>
          <a:prstGeom prst="rect">
            <a:avLst/>
          </a:prstGeom>
          <a:noFill/>
          <a:ln/>
        </p:spPr>
        <p:txBody>
          <a:bodyPr wrap="square" lIns="0" tIns="0" rIns="0" bIns="0" rtlCol="0" anchor="t"/>
          <a:lstStyle/>
          <a:p>
            <a:pPr indent="0" marL="0">
              <a:buNone/>
            </a:pPr>
            <a:r>
              <a:rPr lang="en-US" sz="1200" dirty="0">
                <a:solidFill>
                  <a:srgbClr val="B8C2CC"/>
                </a:solidFill>
              </a:rPr>
              <a:t>SAP PM · Oracle EAM · Fracttal · CSV</a:t>
            </a:r>
            <a:endParaRPr lang="en-US" sz="1200" dirty="0"/>
          </a:p>
        </p:txBody>
      </p:sp>
      <p:pic>
        <p:nvPicPr>
          <p:cNvPr id="19" name="Image 2" descr="preencoded.png">    </p:cNvPr>
          <p:cNvPicPr>
            <a:picLocks noChangeAspect="1"/>
          </p:cNvPicPr>
          <p:nvPr/>
        </p:nvPicPr>
        <p:blipFill>
          <a:blip r:embed="rId3"/>
          <a:stretch>
            <a:fillRect/>
          </a:stretch>
        </p:blipFill>
        <p:spPr>
          <a:xfrm>
            <a:off x="9418320" y="1965960"/>
            <a:ext cx="274320" cy="274320"/>
          </a:xfrm>
          <a:prstGeom prst="rect">
            <a:avLst/>
          </a:prstGeom>
        </p:spPr>
      </p:pic>
      <p:sp>
        <p:nvSpPr>
          <p:cNvPr id="20" name="Shape 15"/>
          <p:cNvSpPr/>
          <p:nvPr/>
        </p:nvSpPr>
        <p:spPr>
          <a:xfrm>
            <a:off x="7680960" y="2286000"/>
            <a:ext cx="3749040" cy="868680"/>
          </a:xfrm>
          <a:prstGeom prst="roundRect">
            <a:avLst>
              <a:gd name="adj" fmla="val 8421"/>
            </a:avLst>
          </a:prstGeom>
          <a:solidFill>
            <a:srgbClr val="223040"/>
          </a:solidFill>
          <a:ln w="12700">
            <a:solidFill>
              <a:srgbClr val="34465A"/>
            </a:solidFill>
            <a:prstDash val="solid"/>
          </a:ln>
        </p:spPr>
      </p:sp>
      <p:pic>
        <p:nvPicPr>
          <p:cNvPr id="21" name="Image 3" descr="preencoded.png">    </p:cNvPr>
          <p:cNvPicPr>
            <a:picLocks noChangeAspect="1"/>
          </p:cNvPicPr>
          <p:nvPr/>
        </p:nvPicPr>
        <p:blipFill>
          <a:blip r:embed="rId4"/>
          <a:stretch>
            <a:fillRect/>
          </a:stretch>
        </p:blipFill>
        <p:spPr>
          <a:xfrm>
            <a:off x="7909560" y="2542032"/>
            <a:ext cx="365760" cy="365760"/>
          </a:xfrm>
          <a:prstGeom prst="rect">
            <a:avLst/>
          </a:prstGeom>
        </p:spPr>
      </p:pic>
      <p:sp>
        <p:nvSpPr>
          <p:cNvPr id="22" name="Text 16"/>
          <p:cNvSpPr txBox="1"/>
          <p:nvPr/>
        </p:nvSpPr>
        <p:spPr>
          <a:xfrm>
            <a:off x="8503920" y="2414016"/>
            <a:ext cx="2834640" cy="347472"/>
          </a:xfrm>
          <a:prstGeom prst="rect">
            <a:avLst/>
          </a:prstGeom>
          <a:noFill/>
          <a:ln/>
        </p:spPr>
        <p:txBody>
          <a:bodyPr wrap="square" lIns="0" tIns="0" rIns="0" bIns="0" rtlCol="0" anchor="t"/>
          <a:lstStyle/>
          <a:p>
            <a:pPr indent="0" marL="0">
              <a:buNone/>
            </a:pPr>
            <a:r>
              <a:rPr lang="en-US" sz="1600" b="1" dirty="0">
                <a:solidFill>
                  <a:schemeClr val="bg1"/>
                </a:solidFill>
              </a:rPr>
              <a:t>Conector</a:t>
            </a:r>
            <a:endParaRPr lang="en-US" sz="1600" dirty="0"/>
          </a:p>
        </p:txBody>
      </p:sp>
      <p:sp>
        <p:nvSpPr>
          <p:cNvPr id="23" name="Text 17"/>
          <p:cNvSpPr txBox="1"/>
          <p:nvPr/>
        </p:nvSpPr>
        <p:spPr>
          <a:xfrm>
            <a:off x="8503920" y="2743200"/>
            <a:ext cx="2834640" cy="292608"/>
          </a:xfrm>
          <a:prstGeom prst="rect">
            <a:avLst/>
          </a:prstGeom>
          <a:noFill/>
          <a:ln/>
        </p:spPr>
        <p:txBody>
          <a:bodyPr wrap="square" lIns="0" tIns="0" rIns="0" bIns="0" rtlCol="0" anchor="t"/>
          <a:lstStyle/>
          <a:p>
            <a:pPr indent="0" marL="0">
              <a:buNone/>
            </a:pPr>
            <a:r>
              <a:rPr lang="en-US" sz="1200" dirty="0">
                <a:solidFill>
                  <a:srgbClr val="B8C2CC"/>
                </a:solidFill>
              </a:rPr>
              <a:t>Un módulo por ERP</a:t>
            </a:r>
            <a:endParaRPr lang="en-US" sz="1200" dirty="0"/>
          </a:p>
        </p:txBody>
      </p:sp>
      <p:pic>
        <p:nvPicPr>
          <p:cNvPr id="24" name="Image 4" descr="preencoded.png">    </p:cNvPr>
          <p:cNvPicPr>
            <a:picLocks noChangeAspect="1"/>
          </p:cNvPicPr>
          <p:nvPr/>
        </p:nvPicPr>
        <p:blipFill>
          <a:blip r:embed="rId5"/>
          <a:stretch>
            <a:fillRect/>
          </a:stretch>
        </p:blipFill>
        <p:spPr>
          <a:xfrm>
            <a:off x="9418320" y="3200400"/>
            <a:ext cx="274320" cy="274320"/>
          </a:xfrm>
          <a:prstGeom prst="rect">
            <a:avLst/>
          </a:prstGeom>
        </p:spPr>
      </p:pic>
      <p:sp>
        <p:nvSpPr>
          <p:cNvPr id="25" name="Shape 18"/>
          <p:cNvSpPr/>
          <p:nvPr/>
        </p:nvSpPr>
        <p:spPr>
          <a:xfrm>
            <a:off x="7680960" y="3520440"/>
            <a:ext cx="3749040" cy="868680"/>
          </a:xfrm>
          <a:prstGeom prst="roundRect">
            <a:avLst>
              <a:gd name="adj" fmla="val 8421"/>
            </a:avLst>
          </a:prstGeom>
          <a:solidFill>
            <a:schemeClr val="accent1"/>
          </a:solidFill>
          <a:ln w="12700">
            <a:solidFill>
              <a:schemeClr val="accent1"/>
            </a:solidFill>
            <a:prstDash val="solid"/>
          </a:ln>
        </p:spPr>
      </p:sp>
      <p:pic>
        <p:nvPicPr>
          <p:cNvPr id="26" name="Image 5" descr="preencoded.png">    </p:cNvPr>
          <p:cNvPicPr>
            <a:picLocks noChangeAspect="1"/>
          </p:cNvPicPr>
          <p:nvPr/>
        </p:nvPicPr>
        <p:blipFill>
          <a:blip r:embed="rId6"/>
          <a:stretch>
            <a:fillRect/>
          </a:stretch>
        </p:blipFill>
        <p:spPr>
          <a:xfrm>
            <a:off x="7909560" y="3776472"/>
            <a:ext cx="365760" cy="365760"/>
          </a:xfrm>
          <a:prstGeom prst="rect">
            <a:avLst/>
          </a:prstGeom>
        </p:spPr>
      </p:pic>
      <p:sp>
        <p:nvSpPr>
          <p:cNvPr id="27" name="Text 19"/>
          <p:cNvSpPr txBox="1"/>
          <p:nvPr/>
        </p:nvSpPr>
        <p:spPr>
          <a:xfrm>
            <a:off x="8503920" y="3648456"/>
            <a:ext cx="2834640" cy="347472"/>
          </a:xfrm>
          <a:prstGeom prst="rect">
            <a:avLst/>
          </a:prstGeom>
          <a:noFill/>
          <a:ln/>
        </p:spPr>
        <p:txBody>
          <a:bodyPr wrap="square" lIns="0" tIns="0" rIns="0" bIns="0" rtlCol="0" anchor="t"/>
          <a:lstStyle/>
          <a:p>
            <a:pPr indent="0" marL="0">
              <a:buNone/>
            </a:pPr>
            <a:r>
              <a:rPr lang="en-US" sz="1600" b="1" dirty="0">
                <a:solidFill>
                  <a:schemeClr val="tx2"/>
                </a:solidFill>
              </a:rPr>
              <a:t>Modelo canónico</a:t>
            </a:r>
            <a:endParaRPr lang="en-US" sz="1600" dirty="0"/>
          </a:p>
        </p:txBody>
      </p:sp>
      <p:sp>
        <p:nvSpPr>
          <p:cNvPr id="28" name="Text 20"/>
          <p:cNvSpPr txBox="1"/>
          <p:nvPr/>
        </p:nvSpPr>
        <p:spPr>
          <a:xfrm>
            <a:off x="8503920" y="3977640"/>
            <a:ext cx="2834640" cy="292608"/>
          </a:xfrm>
          <a:prstGeom prst="rect">
            <a:avLst/>
          </a:prstGeom>
          <a:noFill/>
          <a:ln/>
        </p:spPr>
        <p:txBody>
          <a:bodyPr wrap="square" lIns="0" tIns="0" rIns="0" bIns="0" rtlCol="0" anchor="t"/>
          <a:lstStyle/>
          <a:p>
            <a:pPr indent="0" marL="0">
              <a:buNone/>
            </a:pPr>
            <a:r>
              <a:rPr lang="en-US" sz="1200" dirty="0">
                <a:solidFill>
                  <a:schemeClr val="tx2"/>
                </a:solidFill>
              </a:rPr>
              <a:t>Fallas en un formato único</a:t>
            </a:r>
            <a:endParaRPr lang="en-US" sz="1200" dirty="0"/>
          </a:p>
        </p:txBody>
      </p:sp>
      <p:pic>
        <p:nvPicPr>
          <p:cNvPr id="29" name="Image 6" descr="preencoded.png">    </p:cNvPr>
          <p:cNvPicPr>
            <a:picLocks noChangeAspect="1"/>
          </p:cNvPicPr>
          <p:nvPr/>
        </p:nvPicPr>
        <p:blipFill>
          <a:blip r:embed="rId7"/>
          <a:stretch>
            <a:fillRect/>
          </a:stretch>
        </p:blipFill>
        <p:spPr>
          <a:xfrm>
            <a:off x="9418320" y="4434840"/>
            <a:ext cx="274320" cy="274320"/>
          </a:xfrm>
          <a:prstGeom prst="rect">
            <a:avLst/>
          </a:prstGeom>
        </p:spPr>
      </p:pic>
      <p:sp>
        <p:nvSpPr>
          <p:cNvPr id="30" name="Shape 21"/>
          <p:cNvSpPr/>
          <p:nvPr/>
        </p:nvSpPr>
        <p:spPr>
          <a:xfrm>
            <a:off x="7680960" y="4754880"/>
            <a:ext cx="3749040" cy="868680"/>
          </a:xfrm>
          <a:prstGeom prst="roundRect">
            <a:avLst>
              <a:gd name="adj" fmla="val 8421"/>
            </a:avLst>
          </a:prstGeom>
          <a:solidFill>
            <a:srgbClr val="223040"/>
          </a:solidFill>
          <a:ln w="12700">
            <a:solidFill>
              <a:srgbClr val="34465A"/>
            </a:solidFill>
            <a:prstDash val="solid"/>
          </a:ln>
        </p:spPr>
      </p:sp>
      <p:pic>
        <p:nvPicPr>
          <p:cNvPr id="31" name="Image 7" descr="preencoded.png">    </p:cNvPr>
          <p:cNvPicPr>
            <a:picLocks noChangeAspect="1"/>
          </p:cNvPicPr>
          <p:nvPr/>
        </p:nvPicPr>
        <p:blipFill>
          <a:blip r:embed="rId8"/>
          <a:stretch>
            <a:fillRect/>
          </a:stretch>
        </p:blipFill>
        <p:spPr>
          <a:xfrm>
            <a:off x="7909560" y="5010912"/>
            <a:ext cx="365760" cy="365760"/>
          </a:xfrm>
          <a:prstGeom prst="rect">
            <a:avLst/>
          </a:prstGeom>
        </p:spPr>
      </p:pic>
      <p:sp>
        <p:nvSpPr>
          <p:cNvPr id="32" name="Text 22"/>
          <p:cNvSpPr txBox="1"/>
          <p:nvPr/>
        </p:nvSpPr>
        <p:spPr>
          <a:xfrm>
            <a:off x="8503920" y="4882896"/>
            <a:ext cx="2834640" cy="347472"/>
          </a:xfrm>
          <a:prstGeom prst="rect">
            <a:avLst/>
          </a:prstGeom>
          <a:noFill/>
          <a:ln/>
        </p:spPr>
        <p:txBody>
          <a:bodyPr wrap="square" lIns="0" tIns="0" rIns="0" bIns="0" rtlCol="0" anchor="t"/>
          <a:lstStyle/>
          <a:p>
            <a:pPr indent="0" marL="0">
              <a:buNone/>
            </a:pPr>
            <a:r>
              <a:rPr lang="en-US" sz="1600" b="1" dirty="0">
                <a:solidFill>
                  <a:schemeClr val="bg1"/>
                </a:solidFill>
              </a:rPr>
              <a:t>Indicadores</a:t>
            </a:r>
            <a:endParaRPr lang="en-US" sz="1600" dirty="0"/>
          </a:p>
        </p:txBody>
      </p:sp>
      <p:sp>
        <p:nvSpPr>
          <p:cNvPr id="33" name="Text 23"/>
          <p:cNvSpPr txBox="1"/>
          <p:nvPr/>
        </p:nvSpPr>
        <p:spPr>
          <a:xfrm>
            <a:off x="8503920" y="5212080"/>
            <a:ext cx="2834640" cy="292608"/>
          </a:xfrm>
          <a:prstGeom prst="rect">
            <a:avLst/>
          </a:prstGeom>
          <a:noFill/>
          <a:ln/>
        </p:spPr>
        <p:txBody>
          <a:bodyPr wrap="square" lIns="0" tIns="0" rIns="0" bIns="0" rtlCol="0" anchor="t"/>
          <a:lstStyle/>
          <a:p>
            <a:pPr indent="0" marL="0">
              <a:buNone/>
            </a:pPr>
            <a:r>
              <a:rPr lang="en-US" sz="1200" dirty="0">
                <a:solidFill>
                  <a:srgbClr val="B8C2CC"/>
                </a:solidFill>
              </a:rPr>
              <a:t>MTBF y MTTR por máquina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Integrantes del proyecto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Proyecto individual desarrollado dentro del equipo de producto de Alloxentric</a:t>
            </a:r>
            <a:endParaRPr lang="en-US" sz="1500" dirty="0"/>
          </a:p>
        </p:txBody>
      </p:sp>
      <p:sp>
        <p:nvSpPr>
          <p:cNvPr id="4" name="Shape 2"/>
          <p:cNvSpPr/>
          <p:nvPr/>
        </p:nvSpPr>
        <p:spPr>
          <a:xfrm>
            <a:off x="548640" y="1783080"/>
            <a:ext cx="6766560" cy="4343400"/>
          </a:xfrm>
          <a:prstGeom prst="roundRect">
            <a:avLst>
              <a:gd name="adj" fmla="val 1684"/>
            </a:avLst>
          </a:prstGeom>
          <a:solidFill>
            <a:schemeClr val="bg1"/>
          </a:solidFill>
          <a:ln/>
          <a:effectLst>
            <a:outerShdw sx="100000" sy="100000" kx="0" ky="0" algn="bl" rotWithShape="0" blurRad="76200" dist="25400" dir="5400000">
              <a:srgbClr val="1F2933">
                <a:alpha val="10000"/>
              </a:srgbClr>
            </a:outerShdw>
          </a:effectLst>
        </p:spPr>
      </p:sp>
      <p:sp>
        <p:nvSpPr>
          <p:cNvPr id="5" name="Shape 3"/>
          <p:cNvSpPr/>
          <p:nvPr/>
        </p:nvSpPr>
        <p:spPr>
          <a:xfrm>
            <a:off x="868680" y="2103120"/>
            <a:ext cx="914400" cy="914400"/>
          </a:xfrm>
          <a:prstGeom prst="ellipse">
            <a:avLst/>
          </a:prstGeom>
          <a:solidFill>
            <a:schemeClr val="accent1"/>
          </a:solidFill>
          <a:ln/>
        </p:spPr>
      </p:sp>
      <p:sp>
        <p:nvSpPr>
          <p:cNvPr id="6" name="Text 4"/>
          <p:cNvSpPr txBox="1"/>
          <p:nvPr/>
        </p:nvSpPr>
        <p:spPr>
          <a:xfrm>
            <a:off x="868680" y="2103120"/>
            <a:ext cx="914400" cy="914400"/>
          </a:xfrm>
          <a:prstGeom prst="rect">
            <a:avLst/>
          </a:prstGeom>
          <a:noFill/>
          <a:ln/>
        </p:spPr>
        <p:txBody>
          <a:bodyPr wrap="square" lIns="0" tIns="0" rIns="0" bIns="0" rtlCol="0" anchor="ctr"/>
          <a:lstStyle/>
          <a:p>
            <a:pPr algn="ctr" indent="0" marL="0">
              <a:buNone/>
            </a:pPr>
            <a:r>
              <a:rPr lang="en-US" sz="2600" b="1" dirty="0">
                <a:solidFill>
                  <a:schemeClr val="tx2"/>
                </a:solidFill>
              </a:rPr>
              <a:t>SV</a:t>
            </a:r>
            <a:endParaRPr lang="en-US" sz="2600" dirty="0"/>
          </a:p>
        </p:txBody>
      </p:sp>
      <p:sp>
        <p:nvSpPr>
          <p:cNvPr id="7" name="Text 5"/>
          <p:cNvSpPr txBox="1"/>
          <p:nvPr/>
        </p:nvSpPr>
        <p:spPr>
          <a:xfrm>
            <a:off x="2011680" y="2121408"/>
            <a:ext cx="5029200" cy="411480"/>
          </a:xfrm>
          <a:prstGeom prst="rect">
            <a:avLst/>
          </a:prstGeom>
          <a:noFill/>
          <a:ln/>
        </p:spPr>
        <p:txBody>
          <a:bodyPr wrap="square" lIns="0" tIns="0" rIns="0" bIns="0" rtlCol="0" anchor="t"/>
          <a:lstStyle/>
          <a:p>
            <a:pPr indent="0" marL="0">
              <a:buNone/>
            </a:pPr>
            <a:r>
              <a:rPr lang="en-US" sz="2200" b="1" dirty="0">
                <a:solidFill>
                  <a:schemeClr val="tx1"/>
                </a:solidFill>
              </a:rPr>
              <a:t>Sebastián Valdés Zúñiga</a:t>
            </a:r>
            <a:endParaRPr lang="en-US" sz="2200" dirty="0"/>
          </a:p>
        </p:txBody>
      </p:sp>
      <p:sp>
        <p:nvSpPr>
          <p:cNvPr id="8" name="Text 6"/>
          <p:cNvSpPr txBox="1"/>
          <p:nvPr/>
        </p:nvSpPr>
        <p:spPr>
          <a:xfrm>
            <a:off x="2011680" y="2578608"/>
            <a:ext cx="5029200" cy="320040"/>
          </a:xfrm>
          <a:prstGeom prst="rect">
            <a:avLst/>
          </a:prstGeom>
          <a:noFill/>
          <a:ln/>
        </p:spPr>
        <p:txBody>
          <a:bodyPr wrap="square" lIns="0" tIns="0" rIns="0" bIns="0" rtlCol="0" anchor="t"/>
          <a:lstStyle/>
          <a:p>
            <a:pPr indent="0" marL="0">
              <a:buNone/>
            </a:pPr>
            <a:r>
              <a:rPr lang="en-US" sz="1200" b="1" spc="100" kern="0" dirty="0">
                <a:solidFill>
                  <a:schemeClr val="accent6"/>
                </a:solidFill>
              </a:rPr>
              <a:t>ARQUITECTO DE DATOS · FULL STACK · QA</a:t>
            </a:r>
            <a:endParaRPr lang="en-US" sz="1200" dirty="0"/>
          </a:p>
        </p:txBody>
      </p:sp>
      <p:sp>
        <p:nvSpPr>
          <p:cNvPr id="9" name="Text 7"/>
          <p:cNvSpPr txBox="1"/>
          <p:nvPr/>
        </p:nvSpPr>
        <p:spPr>
          <a:xfrm>
            <a:off x="868680" y="3291840"/>
            <a:ext cx="6217920" cy="2697480"/>
          </a:xfrm>
          <a:prstGeom prst="rect">
            <a:avLst/>
          </a:prstGeom>
          <a:noFill/>
          <a:ln/>
        </p:spPr>
        <p:txBody>
          <a:bodyPr wrap="square" lIns="0" tIns="0" rIns="0" bIns="0" rtlCol="0" anchor="t"/>
          <a:lstStyle/>
          <a:p>
            <a:pPr marL="177800" indent="-177800">
              <a:spcAft>
                <a:spcPts val="1400"/>
              </a:spcAft>
              <a:buSzPct val="100000"/>
              <a:buChar char="•"/>
            </a:pPr>
            <a:r>
              <a:rPr lang="en-US" sz="1600" b="1" dirty="0">
                <a:solidFill>
                  <a:schemeClr val="tx1"/>
                </a:solidFill>
              </a:rPr>
              <a:t>Arquitectura: </a:t>
            </a:r>
            <a:pPr indent="0" marL="0">
              <a:buNone/>
            </a:pPr>
            <a:r>
              <a:rPr lang="en-US" sz="1600" dirty="0">
                <a:solidFill>
                  <a:schemeClr val="tx1"/>
                </a:solidFill>
              </a:rPr>
              <a:t>diseño de la ingesta por capas y del modelo canónico de fallas.</a:t>
            </a:r>
            <a:endParaRPr lang="en-US" sz="1600" dirty="0"/>
          </a:p>
          <a:p>
            <a:pPr marL="177800" indent="-177800">
              <a:spcAft>
                <a:spcPts val="1400"/>
              </a:spcAft>
              <a:buSzPct val="100000"/>
              <a:buChar char="•"/>
            </a:pPr>
            <a:r>
              <a:rPr lang="en-US" sz="1600" b="1" dirty="0">
                <a:solidFill>
                  <a:schemeClr val="tx1"/>
                </a:solidFill>
              </a:rPr>
              <a:t>Base de datos: </a:t>
            </a:r>
            <a:pPr indent="0" marL="0">
              <a:buNone/>
            </a:pPr>
            <a:r>
              <a:rPr lang="en-US" sz="1600" dirty="0">
                <a:solidFill>
                  <a:schemeClr val="tx1"/>
                </a:solidFill>
              </a:rPr>
              <a:t>extensión aditiva del esquema de Barb en PostgreSQL.</a:t>
            </a:r>
            <a:endParaRPr lang="en-US" sz="1600" dirty="0"/>
          </a:p>
          <a:p>
            <a:pPr marL="177800" indent="-177800">
              <a:spcAft>
                <a:spcPts val="1400"/>
              </a:spcAft>
              <a:buSzPct val="100000"/>
              <a:buChar char="•"/>
            </a:pPr>
            <a:r>
              <a:rPr lang="en-US" sz="1600" b="1" dirty="0">
                <a:solidFill>
                  <a:schemeClr val="tx1"/>
                </a:solidFill>
              </a:rPr>
              <a:t>Desarrollo: </a:t>
            </a:r>
            <a:pPr indent="0" marL="0">
              <a:buNone/>
            </a:pPr>
            <a:r>
              <a:rPr lang="en-US" sz="1600" dirty="0">
                <a:solidFill>
                  <a:schemeClr val="tx1"/>
                </a:solidFill>
              </a:rPr>
              <a:t>backend en FastAPI y selector de conectores en React.</a:t>
            </a:r>
            <a:endParaRPr lang="en-US" sz="1600" dirty="0"/>
          </a:p>
          <a:p>
            <a:pPr marL="177800" indent="-177800">
              <a:spcAft>
                <a:spcPts val="1400"/>
              </a:spcAft>
              <a:buSzPct val="100000"/>
              <a:buChar char="•"/>
            </a:pPr>
            <a:r>
              <a:rPr lang="en-US" sz="1600" b="1" dirty="0">
                <a:solidFill>
                  <a:schemeClr val="tx1"/>
                </a:solidFill>
              </a:rPr>
              <a:t>Calidad: </a:t>
            </a:r>
            <a:pPr indent="0" marL="0">
              <a:buNone/>
            </a:pPr>
            <a:r>
              <a:rPr lang="en-US" sz="1600" dirty="0">
                <a:solidFill>
                  <a:schemeClr val="tx1"/>
                </a:solidFill>
              </a:rPr>
              <a:t>pruebas de la migración, la ingesta y los indicadores.</a:t>
            </a:r>
            <a:endParaRPr lang="en-US" sz="1600" dirty="0"/>
          </a:p>
          <a:p>
            <a:pPr marL="177800" indent="-177800">
              <a:spcAft>
                <a:spcPts val="1400"/>
              </a:spcAft>
              <a:buSzPct val="100000"/>
              <a:buChar char="•"/>
            </a:pPr>
            <a:r>
              <a:rPr lang="en-US" sz="1600" b="1" dirty="0">
                <a:solidFill>
                  <a:schemeClr val="tx1"/>
                </a:solidFill>
              </a:rPr>
              <a:t>Gestión: </a:t>
            </a:r>
            <a:pPr indent="0" marL="0">
              <a:buNone/>
            </a:pPr>
            <a:r>
              <a:rPr lang="en-US" sz="1600" dirty="0">
                <a:solidFill>
                  <a:schemeClr val="tx1"/>
                </a:solidFill>
              </a:rPr>
              <a:t>backlog, sprints y control del plan de trabajo.</a:t>
            </a:r>
            <a:endParaRPr lang="en-US" sz="1600" dirty="0"/>
          </a:p>
        </p:txBody>
      </p:sp>
      <p:sp>
        <p:nvSpPr>
          <p:cNvPr id="10" name="Shape 8"/>
          <p:cNvSpPr/>
          <p:nvPr/>
        </p:nvSpPr>
        <p:spPr>
          <a:xfrm>
            <a:off x="7589520" y="1783080"/>
            <a:ext cx="4050792" cy="4343400"/>
          </a:xfrm>
          <a:prstGeom prst="roundRect">
            <a:avLst>
              <a:gd name="adj" fmla="val 1806"/>
            </a:avLst>
          </a:prstGeom>
          <a:solidFill>
            <a:schemeClr val="accent3">
              <a:alpha val="8000"/>
            </a:schemeClr>
          </a:solidFill>
          <a:ln/>
        </p:spPr>
      </p:sp>
      <p:sp>
        <p:nvSpPr>
          <p:cNvPr id="11" name="Shape 9"/>
          <p:cNvSpPr/>
          <p:nvPr/>
        </p:nvSpPr>
        <p:spPr>
          <a:xfrm>
            <a:off x="7909560" y="2103120"/>
            <a:ext cx="685800" cy="685800"/>
          </a:xfrm>
          <a:prstGeom prst="ellipse">
            <a:avLst/>
          </a:prstGeom>
          <a:solidFill>
            <a:srgbClr val="2B6CB0"/>
          </a:solidFill>
          <a:ln/>
        </p:spPr>
      </p:sp>
      <p:pic>
        <p:nvPicPr>
          <p:cNvPr id="12" name="Image 0" descr="preencoded.png">    </p:cNvPr>
          <p:cNvPicPr>
            <a:picLocks noChangeAspect="1"/>
          </p:cNvPicPr>
          <p:nvPr/>
        </p:nvPicPr>
        <p:blipFill>
          <a:blip r:embed="rId1"/>
          <a:stretch>
            <a:fillRect/>
          </a:stretch>
        </p:blipFill>
        <p:spPr>
          <a:xfrm>
            <a:off x="8081010" y="2274570"/>
            <a:ext cx="342900" cy="342900"/>
          </a:xfrm>
          <a:prstGeom prst="rect">
            <a:avLst/>
          </a:prstGeom>
        </p:spPr>
      </p:pic>
      <p:sp>
        <p:nvSpPr>
          <p:cNvPr id="13" name="Text 10"/>
          <p:cNvSpPr txBox="1"/>
          <p:nvPr/>
        </p:nvSpPr>
        <p:spPr>
          <a:xfrm>
            <a:off x="8778240" y="2148840"/>
            <a:ext cx="2743200" cy="365760"/>
          </a:xfrm>
          <a:prstGeom prst="rect">
            <a:avLst/>
          </a:prstGeom>
          <a:noFill/>
          <a:ln/>
        </p:spPr>
        <p:txBody>
          <a:bodyPr wrap="square" lIns="0" tIns="0" rIns="0" bIns="0" rtlCol="0" anchor="t"/>
          <a:lstStyle/>
          <a:p>
            <a:pPr indent="0" marL="0">
              <a:buNone/>
            </a:pPr>
            <a:r>
              <a:rPr lang="en-US" sz="2000" b="1" dirty="0">
                <a:solidFill>
                  <a:schemeClr val="tx1"/>
                </a:solidFill>
              </a:rPr>
              <a:t>Alloxentric</a:t>
            </a:r>
            <a:endParaRPr lang="en-US" sz="2000" dirty="0"/>
          </a:p>
        </p:txBody>
      </p:sp>
      <p:sp>
        <p:nvSpPr>
          <p:cNvPr id="14" name="Text 11"/>
          <p:cNvSpPr txBox="1"/>
          <p:nvPr/>
        </p:nvSpPr>
        <p:spPr>
          <a:xfrm>
            <a:off x="8778240" y="2514600"/>
            <a:ext cx="2743200" cy="274320"/>
          </a:xfrm>
          <a:prstGeom prst="rect">
            <a:avLst/>
          </a:prstGeom>
          <a:noFill/>
          <a:ln/>
        </p:spPr>
        <p:txBody>
          <a:bodyPr wrap="square" lIns="0" tIns="0" rIns="0" bIns="0" rtlCol="0" anchor="t"/>
          <a:lstStyle/>
          <a:p>
            <a:pPr indent="0" marL="0">
              <a:buNone/>
            </a:pPr>
            <a:r>
              <a:rPr lang="en-US" sz="1300" dirty="0">
                <a:solidFill>
                  <a:schemeClr val="accent4"/>
                </a:solidFill>
              </a:rPr>
              <a:t>Dueño del producto</a:t>
            </a:r>
            <a:endParaRPr lang="en-US" sz="1300" dirty="0"/>
          </a:p>
        </p:txBody>
      </p:sp>
      <p:sp>
        <p:nvSpPr>
          <p:cNvPr id="15" name="Text 12"/>
          <p:cNvSpPr txBox="1"/>
          <p:nvPr/>
        </p:nvSpPr>
        <p:spPr>
          <a:xfrm>
            <a:off x="7909560" y="3291840"/>
            <a:ext cx="3520440" cy="2697480"/>
          </a:xfrm>
          <a:prstGeom prst="rect">
            <a:avLst/>
          </a:prstGeom>
          <a:noFill/>
          <a:ln/>
        </p:spPr>
        <p:txBody>
          <a:bodyPr wrap="square" lIns="0" tIns="0" rIns="0" bIns="0" rtlCol="0" anchor="t"/>
          <a:lstStyle/>
          <a:p>
            <a:pPr marL="177800" indent="-177800">
              <a:spcAft>
                <a:spcPts val="1400"/>
              </a:spcAft>
              <a:buSzPct val="100000"/>
              <a:buChar char="•"/>
            </a:pPr>
            <a:r>
              <a:rPr lang="en-US" sz="1600" dirty="0">
                <a:solidFill>
                  <a:schemeClr val="tx1"/>
                </a:solidFill>
              </a:rPr>
              <a:t>Define el requerimiento asignado.</a:t>
            </a:r>
            <a:endParaRPr lang="en-US" sz="1600" dirty="0"/>
          </a:p>
          <a:p>
            <a:pPr marL="177800" indent="-177800">
              <a:spcAft>
                <a:spcPts val="1400"/>
              </a:spcAft>
              <a:buSzPct val="100000"/>
              <a:buChar char="•"/>
            </a:pPr>
            <a:r>
              <a:rPr lang="en-US" sz="1600" dirty="0">
                <a:solidFill>
                  <a:schemeClr val="tx1"/>
                </a:solidFill>
              </a:rPr>
              <a:t>Entrega la especificación técnica y el esquema de Barb v3.0.</a:t>
            </a:r>
            <a:endParaRPr lang="en-US" sz="1600" dirty="0"/>
          </a:p>
          <a:p>
            <a:pPr marL="177800" indent="-177800">
              <a:spcAft>
                <a:spcPts val="1400"/>
              </a:spcAft>
              <a:buSzPct val="100000"/>
              <a:buChar char="•"/>
            </a:pPr>
            <a:r>
              <a:rPr lang="en-US" sz="1600" dirty="0">
                <a:solidFill>
                  <a:schemeClr val="tx1"/>
                </a:solidFill>
              </a:rPr>
              <a:t>Valida cada incremento al cierre del sprint.</a:t>
            </a:r>
            <a:endParaRPr lang="en-US" sz="1600" dirty="0"/>
          </a:p>
          <a:p>
            <a:pPr marL="177800" indent="-177800">
              <a:spcAft>
                <a:spcPts val="1400"/>
              </a:spcAft>
              <a:buSzPct val="100000"/>
              <a:buChar char="•"/>
            </a:pPr>
            <a:r>
              <a:rPr lang="en-US" sz="1600" dirty="0">
                <a:solidFill>
                  <a:schemeClr val="tx1"/>
                </a:solidFill>
              </a:rPr>
              <a:t>Mantiene los módulos existentes: OT, activos, topología y consulta documental.</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Descripción del proyecto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El historial que permitiría anticipar fallas existe, pero está disperso en los ERP de cada empresa</a:t>
            </a:r>
            <a:endParaRPr lang="en-US" sz="1500" dirty="0"/>
          </a:p>
        </p:txBody>
      </p:sp>
      <p:sp>
        <p:nvSpPr>
          <p:cNvPr id="4" name="Shape 2"/>
          <p:cNvSpPr/>
          <p:nvPr/>
        </p:nvSpPr>
        <p:spPr>
          <a:xfrm>
            <a:off x="548640" y="1783080"/>
            <a:ext cx="5029200" cy="4343400"/>
          </a:xfrm>
          <a:prstGeom prst="roundRect">
            <a:avLst>
              <a:gd name="adj" fmla="val 1684"/>
            </a:avLst>
          </a:prstGeom>
          <a:solidFill>
            <a:schemeClr val="bg1"/>
          </a:solidFill>
          <a:ln/>
          <a:effectLst>
            <a:outerShdw sx="100000" sy="100000" kx="0" ky="0" algn="bl" rotWithShape="0" blurRad="76200" dist="25400" dir="5400000">
              <a:srgbClr val="1F2933">
                <a:alpha val="10000"/>
              </a:srgbClr>
            </a:outerShdw>
          </a:effectLst>
        </p:spPr>
      </p:sp>
      <p:sp>
        <p:nvSpPr>
          <p:cNvPr id="5" name="Shape 3"/>
          <p:cNvSpPr/>
          <p:nvPr/>
        </p:nvSpPr>
        <p:spPr>
          <a:xfrm>
            <a:off x="868680" y="2057400"/>
            <a:ext cx="566928" cy="566928"/>
          </a:xfrm>
          <a:prstGeom prst="ellipse">
            <a:avLst/>
          </a:prstGeom>
          <a:solidFill>
            <a:srgbClr val="C0392B"/>
          </a:solidFill>
          <a:ln/>
        </p:spPr>
      </p:sp>
      <p:pic>
        <p:nvPicPr>
          <p:cNvPr id="6" name="Image 0" descr="preencoded.png">    </p:cNvPr>
          <p:cNvPicPr>
            <a:picLocks noChangeAspect="1"/>
          </p:cNvPicPr>
          <p:nvPr/>
        </p:nvPicPr>
        <p:blipFill>
          <a:blip r:embed="rId1"/>
          <a:stretch>
            <a:fillRect/>
          </a:stretch>
        </p:blipFill>
        <p:spPr>
          <a:xfrm>
            <a:off x="1010412" y="2199132"/>
            <a:ext cx="283464" cy="283464"/>
          </a:xfrm>
          <a:prstGeom prst="rect">
            <a:avLst/>
          </a:prstGeom>
        </p:spPr>
      </p:pic>
      <p:sp>
        <p:nvSpPr>
          <p:cNvPr id="7" name="Text 4"/>
          <p:cNvSpPr txBox="1"/>
          <p:nvPr/>
        </p:nvSpPr>
        <p:spPr>
          <a:xfrm>
            <a:off x="1600200" y="2103120"/>
            <a:ext cx="3749040" cy="457200"/>
          </a:xfrm>
          <a:prstGeom prst="rect">
            <a:avLst/>
          </a:prstGeom>
          <a:noFill/>
          <a:ln/>
        </p:spPr>
        <p:txBody>
          <a:bodyPr wrap="square" lIns="0" tIns="0" rIns="0" bIns="0" rtlCol="0" anchor="ctr"/>
          <a:lstStyle/>
          <a:p>
            <a:pPr indent="0" marL="0">
              <a:buNone/>
            </a:pPr>
            <a:r>
              <a:rPr lang="en-US" sz="2000" b="1" dirty="0">
                <a:solidFill>
                  <a:schemeClr val="tx1"/>
                </a:solidFill>
              </a:rPr>
              <a:t>Problema o dolor</a:t>
            </a:r>
            <a:endParaRPr lang="en-US" sz="2000" dirty="0"/>
          </a:p>
        </p:txBody>
      </p:sp>
      <p:sp>
        <p:nvSpPr>
          <p:cNvPr id="8" name="Text 5"/>
          <p:cNvSpPr txBox="1"/>
          <p:nvPr/>
        </p:nvSpPr>
        <p:spPr>
          <a:xfrm>
            <a:off x="868680" y="2834640"/>
            <a:ext cx="4434840" cy="3200400"/>
          </a:xfrm>
          <a:prstGeom prst="rect">
            <a:avLst/>
          </a:prstGeom>
          <a:noFill/>
          <a:ln/>
        </p:spPr>
        <p:txBody>
          <a:bodyPr wrap="square" lIns="0" tIns="0" rIns="0" bIns="0" rtlCol="0" anchor="t"/>
          <a:lstStyle/>
          <a:p>
            <a:pPr marL="177800" indent="-177800">
              <a:spcAft>
                <a:spcPts val="1600"/>
              </a:spcAft>
              <a:buSzPct val="100000"/>
              <a:buChar char="•"/>
            </a:pPr>
            <a:r>
              <a:rPr lang="en-US" sz="1600" b="1" dirty="0">
                <a:solidFill>
                  <a:schemeClr val="tx1"/>
                </a:solidFill>
              </a:rPr>
              <a:t>Mantención reactiva: </a:t>
            </a:r>
            <a:pPr indent="0" marL="0">
              <a:buNone/>
            </a:pPr>
            <a:r>
              <a:rPr lang="en-US" sz="1600" dirty="0">
                <a:solidFill>
                  <a:schemeClr val="tx1"/>
                </a:solidFill>
              </a:rPr>
              <a:t>se interviene cuando la falla ya detuvo la faena.</a:t>
            </a:r>
            <a:endParaRPr lang="en-US" sz="1600" dirty="0"/>
          </a:p>
          <a:p>
            <a:pPr marL="177800" indent="-177800">
              <a:spcAft>
                <a:spcPts val="1600"/>
              </a:spcAft>
              <a:buSzPct val="100000"/>
              <a:buChar char="•"/>
            </a:pPr>
            <a:r>
              <a:rPr lang="en-US" sz="1600" b="1" dirty="0">
                <a:solidFill>
                  <a:schemeClr val="tx1"/>
                </a:solidFill>
              </a:rPr>
              <a:t>Historial atrapado: </a:t>
            </a:r>
            <a:pPr indent="0" marL="0">
              <a:buNone/>
            </a:pPr>
            <a:r>
              <a:rPr lang="en-US" sz="1600" dirty="0">
                <a:solidFill>
                  <a:schemeClr val="tx1"/>
                </a:solidFill>
              </a:rPr>
              <a:t>las fallas viven en ERP como SAP u Oracle, cada uno con su formato y sus códigos.</a:t>
            </a:r>
            <a:endParaRPr lang="en-US" sz="1600" dirty="0"/>
          </a:p>
          <a:p>
            <a:pPr marL="177800" indent="-177800">
              <a:spcAft>
                <a:spcPts val="1600"/>
              </a:spcAft>
              <a:buSzPct val="100000"/>
              <a:buChar char="•"/>
            </a:pPr>
            <a:r>
              <a:rPr lang="en-US" sz="1600" b="1" dirty="0">
                <a:solidFill>
                  <a:schemeClr val="tx1"/>
                </a:solidFill>
              </a:rPr>
              <a:t>Sin formato común no hay predicción: </a:t>
            </a:r>
            <a:pPr indent="0" marL="0">
              <a:buNone/>
            </a:pPr>
            <a:r>
              <a:rPr lang="en-US" sz="1600" dirty="0">
                <a:solidFill>
                  <a:schemeClr val="tx1"/>
                </a:solidFill>
              </a:rPr>
              <a:t>ningún modelo aprende de datos dispersos.</a:t>
            </a:r>
            <a:endParaRPr lang="en-US" sz="1600" dirty="0"/>
          </a:p>
          <a:p>
            <a:pPr marL="177800" indent="-177800">
              <a:spcAft>
                <a:spcPts val="1600"/>
              </a:spcAft>
              <a:buSzPct val="100000"/>
              <a:buChar char="•"/>
            </a:pPr>
            <a:r>
              <a:rPr lang="en-US" sz="1600" b="1" dirty="0">
                <a:solidFill>
                  <a:schemeClr val="tx1"/>
                </a:solidFill>
              </a:rPr>
              <a:t>Cambiar el ERP no es opción: </a:t>
            </a:r>
            <a:pPr indent="0" marL="0">
              <a:buNone/>
            </a:pPr>
            <a:r>
              <a:rPr lang="en-US" sz="1600" dirty="0">
                <a:solidFill>
                  <a:schemeClr val="tx1"/>
                </a:solidFill>
              </a:rPr>
              <a:t>las empresas no migran su sistema corporativo por una herramienta.</a:t>
            </a:r>
            <a:endParaRPr lang="en-US" sz="1600" dirty="0"/>
          </a:p>
        </p:txBody>
      </p:sp>
      <p:sp>
        <p:nvSpPr>
          <p:cNvPr id="9" name="Shape 6"/>
          <p:cNvSpPr/>
          <p:nvPr/>
        </p:nvSpPr>
        <p:spPr>
          <a:xfrm>
            <a:off x="5733288" y="3584448"/>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5916168" y="3767328"/>
            <a:ext cx="365760" cy="365760"/>
          </a:xfrm>
          <a:prstGeom prst="rect">
            <a:avLst/>
          </a:prstGeom>
        </p:spPr>
      </p:pic>
      <p:sp>
        <p:nvSpPr>
          <p:cNvPr id="11" name="Shape 7"/>
          <p:cNvSpPr/>
          <p:nvPr/>
        </p:nvSpPr>
        <p:spPr>
          <a:xfrm>
            <a:off x="6611112" y="1783080"/>
            <a:ext cx="5029200" cy="4343400"/>
          </a:xfrm>
          <a:prstGeom prst="roundRect">
            <a:avLst>
              <a:gd name="adj" fmla="val 1684"/>
            </a:avLst>
          </a:prstGeom>
          <a:solidFill>
            <a:schemeClr val="bg1"/>
          </a:solidFill>
          <a:ln/>
          <a:effectLst>
            <a:outerShdw sx="100000" sy="100000" kx="0" ky="0" algn="bl" rotWithShape="0" blurRad="76200" dist="25400" dir="5400000">
              <a:srgbClr val="1F2933">
                <a:alpha val="10000"/>
              </a:srgbClr>
            </a:outerShdw>
          </a:effectLst>
        </p:spPr>
      </p:sp>
      <p:sp>
        <p:nvSpPr>
          <p:cNvPr id="12" name="Shape 8"/>
          <p:cNvSpPr/>
          <p:nvPr/>
        </p:nvSpPr>
        <p:spPr>
          <a:xfrm>
            <a:off x="6931152" y="2057400"/>
            <a:ext cx="566928" cy="566928"/>
          </a:xfrm>
          <a:prstGeom prst="ellipse">
            <a:avLst/>
          </a:prstGeom>
          <a:solidFill>
            <a:srgbClr val="E69B00"/>
          </a:solidFill>
          <a:ln/>
        </p:spPr>
      </p:sp>
      <p:pic>
        <p:nvPicPr>
          <p:cNvPr id="13" name="Image 2" descr="preencoded.png">    </p:cNvPr>
          <p:cNvPicPr>
            <a:picLocks noChangeAspect="1"/>
          </p:cNvPicPr>
          <p:nvPr/>
        </p:nvPicPr>
        <p:blipFill>
          <a:blip r:embed="rId3"/>
          <a:stretch>
            <a:fillRect/>
          </a:stretch>
        </p:blipFill>
        <p:spPr>
          <a:xfrm>
            <a:off x="7072884" y="2199132"/>
            <a:ext cx="283464" cy="283464"/>
          </a:xfrm>
          <a:prstGeom prst="rect">
            <a:avLst/>
          </a:prstGeom>
        </p:spPr>
      </p:pic>
      <p:sp>
        <p:nvSpPr>
          <p:cNvPr id="14" name="Text 9"/>
          <p:cNvSpPr txBox="1"/>
          <p:nvPr/>
        </p:nvSpPr>
        <p:spPr>
          <a:xfrm>
            <a:off x="7662672" y="2103120"/>
            <a:ext cx="3749040" cy="457200"/>
          </a:xfrm>
          <a:prstGeom prst="rect">
            <a:avLst/>
          </a:prstGeom>
          <a:noFill/>
          <a:ln/>
        </p:spPr>
        <p:txBody>
          <a:bodyPr wrap="square" lIns="0" tIns="0" rIns="0" bIns="0" rtlCol="0" anchor="ctr"/>
          <a:lstStyle/>
          <a:p>
            <a:pPr indent="0" marL="0">
              <a:buNone/>
            </a:pPr>
            <a:r>
              <a:rPr lang="en-US" sz="2000" b="1" dirty="0">
                <a:solidFill>
                  <a:schemeClr val="tx1"/>
                </a:solidFill>
              </a:rPr>
              <a:t>Propuesta de solución</a:t>
            </a:r>
            <a:endParaRPr lang="en-US" sz="2000" dirty="0"/>
          </a:p>
        </p:txBody>
      </p:sp>
      <p:sp>
        <p:nvSpPr>
          <p:cNvPr id="15" name="Text 10"/>
          <p:cNvSpPr txBox="1"/>
          <p:nvPr/>
        </p:nvSpPr>
        <p:spPr>
          <a:xfrm>
            <a:off x="6931152" y="2834640"/>
            <a:ext cx="4434840" cy="3200400"/>
          </a:xfrm>
          <a:prstGeom prst="rect">
            <a:avLst/>
          </a:prstGeom>
          <a:noFill/>
          <a:ln/>
        </p:spPr>
        <p:txBody>
          <a:bodyPr wrap="square" lIns="0" tIns="0" rIns="0" bIns="0" rtlCol="0" anchor="t"/>
          <a:lstStyle/>
          <a:p>
            <a:pPr marL="177800" indent="-177800">
              <a:spcAft>
                <a:spcPts val="1600"/>
              </a:spcAft>
              <a:buSzPct val="100000"/>
              <a:buChar char="•"/>
            </a:pPr>
            <a:r>
              <a:rPr lang="en-US" sz="1600" b="1" dirty="0">
                <a:solidFill>
                  <a:schemeClr val="tx1"/>
                </a:solidFill>
              </a:rPr>
              <a:t>Conectores configurables: </a:t>
            </a:r>
            <a:pPr indent="0" marL="0">
              <a:buNone/>
            </a:pPr>
            <a:r>
              <a:rPr lang="en-US" sz="1600" dirty="0">
                <a:solidFill>
                  <a:schemeClr val="tx1"/>
                </a:solidFill>
              </a:rPr>
              <a:t>cada empresa conecta su ERP desde la interfaz de Barb.</a:t>
            </a:r>
            <a:endParaRPr lang="en-US" sz="1600" dirty="0"/>
          </a:p>
          <a:p>
            <a:pPr marL="177800" indent="-177800">
              <a:spcAft>
                <a:spcPts val="1600"/>
              </a:spcAft>
              <a:buSzPct val="100000"/>
              <a:buChar char="•"/>
            </a:pPr>
            <a:r>
              <a:rPr lang="en-US" sz="1600" b="1" dirty="0">
                <a:solidFill>
                  <a:schemeClr val="tx1"/>
                </a:solidFill>
              </a:rPr>
              <a:t>Modelo canónico de fallas: </a:t>
            </a:r>
            <a:pPr indent="0" marL="0">
              <a:buNone/>
            </a:pPr>
            <a:r>
              <a:rPr lang="en-US" sz="1600" dirty="0">
                <a:solidFill>
                  <a:schemeClr val="tx1"/>
                </a:solidFill>
              </a:rPr>
              <a:t>todo registro queda en un formato único, venga de donde venga.</a:t>
            </a:r>
            <a:endParaRPr lang="en-US" sz="1600" dirty="0"/>
          </a:p>
          <a:p>
            <a:pPr marL="177800" indent="-177800">
              <a:spcAft>
                <a:spcPts val="1600"/>
              </a:spcAft>
              <a:buSzPct val="100000"/>
              <a:buChar char="•"/>
            </a:pPr>
            <a:r>
              <a:rPr lang="en-US" sz="1600" b="1" dirty="0">
                <a:solidFill>
                  <a:schemeClr val="tx1"/>
                </a:solidFill>
              </a:rPr>
              <a:t>Ingesta trazable: </a:t>
            </a:r>
            <a:pPr indent="0" marL="0">
              <a:buNone/>
            </a:pPr>
            <a:r>
              <a:rPr lang="en-US" sz="1600" dirty="0">
                <a:solidFill>
                  <a:schemeClr val="tx1"/>
                </a:solidFill>
              </a:rPr>
              <a:t>cada falla conserva su origen, sin duplicados y con registro de rechazos.</a:t>
            </a:r>
            <a:endParaRPr lang="en-US" sz="1600" dirty="0"/>
          </a:p>
          <a:p>
            <a:pPr marL="177800" indent="-177800">
              <a:spcAft>
                <a:spcPts val="1600"/>
              </a:spcAft>
              <a:buSzPct val="100000"/>
              <a:buChar char="•"/>
            </a:pPr>
            <a:r>
              <a:rPr lang="en-US" sz="1600" b="1" dirty="0">
                <a:solidFill>
                  <a:schemeClr val="tx1"/>
                </a:solidFill>
              </a:rPr>
              <a:t>Indicadores de confiabilidad: </a:t>
            </a:r>
            <a:pPr indent="0" marL="0">
              <a:buNone/>
            </a:pPr>
            <a:r>
              <a:rPr lang="en-US" sz="1600" dirty="0">
                <a:solidFill>
                  <a:schemeClr val="tx1"/>
                </a:solidFill>
              </a:rPr>
              <a:t>MTBF y MTTR por máquina como base para predecir.</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Objetivos del proyecto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Objetivo general y metas de ingeniería que permiten cumplirlo</a:t>
            </a:r>
            <a:endParaRPr lang="en-US" sz="1500" dirty="0"/>
          </a:p>
        </p:txBody>
      </p:sp>
      <p:sp>
        <p:nvSpPr>
          <p:cNvPr id="4" name="Shape 2"/>
          <p:cNvSpPr/>
          <p:nvPr/>
        </p:nvSpPr>
        <p:spPr>
          <a:xfrm>
            <a:off x="548640" y="1737360"/>
            <a:ext cx="11091672" cy="1325880"/>
          </a:xfrm>
          <a:prstGeom prst="roundRect">
            <a:avLst>
              <a:gd name="adj" fmla="val 5517"/>
            </a:avLst>
          </a:prstGeom>
          <a:solidFill>
            <a:schemeClr val="tx2"/>
          </a:solidFill>
          <a:ln/>
          <a:effectLst>
            <a:outerShdw sx="100000" sy="100000" kx="0" ky="0" algn="bl" rotWithShape="0" blurRad="76200" dist="25400" dir="5400000">
              <a:srgbClr val="1F2933">
                <a:alpha val="10000"/>
              </a:srgbClr>
            </a:outerShdw>
          </a:effectLst>
        </p:spPr>
      </p:sp>
      <p:sp>
        <p:nvSpPr>
          <p:cNvPr id="5" name="Shape 3"/>
          <p:cNvSpPr/>
          <p:nvPr/>
        </p:nvSpPr>
        <p:spPr>
          <a:xfrm>
            <a:off x="868680" y="2075688"/>
            <a:ext cx="640080" cy="640080"/>
          </a:xfrm>
          <a:prstGeom prst="ellipse">
            <a:avLst/>
          </a:prstGeom>
          <a:solidFill>
            <a:srgbClr val="E69B00"/>
          </a:solidFill>
          <a:ln/>
        </p:spPr>
      </p:sp>
      <p:pic>
        <p:nvPicPr>
          <p:cNvPr id="6" name="Image 0" descr="preencoded.png">    </p:cNvPr>
          <p:cNvPicPr>
            <a:picLocks noChangeAspect="1"/>
          </p:cNvPicPr>
          <p:nvPr/>
        </p:nvPicPr>
        <p:blipFill>
          <a:blip r:embed="rId1"/>
          <a:stretch>
            <a:fillRect/>
          </a:stretch>
        </p:blipFill>
        <p:spPr>
          <a:xfrm>
            <a:off x="1028700" y="2235708"/>
            <a:ext cx="320040" cy="320040"/>
          </a:xfrm>
          <a:prstGeom prst="rect">
            <a:avLst/>
          </a:prstGeom>
        </p:spPr>
      </p:pic>
      <p:sp>
        <p:nvSpPr>
          <p:cNvPr id="7" name="Text 4"/>
          <p:cNvSpPr txBox="1"/>
          <p:nvPr/>
        </p:nvSpPr>
        <p:spPr>
          <a:xfrm>
            <a:off x="1783080" y="1874520"/>
            <a:ext cx="9601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OBJETIVO GENERAL</a:t>
            </a:r>
            <a:endParaRPr lang="en-US" sz="1100" dirty="0"/>
          </a:p>
        </p:txBody>
      </p:sp>
      <p:sp>
        <p:nvSpPr>
          <p:cNvPr id="8" name="Text 5"/>
          <p:cNvSpPr txBox="1"/>
          <p:nvPr/>
        </p:nvSpPr>
        <p:spPr>
          <a:xfrm>
            <a:off x="1783080" y="2176272"/>
            <a:ext cx="9601200" cy="822960"/>
          </a:xfrm>
          <a:prstGeom prst="rect">
            <a:avLst/>
          </a:prstGeom>
          <a:noFill/>
          <a:ln/>
        </p:spPr>
        <p:txBody>
          <a:bodyPr wrap="square" lIns="0" tIns="0" rIns="0" bIns="0" rtlCol="0" anchor="t"/>
          <a:lstStyle/>
          <a:p>
            <a:pPr indent="0" marL="0">
              <a:buNone/>
            </a:pPr>
            <a:r>
              <a:rPr lang="en-US" sz="1500" dirty="0">
                <a:solidFill>
                  <a:schemeClr val="bg1"/>
                </a:solidFill>
              </a:rPr>
              <a:t>Desarrollar e integrar en Barb un módulo de ingesta multi-ERP que consolide los registros de fallas de sistemas externos en un modelo de datos canónico, habilitando el cálculo de indicadores de confiabilidad que sustentan la anticipación de fallas de maquinaria.</a:t>
            </a:r>
            <a:endParaRPr lang="en-US" sz="1500" dirty="0"/>
          </a:p>
        </p:txBody>
      </p:sp>
      <p:sp>
        <p:nvSpPr>
          <p:cNvPr id="9" name="Text 6"/>
          <p:cNvSpPr txBox="1"/>
          <p:nvPr/>
        </p:nvSpPr>
        <p:spPr>
          <a:xfrm>
            <a:off x="548640" y="3291840"/>
            <a:ext cx="5486400"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OBJETIVOS ESPECÍFICOS</a:t>
            </a:r>
            <a:endParaRPr lang="en-US" sz="1100" dirty="0"/>
          </a:p>
        </p:txBody>
      </p:sp>
      <p:sp>
        <p:nvSpPr>
          <p:cNvPr id="10" name="Shape 7"/>
          <p:cNvSpPr/>
          <p:nvPr/>
        </p:nvSpPr>
        <p:spPr>
          <a:xfrm>
            <a:off x="548640" y="3657600"/>
            <a:ext cx="3557016" cy="1161288"/>
          </a:xfrm>
          <a:prstGeom prst="roundRect">
            <a:avLst>
              <a:gd name="adj" fmla="val 6299"/>
            </a:avLst>
          </a:prstGeom>
          <a:solidFill>
            <a:schemeClr val="bg1"/>
          </a:solidFill>
          <a:ln/>
          <a:effectLst>
            <a:outerShdw sx="100000" sy="100000" kx="0" ky="0" algn="bl" rotWithShape="0" blurRad="76200" dist="25400" dir="5400000">
              <a:srgbClr val="1F2933">
                <a:alpha val="10000"/>
              </a:srgbClr>
            </a:outerShdw>
          </a:effectLst>
        </p:spPr>
      </p:sp>
      <p:sp>
        <p:nvSpPr>
          <p:cNvPr id="11" name="Text 8"/>
          <p:cNvSpPr txBox="1"/>
          <p:nvPr/>
        </p:nvSpPr>
        <p:spPr>
          <a:xfrm>
            <a:off x="777240" y="3822192"/>
            <a:ext cx="640080" cy="457200"/>
          </a:xfrm>
          <a:prstGeom prst="rect">
            <a:avLst/>
          </a:prstGeom>
          <a:noFill/>
          <a:ln/>
        </p:spPr>
        <p:txBody>
          <a:bodyPr wrap="square" lIns="0" tIns="0" rIns="0" bIns="0" rtlCol="0" anchor="t"/>
          <a:lstStyle/>
          <a:p>
            <a:pPr indent="0" marL="0">
              <a:buNone/>
            </a:pPr>
            <a:r>
              <a:rPr lang="en-US" sz="2400" b="1" dirty="0">
                <a:solidFill>
                  <a:schemeClr val="accent1"/>
                </a:solidFill>
              </a:rPr>
              <a:t>01</a:t>
            </a:r>
            <a:endParaRPr lang="en-US" sz="2400" dirty="0"/>
          </a:p>
        </p:txBody>
      </p:sp>
      <p:sp>
        <p:nvSpPr>
          <p:cNvPr id="12" name="Text 9"/>
          <p:cNvSpPr txBox="1"/>
          <p:nvPr/>
        </p:nvSpPr>
        <p:spPr>
          <a:xfrm>
            <a:off x="1417320" y="3840480"/>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Analizar</a:t>
            </a:r>
            <a:endParaRPr lang="en-US" sz="1600" dirty="0"/>
          </a:p>
        </p:txBody>
      </p:sp>
      <p:sp>
        <p:nvSpPr>
          <p:cNvPr id="13" name="Text 10"/>
          <p:cNvSpPr txBox="1"/>
          <p:nvPr/>
        </p:nvSpPr>
        <p:spPr>
          <a:xfrm>
            <a:off x="1417320" y="4206240"/>
            <a:ext cx="2560320" cy="566928"/>
          </a:xfrm>
          <a:prstGeom prst="rect">
            <a:avLst/>
          </a:prstGeom>
          <a:noFill/>
          <a:ln/>
        </p:spPr>
        <p:txBody>
          <a:bodyPr wrap="square" lIns="0" tIns="0" rIns="0" bIns="0" rtlCol="0" anchor="t"/>
          <a:lstStyle/>
          <a:p>
            <a:pPr indent="0" marL="0">
              <a:buNone/>
            </a:pPr>
            <a:r>
              <a:rPr lang="en-US" sz="1200" dirty="0">
                <a:solidFill>
                  <a:schemeClr val="accent4"/>
                </a:solidFill>
              </a:rPr>
              <a:t>La estructura de fallas y OT de SAP PM y Oracle EAM, y definir el modelo canónico.</a:t>
            </a:r>
            <a:endParaRPr lang="en-US" sz="1200" dirty="0"/>
          </a:p>
        </p:txBody>
      </p:sp>
      <p:sp>
        <p:nvSpPr>
          <p:cNvPr id="14" name="Shape 11"/>
          <p:cNvSpPr/>
          <p:nvPr/>
        </p:nvSpPr>
        <p:spPr>
          <a:xfrm>
            <a:off x="4315968" y="3657600"/>
            <a:ext cx="3557016" cy="1161288"/>
          </a:xfrm>
          <a:prstGeom prst="roundRect">
            <a:avLst>
              <a:gd name="adj" fmla="val 6299"/>
            </a:avLst>
          </a:prstGeom>
          <a:solidFill>
            <a:schemeClr val="bg1"/>
          </a:solidFill>
          <a:ln/>
          <a:effectLst>
            <a:outerShdw sx="100000" sy="100000" kx="0" ky="0" algn="bl" rotWithShape="0" blurRad="76200" dist="25400" dir="5400000">
              <a:srgbClr val="1F2933">
                <a:alpha val="10000"/>
              </a:srgbClr>
            </a:outerShdw>
          </a:effectLst>
        </p:spPr>
      </p:sp>
      <p:sp>
        <p:nvSpPr>
          <p:cNvPr id="15" name="Text 12"/>
          <p:cNvSpPr txBox="1"/>
          <p:nvPr/>
        </p:nvSpPr>
        <p:spPr>
          <a:xfrm>
            <a:off x="4544568" y="3822192"/>
            <a:ext cx="640080" cy="457200"/>
          </a:xfrm>
          <a:prstGeom prst="rect">
            <a:avLst/>
          </a:prstGeom>
          <a:noFill/>
          <a:ln/>
        </p:spPr>
        <p:txBody>
          <a:bodyPr wrap="square" lIns="0" tIns="0" rIns="0" bIns="0" rtlCol="0" anchor="t"/>
          <a:lstStyle/>
          <a:p>
            <a:pPr indent="0" marL="0">
              <a:buNone/>
            </a:pPr>
            <a:r>
              <a:rPr lang="en-US" sz="2400" b="1" dirty="0">
                <a:solidFill>
                  <a:schemeClr val="accent1"/>
                </a:solidFill>
              </a:rPr>
              <a:t>02</a:t>
            </a:r>
            <a:endParaRPr lang="en-US" sz="2400" dirty="0"/>
          </a:p>
        </p:txBody>
      </p:sp>
      <p:sp>
        <p:nvSpPr>
          <p:cNvPr id="16" name="Text 13"/>
          <p:cNvSpPr txBox="1"/>
          <p:nvPr/>
        </p:nvSpPr>
        <p:spPr>
          <a:xfrm>
            <a:off x="5184648" y="3840480"/>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Extender</a:t>
            </a:r>
            <a:endParaRPr lang="en-US" sz="1600" dirty="0"/>
          </a:p>
        </p:txBody>
      </p:sp>
      <p:sp>
        <p:nvSpPr>
          <p:cNvPr id="17" name="Text 14"/>
          <p:cNvSpPr txBox="1"/>
          <p:nvPr/>
        </p:nvSpPr>
        <p:spPr>
          <a:xfrm>
            <a:off x="5184648" y="4206240"/>
            <a:ext cx="2560320" cy="566928"/>
          </a:xfrm>
          <a:prstGeom prst="rect">
            <a:avLst/>
          </a:prstGeom>
          <a:noFill/>
          <a:ln/>
        </p:spPr>
        <p:txBody>
          <a:bodyPr wrap="square" lIns="0" tIns="0" rIns="0" bIns="0" rtlCol="0" anchor="t"/>
          <a:lstStyle/>
          <a:p>
            <a:pPr indent="0" marL="0">
              <a:buNone/>
            </a:pPr>
            <a:r>
              <a:rPr lang="en-US" sz="1200" dirty="0">
                <a:solidFill>
                  <a:schemeClr val="accent4"/>
                </a:solidFill>
              </a:rPr>
              <a:t>El modelo de datos de Barb sin afectar la operación existente.</a:t>
            </a:r>
            <a:endParaRPr lang="en-US" sz="1200" dirty="0"/>
          </a:p>
        </p:txBody>
      </p:sp>
      <p:sp>
        <p:nvSpPr>
          <p:cNvPr id="18" name="Shape 15"/>
          <p:cNvSpPr/>
          <p:nvPr/>
        </p:nvSpPr>
        <p:spPr>
          <a:xfrm>
            <a:off x="8083296" y="3657600"/>
            <a:ext cx="3557016" cy="1161288"/>
          </a:xfrm>
          <a:prstGeom prst="roundRect">
            <a:avLst>
              <a:gd name="adj" fmla="val 6299"/>
            </a:avLst>
          </a:prstGeom>
          <a:solidFill>
            <a:schemeClr val="bg1"/>
          </a:solidFill>
          <a:ln/>
          <a:effectLst>
            <a:outerShdw sx="100000" sy="100000" kx="0" ky="0" algn="bl" rotWithShape="0" blurRad="76200" dist="25400" dir="5400000">
              <a:srgbClr val="1F2933">
                <a:alpha val="10000"/>
              </a:srgbClr>
            </a:outerShdw>
          </a:effectLst>
        </p:spPr>
      </p:sp>
      <p:sp>
        <p:nvSpPr>
          <p:cNvPr id="19" name="Text 16"/>
          <p:cNvSpPr txBox="1"/>
          <p:nvPr/>
        </p:nvSpPr>
        <p:spPr>
          <a:xfrm>
            <a:off x="8311896" y="3822192"/>
            <a:ext cx="640080" cy="457200"/>
          </a:xfrm>
          <a:prstGeom prst="rect">
            <a:avLst/>
          </a:prstGeom>
          <a:noFill/>
          <a:ln/>
        </p:spPr>
        <p:txBody>
          <a:bodyPr wrap="square" lIns="0" tIns="0" rIns="0" bIns="0" rtlCol="0" anchor="t"/>
          <a:lstStyle/>
          <a:p>
            <a:pPr indent="0" marL="0">
              <a:buNone/>
            </a:pPr>
            <a:r>
              <a:rPr lang="en-US" sz="2400" b="1" dirty="0">
                <a:solidFill>
                  <a:schemeClr val="accent1"/>
                </a:solidFill>
              </a:rPr>
              <a:t>03</a:t>
            </a:r>
            <a:endParaRPr lang="en-US" sz="2400" dirty="0"/>
          </a:p>
        </p:txBody>
      </p:sp>
      <p:sp>
        <p:nvSpPr>
          <p:cNvPr id="20" name="Text 17"/>
          <p:cNvSpPr txBox="1"/>
          <p:nvPr/>
        </p:nvSpPr>
        <p:spPr>
          <a:xfrm>
            <a:off x="8951976" y="3840480"/>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Implementar</a:t>
            </a:r>
            <a:endParaRPr lang="en-US" sz="1600" dirty="0"/>
          </a:p>
        </p:txBody>
      </p:sp>
      <p:sp>
        <p:nvSpPr>
          <p:cNvPr id="21" name="Text 18"/>
          <p:cNvSpPr txBox="1"/>
          <p:nvPr/>
        </p:nvSpPr>
        <p:spPr>
          <a:xfrm>
            <a:off x="8951976" y="4206240"/>
            <a:ext cx="2560320" cy="566928"/>
          </a:xfrm>
          <a:prstGeom prst="rect">
            <a:avLst/>
          </a:prstGeom>
          <a:noFill/>
          <a:ln/>
        </p:spPr>
        <p:txBody>
          <a:bodyPr wrap="square" lIns="0" tIns="0" rIns="0" bIns="0" rtlCol="0" anchor="t"/>
          <a:lstStyle/>
          <a:p>
            <a:pPr indent="0" marL="0">
              <a:buNone/>
            </a:pPr>
            <a:r>
              <a:rPr lang="en-US" sz="1200" dirty="0">
                <a:solidFill>
                  <a:schemeClr val="accent4"/>
                </a:solidFill>
              </a:rPr>
              <a:t>Un conector de referencia y la ingesta idempotente con registro de rechazos.</a:t>
            </a:r>
            <a:endParaRPr lang="en-US" sz="1200" dirty="0"/>
          </a:p>
        </p:txBody>
      </p:sp>
      <p:sp>
        <p:nvSpPr>
          <p:cNvPr id="22" name="Shape 19"/>
          <p:cNvSpPr/>
          <p:nvPr/>
        </p:nvSpPr>
        <p:spPr>
          <a:xfrm>
            <a:off x="548640" y="4956048"/>
            <a:ext cx="3557016" cy="1161288"/>
          </a:xfrm>
          <a:prstGeom prst="roundRect">
            <a:avLst>
              <a:gd name="adj" fmla="val 6299"/>
            </a:avLst>
          </a:prstGeom>
          <a:solidFill>
            <a:schemeClr val="bg1"/>
          </a:solidFill>
          <a:ln/>
          <a:effectLst>
            <a:outerShdw sx="100000" sy="100000" kx="0" ky="0" algn="bl" rotWithShape="0" blurRad="76200" dist="25400" dir="5400000">
              <a:srgbClr val="1F2933">
                <a:alpha val="10000"/>
              </a:srgbClr>
            </a:outerShdw>
          </a:effectLst>
        </p:spPr>
      </p:sp>
      <p:sp>
        <p:nvSpPr>
          <p:cNvPr id="23" name="Text 20"/>
          <p:cNvSpPr txBox="1"/>
          <p:nvPr/>
        </p:nvSpPr>
        <p:spPr>
          <a:xfrm>
            <a:off x="777240" y="5120640"/>
            <a:ext cx="640080" cy="457200"/>
          </a:xfrm>
          <a:prstGeom prst="rect">
            <a:avLst/>
          </a:prstGeom>
          <a:noFill/>
          <a:ln/>
        </p:spPr>
        <p:txBody>
          <a:bodyPr wrap="square" lIns="0" tIns="0" rIns="0" bIns="0" rtlCol="0" anchor="t"/>
          <a:lstStyle/>
          <a:p>
            <a:pPr indent="0" marL="0">
              <a:buNone/>
            </a:pPr>
            <a:r>
              <a:rPr lang="en-US" sz="2400" b="1" dirty="0">
                <a:solidFill>
                  <a:schemeClr val="accent1"/>
                </a:solidFill>
              </a:rPr>
              <a:t>04</a:t>
            </a:r>
            <a:endParaRPr lang="en-US" sz="2400" dirty="0"/>
          </a:p>
        </p:txBody>
      </p:sp>
      <p:sp>
        <p:nvSpPr>
          <p:cNvPr id="24" name="Text 21"/>
          <p:cNvSpPr txBox="1"/>
          <p:nvPr/>
        </p:nvSpPr>
        <p:spPr>
          <a:xfrm>
            <a:off x="1417320" y="5138928"/>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Desarrollar</a:t>
            </a:r>
            <a:endParaRPr lang="en-US" sz="1600" dirty="0"/>
          </a:p>
        </p:txBody>
      </p:sp>
      <p:sp>
        <p:nvSpPr>
          <p:cNvPr id="25" name="Text 22"/>
          <p:cNvSpPr txBox="1"/>
          <p:nvPr/>
        </p:nvSpPr>
        <p:spPr>
          <a:xfrm>
            <a:off x="1417320" y="5504688"/>
            <a:ext cx="2560320" cy="566928"/>
          </a:xfrm>
          <a:prstGeom prst="rect">
            <a:avLst/>
          </a:prstGeom>
          <a:noFill/>
          <a:ln/>
        </p:spPr>
        <p:txBody>
          <a:bodyPr wrap="square" lIns="0" tIns="0" rIns="0" bIns="0" rtlCol="0" anchor="t"/>
          <a:lstStyle/>
          <a:p>
            <a:pPr indent="0" marL="0">
              <a:buNone/>
            </a:pPr>
            <a:r>
              <a:rPr lang="en-US" sz="1200" dirty="0">
                <a:solidFill>
                  <a:schemeClr val="accent4"/>
                </a:solidFill>
              </a:rPr>
              <a:t>La gestión de conectores en la interfaz, con control de acceso por rol.</a:t>
            </a:r>
            <a:endParaRPr lang="en-US" sz="1200" dirty="0"/>
          </a:p>
        </p:txBody>
      </p:sp>
      <p:sp>
        <p:nvSpPr>
          <p:cNvPr id="26" name="Shape 23"/>
          <p:cNvSpPr/>
          <p:nvPr/>
        </p:nvSpPr>
        <p:spPr>
          <a:xfrm>
            <a:off x="4315968" y="4956048"/>
            <a:ext cx="3557016" cy="1161288"/>
          </a:xfrm>
          <a:prstGeom prst="roundRect">
            <a:avLst>
              <a:gd name="adj" fmla="val 6299"/>
            </a:avLst>
          </a:prstGeom>
          <a:solidFill>
            <a:schemeClr val="bg1"/>
          </a:solidFill>
          <a:ln/>
          <a:effectLst>
            <a:outerShdw sx="100000" sy="100000" kx="0" ky="0" algn="bl" rotWithShape="0" blurRad="76200" dist="25400" dir="5400000">
              <a:srgbClr val="1F2933">
                <a:alpha val="10000"/>
              </a:srgbClr>
            </a:outerShdw>
          </a:effectLst>
        </p:spPr>
      </p:sp>
      <p:sp>
        <p:nvSpPr>
          <p:cNvPr id="27" name="Text 24"/>
          <p:cNvSpPr txBox="1"/>
          <p:nvPr/>
        </p:nvSpPr>
        <p:spPr>
          <a:xfrm>
            <a:off x="4544568" y="5120640"/>
            <a:ext cx="640080" cy="457200"/>
          </a:xfrm>
          <a:prstGeom prst="rect">
            <a:avLst/>
          </a:prstGeom>
          <a:noFill/>
          <a:ln/>
        </p:spPr>
        <p:txBody>
          <a:bodyPr wrap="square" lIns="0" tIns="0" rIns="0" bIns="0" rtlCol="0" anchor="t"/>
          <a:lstStyle/>
          <a:p>
            <a:pPr indent="0" marL="0">
              <a:buNone/>
            </a:pPr>
            <a:r>
              <a:rPr lang="en-US" sz="2400" b="1" dirty="0">
                <a:solidFill>
                  <a:schemeClr val="accent1"/>
                </a:solidFill>
              </a:rPr>
              <a:t>05</a:t>
            </a:r>
            <a:endParaRPr lang="en-US" sz="2400" dirty="0"/>
          </a:p>
        </p:txBody>
      </p:sp>
      <p:sp>
        <p:nvSpPr>
          <p:cNvPr id="28" name="Text 25"/>
          <p:cNvSpPr txBox="1"/>
          <p:nvPr/>
        </p:nvSpPr>
        <p:spPr>
          <a:xfrm>
            <a:off x="5184648" y="5138928"/>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Calcular</a:t>
            </a:r>
            <a:endParaRPr lang="en-US" sz="1600" dirty="0"/>
          </a:p>
        </p:txBody>
      </p:sp>
      <p:sp>
        <p:nvSpPr>
          <p:cNvPr id="29" name="Text 26"/>
          <p:cNvSpPr txBox="1"/>
          <p:nvPr/>
        </p:nvSpPr>
        <p:spPr>
          <a:xfrm>
            <a:off x="5184648" y="5504688"/>
            <a:ext cx="2560320" cy="566928"/>
          </a:xfrm>
          <a:prstGeom prst="rect">
            <a:avLst/>
          </a:prstGeom>
          <a:noFill/>
          <a:ln/>
        </p:spPr>
        <p:txBody>
          <a:bodyPr wrap="square" lIns="0" tIns="0" rIns="0" bIns="0" rtlCol="0" anchor="t"/>
          <a:lstStyle/>
          <a:p>
            <a:pPr indent="0" marL="0">
              <a:buNone/>
            </a:pPr>
            <a:r>
              <a:rPr lang="en-US" sz="1200" dirty="0">
                <a:solidFill>
                  <a:schemeClr val="accent4"/>
                </a:solidFill>
              </a:rPr>
              <a:t>Los indicadores MTBF y MTTR por máquina.</a:t>
            </a:r>
            <a:endParaRPr lang="en-US" sz="1200" dirty="0"/>
          </a:p>
        </p:txBody>
      </p:sp>
      <p:sp>
        <p:nvSpPr>
          <p:cNvPr id="30" name="Shape 27"/>
          <p:cNvSpPr/>
          <p:nvPr/>
        </p:nvSpPr>
        <p:spPr>
          <a:xfrm>
            <a:off x="8083296" y="4956048"/>
            <a:ext cx="3557016" cy="1161288"/>
          </a:xfrm>
          <a:prstGeom prst="roundRect">
            <a:avLst>
              <a:gd name="adj" fmla="val 6299"/>
            </a:avLst>
          </a:prstGeom>
          <a:solidFill>
            <a:schemeClr val="bg1"/>
          </a:solidFill>
          <a:ln/>
          <a:effectLst>
            <a:outerShdw sx="100000" sy="100000" kx="0" ky="0" algn="bl" rotWithShape="0" blurRad="76200" dist="25400" dir="5400000">
              <a:srgbClr val="1F2933">
                <a:alpha val="10000"/>
              </a:srgbClr>
            </a:outerShdw>
          </a:effectLst>
        </p:spPr>
      </p:sp>
      <p:sp>
        <p:nvSpPr>
          <p:cNvPr id="31" name="Text 28"/>
          <p:cNvSpPr txBox="1"/>
          <p:nvPr/>
        </p:nvSpPr>
        <p:spPr>
          <a:xfrm>
            <a:off x="8311896" y="5120640"/>
            <a:ext cx="640080" cy="457200"/>
          </a:xfrm>
          <a:prstGeom prst="rect">
            <a:avLst/>
          </a:prstGeom>
          <a:noFill/>
          <a:ln/>
        </p:spPr>
        <p:txBody>
          <a:bodyPr wrap="square" lIns="0" tIns="0" rIns="0" bIns="0" rtlCol="0" anchor="t"/>
          <a:lstStyle/>
          <a:p>
            <a:pPr indent="0" marL="0">
              <a:buNone/>
            </a:pPr>
            <a:r>
              <a:rPr lang="en-US" sz="2400" b="1" dirty="0">
                <a:solidFill>
                  <a:schemeClr val="accent1"/>
                </a:solidFill>
              </a:rPr>
              <a:t>06</a:t>
            </a:r>
            <a:endParaRPr lang="en-US" sz="2400" dirty="0"/>
          </a:p>
        </p:txBody>
      </p:sp>
      <p:sp>
        <p:nvSpPr>
          <p:cNvPr id="32" name="Text 29"/>
          <p:cNvSpPr txBox="1"/>
          <p:nvPr/>
        </p:nvSpPr>
        <p:spPr>
          <a:xfrm>
            <a:off x="8951976" y="5138928"/>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Validar</a:t>
            </a:r>
            <a:endParaRPr lang="en-US" sz="1600" dirty="0"/>
          </a:p>
        </p:txBody>
      </p:sp>
      <p:sp>
        <p:nvSpPr>
          <p:cNvPr id="33" name="Text 30"/>
          <p:cNvSpPr txBox="1"/>
          <p:nvPr/>
        </p:nvSpPr>
        <p:spPr>
          <a:xfrm>
            <a:off x="8951976" y="5504688"/>
            <a:ext cx="2560320" cy="566928"/>
          </a:xfrm>
          <a:prstGeom prst="rect">
            <a:avLst/>
          </a:prstGeom>
          <a:noFill/>
          <a:ln/>
        </p:spPr>
        <p:txBody>
          <a:bodyPr wrap="square" lIns="0" tIns="0" rIns="0" bIns="0" rtlCol="0" anchor="t"/>
          <a:lstStyle/>
          <a:p>
            <a:pPr indent="0" marL="0">
              <a:buNone/>
            </a:pPr>
            <a:r>
              <a:rPr lang="en-US" sz="1200" dirty="0">
                <a:solidFill>
                  <a:schemeClr val="accent4"/>
                </a:solidFill>
              </a:rPr>
              <a:t>La solución con pruebas automatizadas y revisión con Alloxentric.</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Alcances y limitaciones del proyecto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Lo que se entrega, lo que queda fuera y las condiciones de trabajo</a:t>
            </a:r>
            <a:endParaRPr lang="en-US" sz="1500" dirty="0"/>
          </a:p>
        </p:txBody>
      </p:sp>
      <p:sp>
        <p:nvSpPr>
          <p:cNvPr id="4" name="Shape 2"/>
          <p:cNvSpPr/>
          <p:nvPr/>
        </p:nvSpPr>
        <p:spPr>
          <a:xfrm>
            <a:off x="548640" y="1783080"/>
            <a:ext cx="3557016" cy="2011680"/>
          </a:xfrm>
          <a:prstGeom prst="roundRect">
            <a:avLst>
              <a:gd name="adj" fmla="val 3636"/>
            </a:avLst>
          </a:prstGeom>
          <a:solidFill>
            <a:schemeClr val="bg1"/>
          </a:solidFill>
          <a:ln/>
          <a:effectLst>
            <a:outerShdw sx="100000" sy="100000" kx="0" ky="0" algn="bl" rotWithShape="0" blurRad="76200" dist="25400" dir="5400000">
              <a:srgbClr val="1F2933">
                <a:alpha val="10000"/>
              </a:srgbClr>
            </a:outerShdw>
          </a:effectLst>
        </p:spPr>
      </p:sp>
      <p:sp>
        <p:nvSpPr>
          <p:cNvPr id="5" name="Shape 3"/>
          <p:cNvSpPr/>
          <p:nvPr/>
        </p:nvSpPr>
        <p:spPr>
          <a:xfrm>
            <a:off x="822960" y="2057400"/>
            <a:ext cx="548640" cy="548640"/>
          </a:xfrm>
          <a:prstGeom prst="ellipse">
            <a:avLst/>
          </a:prstGeom>
          <a:solidFill>
            <a:srgbClr val="E69B00"/>
          </a:solidFill>
          <a:ln/>
        </p:spPr>
      </p:sp>
      <p:pic>
        <p:nvPicPr>
          <p:cNvPr id="6" name="Image 0" descr="preencoded.png">    </p:cNvPr>
          <p:cNvPicPr>
            <a:picLocks noChangeAspect="1"/>
          </p:cNvPicPr>
          <p:nvPr/>
        </p:nvPicPr>
        <p:blipFill>
          <a:blip r:embed="rId1"/>
          <a:stretch>
            <a:fillRect/>
          </a:stretch>
        </p:blipFill>
        <p:spPr>
          <a:xfrm>
            <a:off x="960120" y="2194560"/>
            <a:ext cx="274320" cy="274320"/>
          </a:xfrm>
          <a:prstGeom prst="rect">
            <a:avLst/>
          </a:prstGeom>
        </p:spPr>
      </p:pic>
      <p:sp>
        <p:nvSpPr>
          <p:cNvPr id="7" name="Text 4"/>
          <p:cNvSpPr txBox="1"/>
          <p:nvPr/>
        </p:nvSpPr>
        <p:spPr>
          <a:xfrm>
            <a:off x="1508760" y="210312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Conectores por empresa</a:t>
            </a:r>
            <a:endParaRPr lang="en-US" sz="1700" dirty="0"/>
          </a:p>
        </p:txBody>
      </p:sp>
      <p:sp>
        <p:nvSpPr>
          <p:cNvPr id="8" name="Text 5"/>
          <p:cNvSpPr txBox="1"/>
          <p:nvPr/>
        </p:nvSpPr>
        <p:spPr>
          <a:xfrm>
            <a:off x="822960" y="2743200"/>
            <a:ext cx="3063240" cy="960120"/>
          </a:xfrm>
          <a:prstGeom prst="rect">
            <a:avLst/>
          </a:prstGeom>
          <a:noFill/>
          <a:ln/>
        </p:spPr>
        <p:txBody>
          <a:bodyPr wrap="square" lIns="0" tIns="0" rIns="0" bIns="0" rtlCol="0" anchor="t"/>
          <a:lstStyle/>
          <a:p>
            <a:pPr indent="0" marL="0">
              <a:buNone/>
            </a:pPr>
            <a:r>
              <a:rPr lang="en-US" sz="1400" dirty="0">
                <a:solidFill>
                  <a:schemeClr val="accent4"/>
                </a:solidFill>
              </a:rPr>
              <a:t>Cada empresa configura sus conectores desde la interfaz; el administrador gestiona credenciales y frecuencia de sincronización.</a:t>
            </a:r>
            <a:endParaRPr lang="en-US" sz="1400" dirty="0"/>
          </a:p>
        </p:txBody>
      </p:sp>
      <p:sp>
        <p:nvSpPr>
          <p:cNvPr id="9" name="Shape 6"/>
          <p:cNvSpPr/>
          <p:nvPr/>
        </p:nvSpPr>
        <p:spPr>
          <a:xfrm>
            <a:off x="4315968" y="1783080"/>
            <a:ext cx="3557016" cy="2011680"/>
          </a:xfrm>
          <a:prstGeom prst="roundRect">
            <a:avLst>
              <a:gd name="adj" fmla="val 3636"/>
            </a:avLst>
          </a:prstGeom>
          <a:solidFill>
            <a:schemeClr val="bg1"/>
          </a:solidFill>
          <a:ln/>
          <a:effectLst>
            <a:outerShdw sx="100000" sy="100000" kx="0" ky="0" algn="bl" rotWithShape="0" blurRad="76200" dist="25400" dir="5400000">
              <a:srgbClr val="1F2933">
                <a:alpha val="10000"/>
              </a:srgbClr>
            </a:outerShdw>
          </a:effectLst>
        </p:spPr>
      </p:sp>
      <p:sp>
        <p:nvSpPr>
          <p:cNvPr id="10" name="Shape 7"/>
          <p:cNvSpPr/>
          <p:nvPr/>
        </p:nvSpPr>
        <p:spPr>
          <a:xfrm>
            <a:off x="4590288" y="2057400"/>
            <a:ext cx="548640" cy="548640"/>
          </a:xfrm>
          <a:prstGeom prst="ellipse">
            <a:avLst/>
          </a:prstGeom>
          <a:solidFill>
            <a:srgbClr val="E69B00"/>
          </a:solidFill>
          <a:ln/>
        </p:spPr>
      </p:sp>
      <p:pic>
        <p:nvPicPr>
          <p:cNvPr id="11" name="Image 1" descr="preencoded.png">    </p:cNvPr>
          <p:cNvPicPr>
            <a:picLocks noChangeAspect="1"/>
          </p:cNvPicPr>
          <p:nvPr/>
        </p:nvPicPr>
        <p:blipFill>
          <a:blip r:embed="rId2"/>
          <a:stretch>
            <a:fillRect/>
          </a:stretch>
        </p:blipFill>
        <p:spPr>
          <a:xfrm>
            <a:off x="4727448" y="2194560"/>
            <a:ext cx="274320" cy="274320"/>
          </a:xfrm>
          <a:prstGeom prst="rect">
            <a:avLst/>
          </a:prstGeom>
        </p:spPr>
      </p:pic>
      <p:sp>
        <p:nvSpPr>
          <p:cNvPr id="12" name="Text 8"/>
          <p:cNvSpPr txBox="1"/>
          <p:nvPr/>
        </p:nvSpPr>
        <p:spPr>
          <a:xfrm>
            <a:off x="5276088" y="210312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Fuentes de datos</a:t>
            </a:r>
            <a:endParaRPr lang="en-US" sz="1700" dirty="0"/>
          </a:p>
        </p:txBody>
      </p:sp>
      <p:sp>
        <p:nvSpPr>
          <p:cNvPr id="13" name="Text 9"/>
          <p:cNvSpPr txBox="1"/>
          <p:nvPr/>
        </p:nvSpPr>
        <p:spPr>
          <a:xfrm>
            <a:off x="4590288" y="2743200"/>
            <a:ext cx="3063240" cy="960120"/>
          </a:xfrm>
          <a:prstGeom prst="rect">
            <a:avLst/>
          </a:prstGeom>
          <a:noFill/>
          <a:ln/>
        </p:spPr>
        <p:txBody>
          <a:bodyPr wrap="square" lIns="0" tIns="0" rIns="0" bIns="0" rtlCol="0" anchor="t"/>
          <a:lstStyle/>
          <a:p>
            <a:pPr indent="0" marL="0">
              <a:buNone/>
            </a:pPr>
            <a:r>
              <a:rPr lang="en-US" sz="1400" dirty="0">
                <a:solidFill>
                  <a:schemeClr val="accent4"/>
                </a:solidFill>
              </a:rPr>
              <a:t>Diseño para SAP PM, Oracle EAM, Fracttal One y CSV, con un conector de referencia sobre una fuente simulada.</a:t>
            </a:r>
            <a:endParaRPr lang="en-US" sz="1400" dirty="0"/>
          </a:p>
        </p:txBody>
      </p:sp>
      <p:sp>
        <p:nvSpPr>
          <p:cNvPr id="14" name="Shape 10"/>
          <p:cNvSpPr/>
          <p:nvPr/>
        </p:nvSpPr>
        <p:spPr>
          <a:xfrm>
            <a:off x="8083296" y="1783080"/>
            <a:ext cx="3557016" cy="2011680"/>
          </a:xfrm>
          <a:prstGeom prst="roundRect">
            <a:avLst>
              <a:gd name="adj" fmla="val 3636"/>
            </a:avLst>
          </a:prstGeom>
          <a:solidFill>
            <a:schemeClr val="bg1"/>
          </a:solidFill>
          <a:ln/>
          <a:effectLst>
            <a:outerShdw sx="100000" sy="100000" kx="0" ky="0" algn="bl" rotWithShape="0" blurRad="76200" dist="25400" dir="5400000">
              <a:srgbClr val="1F2933">
                <a:alpha val="10000"/>
              </a:srgbClr>
            </a:outerShdw>
          </a:effectLst>
        </p:spPr>
      </p:sp>
      <p:sp>
        <p:nvSpPr>
          <p:cNvPr id="15" name="Shape 11"/>
          <p:cNvSpPr/>
          <p:nvPr/>
        </p:nvSpPr>
        <p:spPr>
          <a:xfrm>
            <a:off x="8357616" y="2057400"/>
            <a:ext cx="548640" cy="548640"/>
          </a:xfrm>
          <a:prstGeom prst="ellipse">
            <a:avLst/>
          </a:prstGeom>
          <a:solidFill>
            <a:srgbClr val="E69B00"/>
          </a:solidFill>
          <a:ln/>
        </p:spPr>
      </p:sp>
      <p:pic>
        <p:nvPicPr>
          <p:cNvPr id="16" name="Image 2" descr="preencoded.png">    </p:cNvPr>
          <p:cNvPicPr>
            <a:picLocks noChangeAspect="1"/>
          </p:cNvPicPr>
          <p:nvPr/>
        </p:nvPicPr>
        <p:blipFill>
          <a:blip r:embed="rId3"/>
          <a:stretch>
            <a:fillRect/>
          </a:stretch>
        </p:blipFill>
        <p:spPr>
          <a:xfrm>
            <a:off x="8494776" y="2194560"/>
            <a:ext cx="274320" cy="274320"/>
          </a:xfrm>
          <a:prstGeom prst="rect">
            <a:avLst/>
          </a:prstGeom>
        </p:spPr>
      </p:pic>
      <p:sp>
        <p:nvSpPr>
          <p:cNvPr id="17" name="Text 12"/>
          <p:cNvSpPr txBox="1"/>
          <p:nvPr/>
        </p:nvSpPr>
        <p:spPr>
          <a:xfrm>
            <a:off x="9043416" y="210312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Modelo canónico</a:t>
            </a:r>
            <a:endParaRPr lang="en-US" sz="1700" dirty="0"/>
          </a:p>
        </p:txBody>
      </p:sp>
      <p:sp>
        <p:nvSpPr>
          <p:cNvPr id="18" name="Text 13"/>
          <p:cNvSpPr txBox="1"/>
          <p:nvPr/>
        </p:nvSpPr>
        <p:spPr>
          <a:xfrm>
            <a:off x="8357616" y="2743200"/>
            <a:ext cx="3063240" cy="960120"/>
          </a:xfrm>
          <a:prstGeom prst="rect">
            <a:avLst/>
          </a:prstGeom>
          <a:noFill/>
          <a:ln/>
        </p:spPr>
        <p:txBody>
          <a:bodyPr wrap="square" lIns="0" tIns="0" rIns="0" bIns="0" rtlCol="0" anchor="t"/>
          <a:lstStyle/>
          <a:p>
            <a:pPr indent="0" marL="0">
              <a:buNone/>
            </a:pPr>
            <a:r>
              <a:rPr lang="en-US" sz="1400" dirty="0">
                <a:solidFill>
                  <a:schemeClr val="accent4"/>
                </a:solidFill>
              </a:rPr>
              <a:t>Eventos de falla, catálogos de modo y causa, mapeo de códigos y trazabilidad por lote.</a:t>
            </a:r>
            <a:endParaRPr lang="en-US" sz="1400" dirty="0"/>
          </a:p>
        </p:txBody>
      </p:sp>
      <p:sp>
        <p:nvSpPr>
          <p:cNvPr id="19" name="Shape 14"/>
          <p:cNvSpPr/>
          <p:nvPr/>
        </p:nvSpPr>
        <p:spPr>
          <a:xfrm>
            <a:off x="548640" y="3977640"/>
            <a:ext cx="3557016" cy="2011680"/>
          </a:xfrm>
          <a:prstGeom prst="roundRect">
            <a:avLst>
              <a:gd name="adj" fmla="val 3636"/>
            </a:avLst>
          </a:prstGeom>
          <a:solidFill>
            <a:schemeClr val="bg1"/>
          </a:solidFill>
          <a:ln/>
          <a:effectLst>
            <a:outerShdw sx="100000" sy="100000" kx="0" ky="0" algn="bl" rotWithShape="0" blurRad="76200" dist="25400" dir="5400000">
              <a:srgbClr val="1F2933">
                <a:alpha val="10000"/>
              </a:srgbClr>
            </a:outerShdw>
          </a:effectLst>
        </p:spPr>
      </p:sp>
      <p:sp>
        <p:nvSpPr>
          <p:cNvPr id="20" name="Shape 15"/>
          <p:cNvSpPr/>
          <p:nvPr/>
        </p:nvSpPr>
        <p:spPr>
          <a:xfrm>
            <a:off x="822960" y="4251960"/>
            <a:ext cx="548640" cy="548640"/>
          </a:xfrm>
          <a:prstGeom prst="ellipse">
            <a:avLst/>
          </a:prstGeom>
          <a:solidFill>
            <a:srgbClr val="E69B00"/>
          </a:solidFill>
          <a:ln/>
        </p:spPr>
      </p:sp>
      <p:pic>
        <p:nvPicPr>
          <p:cNvPr id="21" name="Image 3" descr="preencoded.png">    </p:cNvPr>
          <p:cNvPicPr>
            <a:picLocks noChangeAspect="1"/>
          </p:cNvPicPr>
          <p:nvPr/>
        </p:nvPicPr>
        <p:blipFill>
          <a:blip r:embed="rId4"/>
          <a:stretch>
            <a:fillRect/>
          </a:stretch>
        </p:blipFill>
        <p:spPr>
          <a:xfrm>
            <a:off x="960120" y="4389120"/>
            <a:ext cx="274320" cy="274320"/>
          </a:xfrm>
          <a:prstGeom prst="rect">
            <a:avLst/>
          </a:prstGeom>
        </p:spPr>
      </p:pic>
      <p:sp>
        <p:nvSpPr>
          <p:cNvPr id="22" name="Text 16"/>
          <p:cNvSpPr txBox="1"/>
          <p:nvPr/>
        </p:nvSpPr>
        <p:spPr>
          <a:xfrm>
            <a:off x="1508760" y="429768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Indicadores</a:t>
            </a:r>
            <a:endParaRPr lang="en-US" sz="1700" dirty="0"/>
          </a:p>
        </p:txBody>
      </p:sp>
      <p:sp>
        <p:nvSpPr>
          <p:cNvPr id="23" name="Text 17"/>
          <p:cNvSpPr txBox="1"/>
          <p:nvPr/>
        </p:nvSpPr>
        <p:spPr>
          <a:xfrm>
            <a:off x="822960" y="4937760"/>
            <a:ext cx="3063240" cy="960120"/>
          </a:xfrm>
          <a:prstGeom prst="rect">
            <a:avLst/>
          </a:prstGeom>
          <a:noFill/>
          <a:ln/>
        </p:spPr>
        <p:txBody>
          <a:bodyPr wrap="square" lIns="0" tIns="0" rIns="0" bIns="0" rtlCol="0" anchor="t"/>
          <a:lstStyle/>
          <a:p>
            <a:pPr indent="0" marL="0">
              <a:buNone/>
            </a:pPr>
            <a:r>
              <a:rPr lang="en-US" sz="1400" dirty="0">
                <a:solidFill>
                  <a:schemeClr val="accent4"/>
                </a:solidFill>
              </a:rPr>
              <a:t>MTBF y MTTR por máquina, calculados desde los eventos consolidados.</a:t>
            </a:r>
            <a:endParaRPr lang="en-US" sz="1400" dirty="0"/>
          </a:p>
        </p:txBody>
      </p:sp>
      <p:sp>
        <p:nvSpPr>
          <p:cNvPr id="24" name="Shape 18"/>
          <p:cNvSpPr/>
          <p:nvPr/>
        </p:nvSpPr>
        <p:spPr>
          <a:xfrm>
            <a:off x="4315968" y="3977640"/>
            <a:ext cx="3557016" cy="2011680"/>
          </a:xfrm>
          <a:prstGeom prst="roundRect">
            <a:avLst>
              <a:gd name="adj" fmla="val 3636"/>
            </a:avLst>
          </a:prstGeom>
          <a:solidFill>
            <a:schemeClr val="accent4">
              <a:alpha val="12000"/>
            </a:schemeClr>
          </a:solidFill>
          <a:ln/>
        </p:spPr>
      </p:sp>
      <p:sp>
        <p:nvSpPr>
          <p:cNvPr id="25" name="Shape 19"/>
          <p:cNvSpPr/>
          <p:nvPr/>
        </p:nvSpPr>
        <p:spPr>
          <a:xfrm>
            <a:off x="4590288" y="4251960"/>
            <a:ext cx="548640" cy="548640"/>
          </a:xfrm>
          <a:prstGeom prst="ellipse">
            <a:avLst/>
          </a:prstGeom>
          <a:solidFill>
            <a:srgbClr val="5B6770"/>
          </a:solidFill>
          <a:ln/>
        </p:spPr>
      </p:sp>
      <p:pic>
        <p:nvPicPr>
          <p:cNvPr id="26" name="Image 4" descr="preencoded.png">    </p:cNvPr>
          <p:cNvPicPr>
            <a:picLocks noChangeAspect="1"/>
          </p:cNvPicPr>
          <p:nvPr/>
        </p:nvPicPr>
        <p:blipFill>
          <a:blip r:embed="rId5"/>
          <a:stretch>
            <a:fillRect/>
          </a:stretch>
        </p:blipFill>
        <p:spPr>
          <a:xfrm>
            <a:off x="4727448" y="4389120"/>
            <a:ext cx="274320" cy="274320"/>
          </a:xfrm>
          <a:prstGeom prst="rect">
            <a:avLst/>
          </a:prstGeom>
        </p:spPr>
      </p:pic>
      <p:sp>
        <p:nvSpPr>
          <p:cNvPr id="27" name="Text 20"/>
          <p:cNvSpPr txBox="1"/>
          <p:nvPr/>
        </p:nvSpPr>
        <p:spPr>
          <a:xfrm>
            <a:off x="5276088" y="429768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Fuera de alcance</a:t>
            </a:r>
            <a:endParaRPr lang="en-US" sz="1700" dirty="0"/>
          </a:p>
        </p:txBody>
      </p:sp>
      <p:sp>
        <p:nvSpPr>
          <p:cNvPr id="28" name="Text 21"/>
          <p:cNvSpPr txBox="1"/>
          <p:nvPr/>
        </p:nvSpPr>
        <p:spPr>
          <a:xfrm>
            <a:off x="4590288" y="4937760"/>
            <a:ext cx="3063240" cy="960120"/>
          </a:xfrm>
          <a:prstGeom prst="rect">
            <a:avLst/>
          </a:prstGeom>
          <a:noFill/>
          <a:ln/>
        </p:spPr>
        <p:txBody>
          <a:bodyPr wrap="square" lIns="0" tIns="0" rIns="0" bIns="0" rtlCol="0" anchor="t"/>
          <a:lstStyle/>
          <a:p>
            <a:pPr indent="0" marL="0">
              <a:buNone/>
            </a:pPr>
            <a:r>
              <a:rPr lang="en-US" sz="1400" dirty="0">
                <a:solidFill>
                  <a:schemeClr val="tx1"/>
                </a:solidFill>
              </a:rPr>
              <a:t>Los módulos existentes (OT, activos, topología, consulta documental) y el modelo predictivo avanzado.</a:t>
            </a:r>
            <a:endParaRPr lang="en-US" sz="1400" dirty="0"/>
          </a:p>
        </p:txBody>
      </p:sp>
      <p:sp>
        <p:nvSpPr>
          <p:cNvPr id="29" name="Shape 22"/>
          <p:cNvSpPr/>
          <p:nvPr/>
        </p:nvSpPr>
        <p:spPr>
          <a:xfrm>
            <a:off x="8083296" y="3977640"/>
            <a:ext cx="3557016" cy="2011680"/>
          </a:xfrm>
          <a:prstGeom prst="roundRect">
            <a:avLst>
              <a:gd name="adj" fmla="val 3636"/>
            </a:avLst>
          </a:prstGeom>
          <a:solidFill>
            <a:schemeClr val="accent4">
              <a:alpha val="12000"/>
            </a:schemeClr>
          </a:solidFill>
          <a:ln/>
        </p:spPr>
      </p:sp>
      <p:sp>
        <p:nvSpPr>
          <p:cNvPr id="30" name="Shape 23"/>
          <p:cNvSpPr/>
          <p:nvPr/>
        </p:nvSpPr>
        <p:spPr>
          <a:xfrm>
            <a:off x="8357616" y="4251960"/>
            <a:ext cx="548640" cy="548640"/>
          </a:xfrm>
          <a:prstGeom prst="ellipse">
            <a:avLst/>
          </a:prstGeom>
          <a:solidFill>
            <a:srgbClr val="5B6770"/>
          </a:solidFill>
          <a:ln/>
        </p:spPr>
      </p:sp>
      <p:pic>
        <p:nvPicPr>
          <p:cNvPr id="31" name="Image 5" descr="preencoded.png">    </p:cNvPr>
          <p:cNvPicPr>
            <a:picLocks noChangeAspect="1"/>
          </p:cNvPicPr>
          <p:nvPr/>
        </p:nvPicPr>
        <p:blipFill>
          <a:blip r:embed="rId6"/>
          <a:stretch>
            <a:fillRect/>
          </a:stretch>
        </p:blipFill>
        <p:spPr>
          <a:xfrm>
            <a:off x="8494776" y="4389120"/>
            <a:ext cx="274320" cy="274320"/>
          </a:xfrm>
          <a:prstGeom prst="rect">
            <a:avLst/>
          </a:prstGeom>
        </p:spPr>
      </p:pic>
      <p:sp>
        <p:nvSpPr>
          <p:cNvPr id="32" name="Text 24"/>
          <p:cNvSpPr txBox="1"/>
          <p:nvPr/>
        </p:nvSpPr>
        <p:spPr>
          <a:xfrm>
            <a:off x="9043416" y="429768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Restricciones</a:t>
            </a:r>
            <a:endParaRPr lang="en-US" sz="1700" dirty="0"/>
          </a:p>
        </p:txBody>
      </p:sp>
      <p:sp>
        <p:nvSpPr>
          <p:cNvPr id="33" name="Text 25"/>
          <p:cNvSpPr txBox="1"/>
          <p:nvPr/>
        </p:nvSpPr>
        <p:spPr>
          <a:xfrm>
            <a:off x="8357616" y="4937760"/>
            <a:ext cx="3063240" cy="960120"/>
          </a:xfrm>
          <a:prstGeom prst="rect">
            <a:avLst/>
          </a:prstGeom>
          <a:noFill/>
          <a:ln/>
        </p:spPr>
        <p:txBody>
          <a:bodyPr wrap="square" lIns="0" tIns="0" rIns="0" bIns="0" rtlCol="0" anchor="t"/>
          <a:lstStyle/>
          <a:p>
            <a:pPr indent="0" marL="0">
              <a:buNone/>
            </a:pPr>
            <a:r>
              <a:rPr lang="en-US" sz="1400" dirty="0">
                <a:solidFill>
                  <a:schemeClr val="tx1"/>
                </a:solidFill>
              </a:rPr>
              <a:t>Sin acceso a un ERP real; los cambios al modelo de datos deben ser solo aditivos.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Metodología de trabajo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Scrum adaptado al trabajo individual · sprints de dos semanas con incremento funcional validado por Alloxentric</a:t>
            </a:r>
            <a:endParaRPr lang="en-US" sz="1500" dirty="0"/>
          </a:p>
        </p:txBody>
      </p:sp>
      <p:sp>
        <p:nvSpPr>
          <p:cNvPr id="4" name="Shape 2"/>
          <p:cNvSpPr/>
          <p:nvPr/>
        </p:nvSpPr>
        <p:spPr>
          <a:xfrm>
            <a:off x="548640" y="1783080"/>
            <a:ext cx="3557016" cy="3246120"/>
          </a:xfrm>
          <a:prstGeom prst="roundRect">
            <a:avLst>
              <a:gd name="adj" fmla="val 2254"/>
            </a:avLst>
          </a:prstGeom>
          <a:solidFill>
            <a:schemeClr val="bg1"/>
          </a:solidFill>
          <a:ln/>
          <a:effectLst>
            <a:outerShdw sx="100000" sy="100000" kx="0" ky="0" algn="bl" rotWithShape="0" blurRad="76200" dist="25400" dir="5400000">
              <a:srgbClr val="1F2933">
                <a:alpha val="10000"/>
              </a:srgbClr>
            </a:outerShdw>
          </a:effectLst>
        </p:spPr>
      </p:sp>
      <p:sp>
        <p:nvSpPr>
          <p:cNvPr id="5" name="Text 3"/>
          <p:cNvSpPr txBox="1"/>
          <p:nvPr/>
        </p:nvSpPr>
        <p:spPr>
          <a:xfrm>
            <a:off x="822960" y="2011680"/>
            <a:ext cx="3017520"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FASE 1</a:t>
            </a:r>
            <a:endParaRPr lang="en-US" sz="1100" dirty="0"/>
          </a:p>
        </p:txBody>
      </p:sp>
      <p:sp>
        <p:nvSpPr>
          <p:cNvPr id="6" name="Text 4"/>
          <p:cNvSpPr txBox="1"/>
          <p:nvPr/>
        </p:nvSpPr>
        <p:spPr>
          <a:xfrm>
            <a:off x="822960" y="2286000"/>
            <a:ext cx="3017520" cy="411480"/>
          </a:xfrm>
          <a:prstGeom prst="rect">
            <a:avLst/>
          </a:prstGeom>
          <a:noFill/>
          <a:ln/>
        </p:spPr>
        <p:txBody>
          <a:bodyPr wrap="square" lIns="0" tIns="0" rIns="0" bIns="0" rtlCol="0" anchor="t"/>
          <a:lstStyle/>
          <a:p>
            <a:pPr indent="0" marL="0">
              <a:buNone/>
            </a:pPr>
            <a:r>
              <a:rPr lang="en-US" sz="2000" b="1" dirty="0">
                <a:solidFill>
                  <a:schemeClr val="tx1"/>
                </a:solidFill>
              </a:rPr>
              <a:t>Definición</a:t>
            </a:r>
            <a:endParaRPr lang="en-US" sz="2000" dirty="0"/>
          </a:p>
        </p:txBody>
      </p:sp>
      <p:sp>
        <p:nvSpPr>
          <p:cNvPr id="7" name="Text 5"/>
          <p:cNvSpPr txBox="1"/>
          <p:nvPr/>
        </p:nvSpPr>
        <p:spPr>
          <a:xfrm>
            <a:off x="822960" y="2697480"/>
            <a:ext cx="3017520" cy="274320"/>
          </a:xfrm>
          <a:prstGeom prst="rect">
            <a:avLst/>
          </a:prstGeom>
          <a:noFill/>
          <a:ln/>
        </p:spPr>
        <p:txBody>
          <a:bodyPr wrap="square" lIns="0" tIns="0" rIns="0" bIns="0" rtlCol="0" anchor="t"/>
          <a:lstStyle/>
          <a:p>
            <a:pPr indent="0" marL="0">
              <a:buNone/>
            </a:pPr>
            <a:r>
              <a:rPr lang="en-US" sz="1300" dirty="0">
                <a:solidFill>
                  <a:schemeClr val="accent4"/>
                </a:solidFill>
              </a:rPr>
              <a:t>Semanas 1 – 4</a:t>
            </a:r>
            <a:endParaRPr lang="en-US" sz="1300" dirty="0"/>
          </a:p>
        </p:txBody>
      </p:sp>
      <p:sp>
        <p:nvSpPr>
          <p:cNvPr id="8" name="Text 6"/>
          <p:cNvSpPr txBox="1"/>
          <p:nvPr/>
        </p:nvSpPr>
        <p:spPr>
          <a:xfrm>
            <a:off x="822960" y="3154680"/>
            <a:ext cx="306324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Análisis de la especificación y del esquema existente</a:t>
            </a:r>
            <a:endParaRPr lang="en-US" sz="1400" dirty="0"/>
          </a:p>
          <a:p>
            <a:pPr marL="177800" indent="-177800">
              <a:spcAft>
                <a:spcPts val="800"/>
              </a:spcAft>
              <a:buSzPct val="100000"/>
              <a:buChar char="•"/>
            </a:pPr>
            <a:r>
              <a:rPr lang="en-US" sz="1400" dirty="0">
                <a:solidFill>
                  <a:schemeClr val="tx1"/>
                </a:solidFill>
              </a:rPr>
              <a:t>Delimitación del requerimiento asignado</a:t>
            </a:r>
            <a:endParaRPr lang="en-US" sz="1400" dirty="0"/>
          </a:p>
          <a:p>
            <a:pPr marL="177800" indent="-177800">
              <a:spcAft>
                <a:spcPts val="800"/>
              </a:spcAft>
              <a:buSzPct val="100000"/>
              <a:buChar char="•"/>
            </a:pPr>
            <a:r>
              <a:rPr lang="en-US" sz="1400" dirty="0">
                <a:solidFill>
                  <a:schemeClr val="tx1"/>
                </a:solidFill>
              </a:rPr>
              <a:t>Backlog priorizado con criterios de aceptación</a:t>
            </a:r>
            <a:endParaRPr lang="en-US" sz="1400" dirty="0"/>
          </a:p>
        </p:txBody>
      </p:sp>
      <p:sp>
        <p:nvSpPr>
          <p:cNvPr id="9" name="Shape 7"/>
          <p:cNvSpPr/>
          <p:nvPr/>
        </p:nvSpPr>
        <p:spPr>
          <a:xfrm>
            <a:off x="4315968" y="1783080"/>
            <a:ext cx="3557016" cy="3246120"/>
          </a:xfrm>
          <a:prstGeom prst="roundRect">
            <a:avLst>
              <a:gd name="adj" fmla="val 2254"/>
            </a:avLst>
          </a:prstGeom>
          <a:solidFill>
            <a:schemeClr val="bg1"/>
          </a:solidFill>
          <a:ln w="25400">
            <a:solidFill>
              <a:schemeClr val="accent1"/>
            </a:solidFill>
            <a:prstDash val="solid"/>
          </a:ln>
          <a:effectLst>
            <a:outerShdw sx="100000" sy="100000" kx="0" ky="0" algn="bl" rotWithShape="0" blurRad="76200" dist="25400" dir="5400000">
              <a:srgbClr val="1F2933">
                <a:alpha val="10000"/>
              </a:srgbClr>
            </a:outerShdw>
          </a:effectLst>
        </p:spPr>
      </p:sp>
      <p:sp>
        <p:nvSpPr>
          <p:cNvPr id="10" name="Text 8"/>
          <p:cNvSpPr txBox="1"/>
          <p:nvPr/>
        </p:nvSpPr>
        <p:spPr>
          <a:xfrm>
            <a:off x="4590288" y="2011680"/>
            <a:ext cx="3017520"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FASE 2</a:t>
            </a:r>
            <a:endParaRPr lang="en-US" sz="1100" dirty="0"/>
          </a:p>
        </p:txBody>
      </p:sp>
      <p:sp>
        <p:nvSpPr>
          <p:cNvPr id="11" name="Text 9"/>
          <p:cNvSpPr txBox="1"/>
          <p:nvPr/>
        </p:nvSpPr>
        <p:spPr>
          <a:xfrm>
            <a:off x="4590288" y="2286000"/>
            <a:ext cx="3017520" cy="411480"/>
          </a:xfrm>
          <a:prstGeom prst="rect">
            <a:avLst/>
          </a:prstGeom>
          <a:noFill/>
          <a:ln/>
        </p:spPr>
        <p:txBody>
          <a:bodyPr wrap="square" lIns="0" tIns="0" rIns="0" bIns="0" rtlCol="0" anchor="t"/>
          <a:lstStyle/>
          <a:p>
            <a:pPr indent="0" marL="0">
              <a:buNone/>
            </a:pPr>
            <a:r>
              <a:rPr lang="en-US" sz="2000" b="1" dirty="0">
                <a:solidFill>
                  <a:schemeClr val="tx1"/>
                </a:solidFill>
              </a:rPr>
              <a:t>Construcción incremental</a:t>
            </a:r>
            <a:endParaRPr lang="en-US" sz="2000" dirty="0"/>
          </a:p>
        </p:txBody>
      </p:sp>
      <p:sp>
        <p:nvSpPr>
          <p:cNvPr id="12" name="Text 10"/>
          <p:cNvSpPr txBox="1"/>
          <p:nvPr/>
        </p:nvSpPr>
        <p:spPr>
          <a:xfrm>
            <a:off x="4590288" y="2697480"/>
            <a:ext cx="3017520" cy="274320"/>
          </a:xfrm>
          <a:prstGeom prst="rect">
            <a:avLst/>
          </a:prstGeom>
          <a:noFill/>
          <a:ln/>
        </p:spPr>
        <p:txBody>
          <a:bodyPr wrap="square" lIns="0" tIns="0" rIns="0" bIns="0" rtlCol="0" anchor="t"/>
          <a:lstStyle/>
          <a:p>
            <a:pPr indent="0" marL="0">
              <a:buNone/>
            </a:pPr>
            <a:r>
              <a:rPr lang="en-US" sz="1300" dirty="0">
                <a:solidFill>
                  <a:schemeClr val="accent4"/>
                </a:solidFill>
              </a:rPr>
              <a:t>Semanas 5 – 16</a:t>
            </a:r>
            <a:endParaRPr lang="en-US" sz="1300" dirty="0"/>
          </a:p>
        </p:txBody>
      </p:sp>
      <p:sp>
        <p:nvSpPr>
          <p:cNvPr id="13" name="Text 11"/>
          <p:cNvSpPr txBox="1"/>
          <p:nvPr/>
        </p:nvSpPr>
        <p:spPr>
          <a:xfrm>
            <a:off x="4590288" y="3154680"/>
            <a:ext cx="306324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Modelo canónico y extensión del modelo de datos</a:t>
            </a:r>
            <a:endParaRPr lang="en-US" sz="1400" dirty="0"/>
          </a:p>
          <a:p>
            <a:pPr marL="177800" indent="-177800">
              <a:spcAft>
                <a:spcPts val="800"/>
              </a:spcAft>
              <a:buSzPct val="100000"/>
              <a:buChar char="•"/>
            </a:pPr>
            <a:r>
              <a:rPr lang="en-US" sz="1400" dirty="0">
                <a:solidFill>
                  <a:schemeClr val="tx1"/>
                </a:solidFill>
              </a:rPr>
              <a:t>Interfaz y API de conectores</a:t>
            </a:r>
            <a:endParaRPr lang="en-US" sz="1400" dirty="0"/>
          </a:p>
          <a:p>
            <a:pPr marL="177800" indent="-177800">
              <a:spcAft>
                <a:spcPts val="800"/>
              </a:spcAft>
              <a:buSzPct val="100000"/>
              <a:buChar char="•"/>
            </a:pPr>
            <a:r>
              <a:rPr lang="en-US" sz="1400" dirty="0">
                <a:solidFill>
                  <a:schemeClr val="tx1"/>
                </a:solidFill>
              </a:rPr>
              <a:t>Conector de referencia, ingesta e indicadores</a:t>
            </a:r>
            <a:endParaRPr lang="en-US" sz="1400" dirty="0"/>
          </a:p>
        </p:txBody>
      </p:sp>
      <p:sp>
        <p:nvSpPr>
          <p:cNvPr id="14" name="Shape 12"/>
          <p:cNvSpPr/>
          <p:nvPr/>
        </p:nvSpPr>
        <p:spPr>
          <a:xfrm>
            <a:off x="8083296" y="1783080"/>
            <a:ext cx="3557016" cy="3246120"/>
          </a:xfrm>
          <a:prstGeom prst="roundRect">
            <a:avLst>
              <a:gd name="adj" fmla="val 2254"/>
            </a:avLst>
          </a:prstGeom>
          <a:solidFill>
            <a:schemeClr val="bg1"/>
          </a:solidFill>
          <a:ln/>
          <a:effectLst>
            <a:outerShdw sx="100000" sy="100000" kx="0" ky="0" algn="bl" rotWithShape="0" blurRad="76200" dist="25400" dir="5400000">
              <a:srgbClr val="1F2933">
                <a:alpha val="10000"/>
              </a:srgbClr>
            </a:outerShdw>
          </a:effectLst>
        </p:spPr>
      </p:sp>
      <p:sp>
        <p:nvSpPr>
          <p:cNvPr id="15" name="Text 13"/>
          <p:cNvSpPr txBox="1"/>
          <p:nvPr/>
        </p:nvSpPr>
        <p:spPr>
          <a:xfrm>
            <a:off x="8357616" y="2011680"/>
            <a:ext cx="3017520"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FASE 3</a:t>
            </a:r>
            <a:endParaRPr lang="en-US" sz="1100" dirty="0"/>
          </a:p>
        </p:txBody>
      </p:sp>
      <p:sp>
        <p:nvSpPr>
          <p:cNvPr id="16" name="Text 14"/>
          <p:cNvSpPr txBox="1"/>
          <p:nvPr/>
        </p:nvSpPr>
        <p:spPr>
          <a:xfrm>
            <a:off x="8357616" y="2286000"/>
            <a:ext cx="3017520" cy="411480"/>
          </a:xfrm>
          <a:prstGeom prst="rect">
            <a:avLst/>
          </a:prstGeom>
          <a:noFill/>
          <a:ln/>
        </p:spPr>
        <p:txBody>
          <a:bodyPr wrap="square" lIns="0" tIns="0" rIns="0" bIns="0" rtlCol="0" anchor="t"/>
          <a:lstStyle/>
          <a:p>
            <a:pPr indent="0" marL="0">
              <a:buNone/>
            </a:pPr>
            <a:r>
              <a:rPr lang="en-US" sz="2000" b="1" dirty="0">
                <a:solidFill>
                  <a:schemeClr val="tx1"/>
                </a:solidFill>
              </a:rPr>
              <a:t>Validación y cierre</a:t>
            </a:r>
            <a:endParaRPr lang="en-US" sz="2000" dirty="0"/>
          </a:p>
        </p:txBody>
      </p:sp>
      <p:sp>
        <p:nvSpPr>
          <p:cNvPr id="17" name="Text 15"/>
          <p:cNvSpPr txBox="1"/>
          <p:nvPr/>
        </p:nvSpPr>
        <p:spPr>
          <a:xfrm>
            <a:off x="8357616" y="2697480"/>
            <a:ext cx="3017520" cy="274320"/>
          </a:xfrm>
          <a:prstGeom prst="rect">
            <a:avLst/>
          </a:prstGeom>
          <a:noFill/>
          <a:ln/>
        </p:spPr>
        <p:txBody>
          <a:bodyPr wrap="square" lIns="0" tIns="0" rIns="0" bIns="0" rtlCol="0" anchor="t"/>
          <a:lstStyle/>
          <a:p>
            <a:pPr indent="0" marL="0">
              <a:buNone/>
            </a:pPr>
            <a:r>
              <a:rPr lang="en-US" sz="1300" dirty="0">
                <a:solidFill>
                  <a:schemeClr val="accent4"/>
                </a:solidFill>
              </a:rPr>
              <a:t>Semanas 17 – 18</a:t>
            </a:r>
            <a:endParaRPr lang="en-US" sz="1300" dirty="0"/>
          </a:p>
        </p:txBody>
      </p:sp>
      <p:sp>
        <p:nvSpPr>
          <p:cNvPr id="18" name="Text 16"/>
          <p:cNvSpPr txBox="1"/>
          <p:nvPr/>
        </p:nvSpPr>
        <p:spPr>
          <a:xfrm>
            <a:off x="8357616" y="3154680"/>
            <a:ext cx="306324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Pruebas automatizadas y corrección</a:t>
            </a:r>
            <a:endParaRPr lang="en-US" sz="1400" dirty="0"/>
          </a:p>
          <a:p>
            <a:pPr marL="177800" indent="-177800">
              <a:spcAft>
                <a:spcPts val="800"/>
              </a:spcAft>
              <a:buSzPct val="100000"/>
              <a:buChar char="•"/>
            </a:pPr>
            <a:r>
              <a:rPr lang="en-US" sz="1400" dirty="0">
                <a:solidFill>
                  <a:schemeClr val="tx1"/>
                </a:solidFill>
              </a:rPr>
              <a:t>Revisión con Alloxentric</a:t>
            </a:r>
            <a:endParaRPr lang="en-US" sz="1400" dirty="0"/>
          </a:p>
          <a:p>
            <a:pPr marL="177800" indent="-177800">
              <a:spcAft>
                <a:spcPts val="800"/>
              </a:spcAft>
              <a:buSzPct val="100000"/>
              <a:buChar char="•"/>
            </a:pPr>
            <a:r>
              <a:rPr lang="en-US" sz="1400" dirty="0">
                <a:solidFill>
                  <a:schemeClr val="tx1"/>
                </a:solidFill>
              </a:rPr>
              <a:t>Documentación técnica y entrega</a:t>
            </a:r>
            <a:endParaRPr lang="en-US" sz="1400" dirty="0"/>
          </a:p>
        </p:txBody>
      </p:sp>
      <p:sp>
        <p:nvSpPr>
          <p:cNvPr id="19" name="Shape 17"/>
          <p:cNvSpPr/>
          <p:nvPr/>
        </p:nvSpPr>
        <p:spPr>
          <a:xfrm>
            <a:off x="548640" y="5257800"/>
            <a:ext cx="11091672" cy="914400"/>
          </a:xfrm>
          <a:prstGeom prst="roundRect">
            <a:avLst>
              <a:gd name="adj" fmla="val 8000"/>
            </a:avLst>
          </a:prstGeom>
          <a:solidFill>
            <a:schemeClr val="accent3">
              <a:alpha val="10000"/>
            </a:schemeClr>
          </a:solidFill>
          <a:ln/>
        </p:spPr>
      </p:sp>
      <p:sp>
        <p:nvSpPr>
          <p:cNvPr id="20" name="Shape 18"/>
          <p:cNvSpPr/>
          <p:nvPr/>
        </p:nvSpPr>
        <p:spPr>
          <a:xfrm>
            <a:off x="822960" y="5440680"/>
            <a:ext cx="548640" cy="548640"/>
          </a:xfrm>
          <a:prstGeom prst="ellipse">
            <a:avLst/>
          </a:prstGeom>
          <a:solidFill>
            <a:srgbClr val="2B6CB0"/>
          </a:solidFill>
          <a:ln/>
        </p:spPr>
      </p:sp>
      <p:pic>
        <p:nvPicPr>
          <p:cNvPr id="21" name="Image 0" descr="preencoded.png">    </p:cNvPr>
          <p:cNvPicPr>
            <a:picLocks noChangeAspect="1"/>
          </p:cNvPicPr>
          <p:nvPr/>
        </p:nvPicPr>
        <p:blipFill>
          <a:blip r:embed="rId1"/>
          <a:stretch>
            <a:fillRect/>
          </a:stretch>
        </p:blipFill>
        <p:spPr>
          <a:xfrm>
            <a:off x="960120" y="5577840"/>
            <a:ext cx="274320" cy="274320"/>
          </a:xfrm>
          <a:prstGeom prst="rect">
            <a:avLst/>
          </a:prstGeom>
        </p:spPr>
      </p:pic>
      <p:sp>
        <p:nvSpPr>
          <p:cNvPr id="22" name="Text 19"/>
          <p:cNvSpPr txBox="1"/>
          <p:nvPr/>
        </p:nvSpPr>
        <p:spPr>
          <a:xfrm>
            <a:off x="1600200" y="5349240"/>
            <a:ext cx="9829800" cy="731520"/>
          </a:xfrm>
          <a:prstGeom prst="rect">
            <a:avLst/>
          </a:prstGeom>
          <a:noFill/>
          <a:ln/>
        </p:spPr>
        <p:txBody>
          <a:bodyPr wrap="square" lIns="0" tIns="0" rIns="0" bIns="0" rtlCol="0" anchor="ctr"/>
          <a:lstStyle/>
          <a:p>
            <a:pPr indent="0" marL="0">
              <a:buNone/>
            </a:pPr>
            <a:r>
              <a:rPr lang="en-US" sz="1400" b="1" dirty="0">
                <a:solidFill>
                  <a:schemeClr val="tx1"/>
                </a:solidFill>
              </a:rPr>
              <a:t>Definición de terminado: </a:t>
            </a:r>
            <a:pPr indent="0" marL="0">
              <a:buNone/>
            </a:pPr>
            <a:r>
              <a:rPr lang="en-US" sz="1400" dirty="0">
                <a:solidFill>
                  <a:schemeClr val="tx1"/>
                </a:solidFill>
              </a:rPr>
              <a:t>cada incremento queda versionado en Git, con su prueba ejecutada y su documentación actualizada. Los cambios a la base de datos se aplican solo con migraciones aditivas e idempotentes.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Cronograma para el desarrollo del proyecto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Cronograma de inicio con el cumplimiento de cada actividad a la fecha</a:t>
            </a:r>
            <a:endParaRPr lang="en-US" sz="1500" dirty="0"/>
          </a:p>
        </p:txBody>
      </p:sp>
      <p:sp>
        <p:nvSpPr>
          <p:cNvPr id="4" name="Shape 2"/>
          <p:cNvSpPr/>
          <p:nvPr/>
        </p:nvSpPr>
        <p:spPr>
          <a:xfrm>
            <a:off x="548640" y="1691640"/>
            <a:ext cx="11091672" cy="4526280"/>
          </a:xfrm>
          <a:prstGeom prst="roundRect">
            <a:avLst>
              <a:gd name="adj" fmla="val 1616"/>
            </a:avLst>
          </a:prstGeom>
          <a:solidFill>
            <a:schemeClr val="bg1"/>
          </a:solidFill>
          <a:ln/>
          <a:effectLst>
            <a:outerShdw sx="100000" sy="100000" kx="0" ky="0" algn="bl" rotWithShape="0" blurRad="76200" dist="25400" dir="5400000">
              <a:srgbClr val="1F2933">
                <a:alpha val="10000"/>
              </a:srgbClr>
            </a:outerShdw>
          </a:effectLst>
        </p:spPr>
      </p:sp>
      <p:sp>
        <p:nvSpPr>
          <p:cNvPr id="5" name="Shape 3"/>
          <p:cNvSpPr/>
          <p:nvPr/>
        </p:nvSpPr>
        <p:spPr>
          <a:xfrm>
            <a:off x="3886200" y="1810512"/>
            <a:ext cx="1399032" cy="201168"/>
          </a:xfrm>
          <a:prstGeom prst="rect">
            <a:avLst/>
          </a:prstGeom>
          <a:solidFill>
            <a:schemeClr val="accent2">
              <a:alpha val="25000"/>
            </a:schemeClr>
          </a:solidFill>
          <a:ln/>
        </p:spPr>
      </p:sp>
      <p:sp>
        <p:nvSpPr>
          <p:cNvPr id="6" name="Text 4"/>
          <p:cNvSpPr txBox="1"/>
          <p:nvPr/>
        </p:nvSpPr>
        <p:spPr>
          <a:xfrm>
            <a:off x="3886200" y="1810512"/>
            <a:ext cx="1426464" cy="201168"/>
          </a:xfrm>
          <a:prstGeom prst="rect">
            <a:avLst/>
          </a:prstGeom>
          <a:noFill/>
          <a:ln/>
        </p:spPr>
        <p:txBody>
          <a:bodyPr wrap="square" lIns="0" tIns="0" rIns="0" bIns="0" rtlCol="0" anchor="ctr"/>
          <a:lstStyle/>
          <a:p>
            <a:pPr algn="ctr" indent="0" marL="0">
              <a:buNone/>
            </a:pPr>
            <a:r>
              <a:rPr lang="en-US" sz="1000" b="1" dirty="0">
                <a:solidFill>
                  <a:schemeClr val="tx1"/>
                </a:solidFill>
              </a:rPr>
              <a:t>Fase 1</a:t>
            </a:r>
            <a:endParaRPr lang="en-US" sz="1000" dirty="0"/>
          </a:p>
        </p:txBody>
      </p:sp>
      <p:sp>
        <p:nvSpPr>
          <p:cNvPr id="7" name="Shape 5"/>
          <p:cNvSpPr/>
          <p:nvPr/>
        </p:nvSpPr>
        <p:spPr>
          <a:xfrm>
            <a:off x="5312664" y="1810512"/>
            <a:ext cx="4251960" cy="201168"/>
          </a:xfrm>
          <a:prstGeom prst="rect">
            <a:avLst/>
          </a:prstGeom>
          <a:solidFill>
            <a:schemeClr val="accent1">
              <a:alpha val="25000"/>
            </a:schemeClr>
          </a:solidFill>
          <a:ln/>
        </p:spPr>
      </p:sp>
      <p:sp>
        <p:nvSpPr>
          <p:cNvPr id="8" name="Text 6"/>
          <p:cNvSpPr txBox="1"/>
          <p:nvPr/>
        </p:nvSpPr>
        <p:spPr>
          <a:xfrm>
            <a:off x="5312664" y="1810512"/>
            <a:ext cx="4279392" cy="201168"/>
          </a:xfrm>
          <a:prstGeom prst="rect">
            <a:avLst/>
          </a:prstGeom>
          <a:noFill/>
          <a:ln/>
        </p:spPr>
        <p:txBody>
          <a:bodyPr wrap="square" lIns="0" tIns="0" rIns="0" bIns="0" rtlCol="0" anchor="ctr"/>
          <a:lstStyle/>
          <a:p>
            <a:pPr algn="ctr" indent="0" marL="0">
              <a:buNone/>
            </a:pPr>
            <a:r>
              <a:rPr lang="en-US" sz="1000" b="1" dirty="0">
                <a:solidFill>
                  <a:schemeClr val="tx1"/>
                </a:solidFill>
              </a:rPr>
              <a:t>Fase 2</a:t>
            </a:r>
            <a:endParaRPr lang="en-US" sz="1000" dirty="0"/>
          </a:p>
        </p:txBody>
      </p:sp>
      <p:sp>
        <p:nvSpPr>
          <p:cNvPr id="9" name="Shape 7"/>
          <p:cNvSpPr/>
          <p:nvPr/>
        </p:nvSpPr>
        <p:spPr>
          <a:xfrm>
            <a:off x="9592056" y="1810512"/>
            <a:ext cx="685800" cy="201168"/>
          </a:xfrm>
          <a:prstGeom prst="rect">
            <a:avLst/>
          </a:prstGeom>
          <a:solidFill>
            <a:schemeClr val="accent5">
              <a:alpha val="25000"/>
            </a:schemeClr>
          </a:solidFill>
          <a:ln/>
        </p:spPr>
      </p:sp>
      <p:sp>
        <p:nvSpPr>
          <p:cNvPr id="10" name="Text 8"/>
          <p:cNvSpPr txBox="1"/>
          <p:nvPr/>
        </p:nvSpPr>
        <p:spPr>
          <a:xfrm>
            <a:off x="9592056" y="1810512"/>
            <a:ext cx="713232" cy="201168"/>
          </a:xfrm>
          <a:prstGeom prst="rect">
            <a:avLst/>
          </a:prstGeom>
          <a:noFill/>
          <a:ln/>
        </p:spPr>
        <p:txBody>
          <a:bodyPr wrap="square" lIns="0" tIns="0" rIns="0" bIns="0" rtlCol="0" anchor="ctr"/>
          <a:lstStyle/>
          <a:p>
            <a:pPr algn="ctr" indent="0" marL="0">
              <a:buNone/>
            </a:pPr>
            <a:r>
              <a:rPr lang="en-US" sz="1000" b="1" dirty="0">
                <a:solidFill>
                  <a:schemeClr val="tx1"/>
                </a:solidFill>
              </a:rPr>
              <a:t>Fase 3</a:t>
            </a:r>
            <a:endParaRPr lang="en-US" sz="1000" dirty="0"/>
          </a:p>
        </p:txBody>
      </p:sp>
      <p:sp>
        <p:nvSpPr>
          <p:cNvPr id="11" name="Text 9"/>
          <p:cNvSpPr txBox="1"/>
          <p:nvPr/>
        </p:nvSpPr>
        <p:spPr>
          <a:xfrm>
            <a:off x="3886200"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a:t>
            </a:r>
            <a:endParaRPr lang="en-US" sz="900" dirty="0"/>
          </a:p>
        </p:txBody>
      </p:sp>
      <p:sp>
        <p:nvSpPr>
          <p:cNvPr id="12" name="Shape 10"/>
          <p:cNvSpPr/>
          <p:nvPr/>
        </p:nvSpPr>
        <p:spPr>
          <a:xfrm>
            <a:off x="3886200" y="2194560"/>
            <a:ext cx="356616" cy="3621024"/>
          </a:xfrm>
          <a:prstGeom prst="rect">
            <a:avLst/>
          </a:prstGeom>
          <a:solidFill>
            <a:schemeClr val="bg2"/>
          </a:solidFill>
          <a:ln/>
        </p:spPr>
      </p:sp>
      <p:sp>
        <p:nvSpPr>
          <p:cNvPr id="13" name="Text 11"/>
          <p:cNvSpPr txBox="1"/>
          <p:nvPr/>
        </p:nvSpPr>
        <p:spPr>
          <a:xfrm>
            <a:off x="4242816"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S2</a:t>
            </a:r>
            <a:endParaRPr lang="en-US" sz="900" dirty="0"/>
          </a:p>
        </p:txBody>
      </p:sp>
      <p:sp>
        <p:nvSpPr>
          <p:cNvPr id="14" name="Text 12"/>
          <p:cNvSpPr txBox="1"/>
          <p:nvPr/>
        </p:nvSpPr>
        <p:spPr>
          <a:xfrm>
            <a:off x="4599432"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S3</a:t>
            </a:r>
            <a:endParaRPr lang="en-US" sz="900" dirty="0"/>
          </a:p>
        </p:txBody>
      </p:sp>
      <p:sp>
        <p:nvSpPr>
          <p:cNvPr id="15" name="Shape 13"/>
          <p:cNvSpPr/>
          <p:nvPr/>
        </p:nvSpPr>
        <p:spPr>
          <a:xfrm>
            <a:off x="4599432" y="2194560"/>
            <a:ext cx="356616" cy="3621024"/>
          </a:xfrm>
          <a:prstGeom prst="rect">
            <a:avLst/>
          </a:prstGeom>
          <a:solidFill>
            <a:schemeClr val="bg2"/>
          </a:solidFill>
          <a:ln/>
        </p:spPr>
      </p:sp>
      <p:sp>
        <p:nvSpPr>
          <p:cNvPr id="16" name="Text 14"/>
          <p:cNvSpPr txBox="1"/>
          <p:nvPr/>
        </p:nvSpPr>
        <p:spPr>
          <a:xfrm>
            <a:off x="4956048"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S4</a:t>
            </a:r>
            <a:endParaRPr lang="en-US" sz="900" dirty="0"/>
          </a:p>
        </p:txBody>
      </p:sp>
      <p:sp>
        <p:nvSpPr>
          <p:cNvPr id="17" name="Text 15"/>
          <p:cNvSpPr txBox="1"/>
          <p:nvPr/>
        </p:nvSpPr>
        <p:spPr>
          <a:xfrm>
            <a:off x="5312664"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S5</a:t>
            </a:r>
            <a:endParaRPr lang="en-US" sz="900" dirty="0"/>
          </a:p>
        </p:txBody>
      </p:sp>
      <p:sp>
        <p:nvSpPr>
          <p:cNvPr id="18" name="Shape 16"/>
          <p:cNvSpPr/>
          <p:nvPr/>
        </p:nvSpPr>
        <p:spPr>
          <a:xfrm>
            <a:off x="5312664" y="2194560"/>
            <a:ext cx="356616" cy="3621024"/>
          </a:xfrm>
          <a:prstGeom prst="rect">
            <a:avLst/>
          </a:prstGeom>
          <a:solidFill>
            <a:schemeClr val="bg2"/>
          </a:solidFill>
          <a:ln/>
        </p:spPr>
      </p:sp>
      <p:sp>
        <p:nvSpPr>
          <p:cNvPr id="19" name="Text 17"/>
          <p:cNvSpPr txBox="1"/>
          <p:nvPr/>
        </p:nvSpPr>
        <p:spPr>
          <a:xfrm>
            <a:off x="5669280"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S6</a:t>
            </a:r>
            <a:endParaRPr lang="en-US" sz="900" dirty="0"/>
          </a:p>
        </p:txBody>
      </p:sp>
      <p:sp>
        <p:nvSpPr>
          <p:cNvPr id="20" name="Text 18"/>
          <p:cNvSpPr txBox="1"/>
          <p:nvPr/>
        </p:nvSpPr>
        <p:spPr>
          <a:xfrm>
            <a:off x="6025896"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S7</a:t>
            </a:r>
            <a:endParaRPr lang="en-US" sz="900" dirty="0"/>
          </a:p>
        </p:txBody>
      </p:sp>
      <p:sp>
        <p:nvSpPr>
          <p:cNvPr id="21" name="Shape 19"/>
          <p:cNvSpPr/>
          <p:nvPr/>
        </p:nvSpPr>
        <p:spPr>
          <a:xfrm>
            <a:off x="6025896" y="2194560"/>
            <a:ext cx="356616" cy="3621024"/>
          </a:xfrm>
          <a:prstGeom prst="rect">
            <a:avLst/>
          </a:prstGeom>
          <a:solidFill>
            <a:schemeClr val="bg2"/>
          </a:solidFill>
          <a:ln/>
        </p:spPr>
      </p:sp>
      <p:sp>
        <p:nvSpPr>
          <p:cNvPr id="22" name="Text 20"/>
          <p:cNvSpPr txBox="1"/>
          <p:nvPr/>
        </p:nvSpPr>
        <p:spPr>
          <a:xfrm>
            <a:off x="6382512"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S8</a:t>
            </a:r>
            <a:endParaRPr lang="en-US" sz="900" dirty="0"/>
          </a:p>
        </p:txBody>
      </p:sp>
      <p:sp>
        <p:nvSpPr>
          <p:cNvPr id="23" name="Text 21"/>
          <p:cNvSpPr txBox="1"/>
          <p:nvPr/>
        </p:nvSpPr>
        <p:spPr>
          <a:xfrm>
            <a:off x="6739128"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S9</a:t>
            </a:r>
            <a:endParaRPr lang="en-US" sz="900" dirty="0"/>
          </a:p>
        </p:txBody>
      </p:sp>
      <p:sp>
        <p:nvSpPr>
          <p:cNvPr id="24" name="Shape 22"/>
          <p:cNvSpPr/>
          <p:nvPr/>
        </p:nvSpPr>
        <p:spPr>
          <a:xfrm>
            <a:off x="6739128" y="2194560"/>
            <a:ext cx="356616" cy="3621024"/>
          </a:xfrm>
          <a:prstGeom prst="rect">
            <a:avLst/>
          </a:prstGeom>
          <a:solidFill>
            <a:schemeClr val="bg2"/>
          </a:solidFill>
          <a:ln/>
        </p:spPr>
      </p:sp>
      <p:sp>
        <p:nvSpPr>
          <p:cNvPr id="25" name="Text 23"/>
          <p:cNvSpPr txBox="1"/>
          <p:nvPr/>
        </p:nvSpPr>
        <p:spPr>
          <a:xfrm>
            <a:off x="7095744"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S10</a:t>
            </a:r>
            <a:endParaRPr lang="en-US" sz="900" dirty="0"/>
          </a:p>
        </p:txBody>
      </p:sp>
      <p:sp>
        <p:nvSpPr>
          <p:cNvPr id="26" name="Text 24"/>
          <p:cNvSpPr txBox="1"/>
          <p:nvPr/>
        </p:nvSpPr>
        <p:spPr>
          <a:xfrm>
            <a:off x="7452360"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S11</a:t>
            </a:r>
            <a:endParaRPr lang="en-US" sz="900" dirty="0"/>
          </a:p>
        </p:txBody>
      </p:sp>
      <p:sp>
        <p:nvSpPr>
          <p:cNvPr id="27" name="Shape 25"/>
          <p:cNvSpPr/>
          <p:nvPr/>
        </p:nvSpPr>
        <p:spPr>
          <a:xfrm>
            <a:off x="7452360" y="2194560"/>
            <a:ext cx="356616" cy="3621024"/>
          </a:xfrm>
          <a:prstGeom prst="rect">
            <a:avLst/>
          </a:prstGeom>
          <a:solidFill>
            <a:schemeClr val="bg2"/>
          </a:solidFill>
          <a:ln/>
        </p:spPr>
      </p:sp>
      <p:sp>
        <p:nvSpPr>
          <p:cNvPr id="28" name="Text 26"/>
          <p:cNvSpPr txBox="1"/>
          <p:nvPr/>
        </p:nvSpPr>
        <p:spPr>
          <a:xfrm>
            <a:off x="7808976"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S12</a:t>
            </a:r>
            <a:endParaRPr lang="en-US" sz="900" dirty="0"/>
          </a:p>
        </p:txBody>
      </p:sp>
      <p:sp>
        <p:nvSpPr>
          <p:cNvPr id="29" name="Text 27"/>
          <p:cNvSpPr txBox="1"/>
          <p:nvPr/>
        </p:nvSpPr>
        <p:spPr>
          <a:xfrm>
            <a:off x="8165592"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S13</a:t>
            </a:r>
            <a:endParaRPr lang="en-US" sz="900" dirty="0"/>
          </a:p>
        </p:txBody>
      </p:sp>
      <p:sp>
        <p:nvSpPr>
          <p:cNvPr id="30" name="Shape 28"/>
          <p:cNvSpPr/>
          <p:nvPr/>
        </p:nvSpPr>
        <p:spPr>
          <a:xfrm>
            <a:off x="8165592" y="2194560"/>
            <a:ext cx="356616" cy="3621024"/>
          </a:xfrm>
          <a:prstGeom prst="rect">
            <a:avLst/>
          </a:prstGeom>
          <a:solidFill>
            <a:schemeClr val="bg2"/>
          </a:solidFill>
          <a:ln/>
        </p:spPr>
      </p:sp>
      <p:sp>
        <p:nvSpPr>
          <p:cNvPr id="31" name="Text 29"/>
          <p:cNvSpPr txBox="1"/>
          <p:nvPr/>
        </p:nvSpPr>
        <p:spPr>
          <a:xfrm>
            <a:off x="8522208"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S14</a:t>
            </a:r>
            <a:endParaRPr lang="en-US" sz="900" dirty="0"/>
          </a:p>
        </p:txBody>
      </p:sp>
      <p:sp>
        <p:nvSpPr>
          <p:cNvPr id="32" name="Text 30"/>
          <p:cNvSpPr txBox="1"/>
          <p:nvPr/>
        </p:nvSpPr>
        <p:spPr>
          <a:xfrm>
            <a:off x="8878824"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S15</a:t>
            </a:r>
            <a:endParaRPr lang="en-US" sz="900" dirty="0"/>
          </a:p>
        </p:txBody>
      </p:sp>
      <p:sp>
        <p:nvSpPr>
          <p:cNvPr id="33" name="Shape 31"/>
          <p:cNvSpPr/>
          <p:nvPr/>
        </p:nvSpPr>
        <p:spPr>
          <a:xfrm>
            <a:off x="8878824" y="2194560"/>
            <a:ext cx="356616" cy="3621024"/>
          </a:xfrm>
          <a:prstGeom prst="rect">
            <a:avLst/>
          </a:prstGeom>
          <a:solidFill>
            <a:schemeClr val="bg2"/>
          </a:solidFill>
          <a:ln/>
        </p:spPr>
      </p:sp>
      <p:sp>
        <p:nvSpPr>
          <p:cNvPr id="34" name="Text 32"/>
          <p:cNvSpPr txBox="1"/>
          <p:nvPr/>
        </p:nvSpPr>
        <p:spPr>
          <a:xfrm>
            <a:off x="9235440"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S16</a:t>
            </a:r>
            <a:endParaRPr lang="en-US" sz="900" dirty="0"/>
          </a:p>
        </p:txBody>
      </p:sp>
      <p:sp>
        <p:nvSpPr>
          <p:cNvPr id="35" name="Text 33"/>
          <p:cNvSpPr txBox="1"/>
          <p:nvPr/>
        </p:nvSpPr>
        <p:spPr>
          <a:xfrm>
            <a:off x="9592056"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S17</a:t>
            </a:r>
            <a:endParaRPr lang="en-US" sz="900" dirty="0"/>
          </a:p>
        </p:txBody>
      </p:sp>
      <p:sp>
        <p:nvSpPr>
          <p:cNvPr id="36" name="Shape 34"/>
          <p:cNvSpPr/>
          <p:nvPr/>
        </p:nvSpPr>
        <p:spPr>
          <a:xfrm>
            <a:off x="9592056" y="2194560"/>
            <a:ext cx="356616" cy="3621024"/>
          </a:xfrm>
          <a:prstGeom prst="rect">
            <a:avLst/>
          </a:prstGeom>
          <a:solidFill>
            <a:schemeClr val="bg2"/>
          </a:solidFill>
          <a:ln/>
        </p:spPr>
      </p:sp>
      <p:sp>
        <p:nvSpPr>
          <p:cNvPr id="37" name="Text 35"/>
          <p:cNvSpPr txBox="1"/>
          <p:nvPr/>
        </p:nvSpPr>
        <p:spPr>
          <a:xfrm>
            <a:off x="9948672" y="2011680"/>
            <a:ext cx="356616" cy="182880"/>
          </a:xfrm>
          <a:prstGeom prst="rect">
            <a:avLst/>
          </a:prstGeom>
          <a:noFill/>
          <a:ln/>
        </p:spPr>
        <p:txBody>
          <a:bodyPr wrap="square" lIns="0" tIns="0" rIns="0" bIns="0" rtlCol="0" anchor="t"/>
          <a:lstStyle/>
          <a:p>
            <a:pPr algn="ctr" indent="0" marL="0">
              <a:buNone/>
            </a:pPr>
            <a:r>
              <a:rPr lang="en-US" sz="900" dirty="0">
                <a:solidFill>
                  <a:schemeClr val="accent4"/>
                </a:solidFill>
              </a:rPr>
              <a:t>S18</a:t>
            </a:r>
            <a:endParaRPr lang="en-US" sz="900" dirty="0"/>
          </a:p>
        </p:txBody>
      </p:sp>
      <p:sp>
        <p:nvSpPr>
          <p:cNvPr id="38" name="Text 36"/>
          <p:cNvSpPr txBox="1"/>
          <p:nvPr/>
        </p:nvSpPr>
        <p:spPr>
          <a:xfrm>
            <a:off x="10469880" y="1965960"/>
            <a:ext cx="1005840" cy="228600"/>
          </a:xfrm>
          <a:prstGeom prst="rect">
            <a:avLst/>
          </a:prstGeom>
          <a:noFill/>
          <a:ln/>
        </p:spPr>
        <p:txBody>
          <a:bodyPr wrap="square" lIns="0" tIns="0" rIns="0" bIns="0" rtlCol="0" anchor="t"/>
          <a:lstStyle/>
          <a:p>
            <a:pPr algn="ctr" indent="0" marL="0">
              <a:buNone/>
            </a:pPr>
            <a:r>
              <a:rPr lang="en-US" sz="1000" b="1" dirty="0">
                <a:solidFill>
                  <a:schemeClr val="accent4"/>
                </a:solidFill>
              </a:rPr>
              <a:t>Cumplimiento</a:t>
            </a:r>
            <a:endParaRPr lang="en-US" sz="1000" dirty="0"/>
          </a:p>
        </p:txBody>
      </p:sp>
      <p:sp>
        <p:nvSpPr>
          <p:cNvPr id="39" name="Text 37"/>
          <p:cNvSpPr txBox="1"/>
          <p:nvPr/>
        </p:nvSpPr>
        <p:spPr>
          <a:xfrm>
            <a:off x="777240" y="2194560"/>
            <a:ext cx="3063240" cy="329184"/>
          </a:xfrm>
          <a:prstGeom prst="rect">
            <a:avLst/>
          </a:prstGeom>
          <a:noFill/>
          <a:ln/>
        </p:spPr>
        <p:txBody>
          <a:bodyPr wrap="square" lIns="0" tIns="0" rIns="0" bIns="0" rtlCol="0" anchor="ctr"/>
          <a:lstStyle/>
          <a:p>
            <a:pPr indent="0" marL="0">
              <a:buNone/>
            </a:pPr>
            <a:r>
              <a:rPr lang="en-US" sz="1200" dirty="0">
                <a:solidFill>
                  <a:schemeClr val="tx1"/>
                </a:solidFill>
              </a:rPr>
              <a:t>E1 Análisis y planificación</a:t>
            </a:r>
            <a:endParaRPr lang="en-US" sz="1200" dirty="0"/>
          </a:p>
        </p:txBody>
      </p:sp>
      <p:sp>
        <p:nvSpPr>
          <p:cNvPr id="40" name="Shape 38"/>
          <p:cNvSpPr/>
          <p:nvPr/>
        </p:nvSpPr>
        <p:spPr>
          <a:xfrm>
            <a:off x="3913632" y="2276856"/>
            <a:ext cx="658368" cy="164592"/>
          </a:xfrm>
          <a:prstGeom prst="roundRect">
            <a:avLst>
              <a:gd name="adj" fmla="val 27778"/>
            </a:avLst>
          </a:prstGeom>
          <a:solidFill>
            <a:schemeClr val="accent2"/>
          </a:solidFill>
          <a:ln/>
        </p:spPr>
      </p:sp>
      <p:sp>
        <p:nvSpPr>
          <p:cNvPr id="41" name="Shape 39"/>
          <p:cNvSpPr/>
          <p:nvPr/>
        </p:nvSpPr>
        <p:spPr>
          <a:xfrm>
            <a:off x="10469880" y="2249424"/>
            <a:ext cx="1005840" cy="219456"/>
          </a:xfrm>
          <a:prstGeom prst="roundRect">
            <a:avLst>
              <a:gd name="adj" fmla="val 20833"/>
            </a:avLst>
          </a:prstGeom>
          <a:solidFill>
            <a:schemeClr val="accent2">
              <a:alpha val="18000"/>
            </a:schemeClr>
          </a:solidFill>
          <a:ln/>
        </p:spPr>
      </p:sp>
      <p:sp>
        <p:nvSpPr>
          <p:cNvPr id="42" name="Text 40"/>
          <p:cNvSpPr txBox="1"/>
          <p:nvPr/>
        </p:nvSpPr>
        <p:spPr>
          <a:xfrm>
            <a:off x="10469880" y="2249424"/>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43" name="Text 41"/>
          <p:cNvSpPr txBox="1"/>
          <p:nvPr/>
        </p:nvSpPr>
        <p:spPr>
          <a:xfrm>
            <a:off x="777240" y="2523744"/>
            <a:ext cx="3063240" cy="329184"/>
          </a:xfrm>
          <a:prstGeom prst="rect">
            <a:avLst/>
          </a:prstGeom>
          <a:noFill/>
          <a:ln/>
        </p:spPr>
        <p:txBody>
          <a:bodyPr wrap="square" lIns="0" tIns="0" rIns="0" bIns="0" rtlCol="0" anchor="ctr"/>
          <a:lstStyle/>
          <a:p>
            <a:pPr indent="0" marL="0">
              <a:buNone/>
            </a:pPr>
            <a:r>
              <a:rPr lang="en-US" sz="1200" dirty="0">
                <a:solidFill>
                  <a:schemeClr val="tx1"/>
                </a:solidFill>
              </a:rPr>
              <a:t>E2 Validación del esquema y arquitectura</a:t>
            </a:r>
            <a:endParaRPr lang="en-US" sz="1200" dirty="0"/>
          </a:p>
        </p:txBody>
      </p:sp>
      <p:sp>
        <p:nvSpPr>
          <p:cNvPr id="44" name="Shape 42"/>
          <p:cNvSpPr/>
          <p:nvPr/>
        </p:nvSpPr>
        <p:spPr>
          <a:xfrm>
            <a:off x="4626864" y="2606040"/>
            <a:ext cx="658368" cy="164592"/>
          </a:xfrm>
          <a:prstGeom prst="roundRect">
            <a:avLst>
              <a:gd name="adj" fmla="val 27778"/>
            </a:avLst>
          </a:prstGeom>
          <a:solidFill>
            <a:schemeClr val="accent2"/>
          </a:solidFill>
          <a:ln/>
        </p:spPr>
      </p:sp>
      <p:sp>
        <p:nvSpPr>
          <p:cNvPr id="45" name="Shape 43"/>
          <p:cNvSpPr/>
          <p:nvPr/>
        </p:nvSpPr>
        <p:spPr>
          <a:xfrm>
            <a:off x="10469880" y="2578608"/>
            <a:ext cx="1005840" cy="219456"/>
          </a:xfrm>
          <a:prstGeom prst="roundRect">
            <a:avLst>
              <a:gd name="adj" fmla="val 20833"/>
            </a:avLst>
          </a:prstGeom>
          <a:solidFill>
            <a:schemeClr val="accent2">
              <a:alpha val="18000"/>
            </a:schemeClr>
          </a:solidFill>
          <a:ln/>
        </p:spPr>
      </p:sp>
      <p:sp>
        <p:nvSpPr>
          <p:cNvPr id="46" name="Text 44"/>
          <p:cNvSpPr txBox="1"/>
          <p:nvPr/>
        </p:nvSpPr>
        <p:spPr>
          <a:xfrm>
            <a:off x="10469880" y="2578608"/>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47" name="Text 45"/>
          <p:cNvSpPr txBox="1"/>
          <p:nvPr/>
        </p:nvSpPr>
        <p:spPr>
          <a:xfrm>
            <a:off x="777240" y="2852928"/>
            <a:ext cx="3063240" cy="329184"/>
          </a:xfrm>
          <a:prstGeom prst="rect">
            <a:avLst/>
          </a:prstGeom>
          <a:noFill/>
          <a:ln/>
        </p:spPr>
        <p:txBody>
          <a:bodyPr wrap="square" lIns="0" tIns="0" rIns="0" bIns="0" rtlCol="0" anchor="ctr"/>
          <a:lstStyle/>
          <a:p>
            <a:pPr indent="0" marL="0">
              <a:buNone/>
            </a:pPr>
            <a:r>
              <a:rPr lang="en-US" sz="1200" dirty="0">
                <a:solidFill>
                  <a:schemeClr val="tx1"/>
                </a:solidFill>
              </a:rPr>
              <a:t>A1 Modelo canónico y arquitectura de ingesta</a:t>
            </a:r>
            <a:endParaRPr lang="en-US" sz="1200" dirty="0"/>
          </a:p>
        </p:txBody>
      </p:sp>
      <p:sp>
        <p:nvSpPr>
          <p:cNvPr id="48" name="Shape 46"/>
          <p:cNvSpPr/>
          <p:nvPr/>
        </p:nvSpPr>
        <p:spPr>
          <a:xfrm>
            <a:off x="5340096" y="2935224"/>
            <a:ext cx="658368" cy="164592"/>
          </a:xfrm>
          <a:prstGeom prst="roundRect">
            <a:avLst>
              <a:gd name="adj" fmla="val 27778"/>
            </a:avLst>
          </a:prstGeom>
          <a:solidFill>
            <a:schemeClr val="accent2"/>
          </a:solidFill>
          <a:ln/>
        </p:spPr>
      </p:sp>
      <p:sp>
        <p:nvSpPr>
          <p:cNvPr id="49" name="Shape 47"/>
          <p:cNvSpPr/>
          <p:nvPr/>
        </p:nvSpPr>
        <p:spPr>
          <a:xfrm>
            <a:off x="10469880" y="2907792"/>
            <a:ext cx="1005840" cy="219456"/>
          </a:xfrm>
          <a:prstGeom prst="roundRect">
            <a:avLst>
              <a:gd name="adj" fmla="val 20833"/>
            </a:avLst>
          </a:prstGeom>
          <a:solidFill>
            <a:schemeClr val="accent2">
              <a:alpha val="18000"/>
            </a:schemeClr>
          </a:solidFill>
          <a:ln/>
        </p:spPr>
      </p:sp>
      <p:sp>
        <p:nvSpPr>
          <p:cNvPr id="50" name="Text 48"/>
          <p:cNvSpPr txBox="1"/>
          <p:nvPr/>
        </p:nvSpPr>
        <p:spPr>
          <a:xfrm>
            <a:off x="10469880" y="2907792"/>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51" name="Text 49"/>
          <p:cNvSpPr txBox="1"/>
          <p:nvPr/>
        </p:nvSpPr>
        <p:spPr>
          <a:xfrm>
            <a:off x="777240" y="3182112"/>
            <a:ext cx="3063240" cy="329184"/>
          </a:xfrm>
          <a:prstGeom prst="rect">
            <a:avLst/>
          </a:prstGeom>
          <a:noFill/>
          <a:ln/>
        </p:spPr>
        <p:txBody>
          <a:bodyPr wrap="square" lIns="0" tIns="0" rIns="0" bIns="0" rtlCol="0" anchor="ctr"/>
          <a:lstStyle/>
          <a:p>
            <a:pPr indent="0" marL="0">
              <a:buNone/>
            </a:pPr>
            <a:r>
              <a:rPr lang="en-US" sz="1200" dirty="0">
                <a:solidFill>
                  <a:schemeClr val="tx1"/>
                </a:solidFill>
              </a:rPr>
              <a:t>A2 Extensión del modelo de datos</a:t>
            </a:r>
            <a:endParaRPr lang="en-US" sz="1200" dirty="0"/>
          </a:p>
        </p:txBody>
      </p:sp>
      <p:sp>
        <p:nvSpPr>
          <p:cNvPr id="52" name="Shape 50"/>
          <p:cNvSpPr/>
          <p:nvPr/>
        </p:nvSpPr>
        <p:spPr>
          <a:xfrm>
            <a:off x="5696712" y="3264408"/>
            <a:ext cx="658368" cy="164592"/>
          </a:xfrm>
          <a:prstGeom prst="roundRect">
            <a:avLst>
              <a:gd name="adj" fmla="val 27778"/>
            </a:avLst>
          </a:prstGeom>
          <a:solidFill>
            <a:schemeClr val="accent2"/>
          </a:solidFill>
          <a:ln/>
        </p:spPr>
      </p:sp>
      <p:sp>
        <p:nvSpPr>
          <p:cNvPr id="53" name="Shape 51"/>
          <p:cNvSpPr/>
          <p:nvPr/>
        </p:nvSpPr>
        <p:spPr>
          <a:xfrm>
            <a:off x="10469880" y="3236976"/>
            <a:ext cx="1005840" cy="219456"/>
          </a:xfrm>
          <a:prstGeom prst="roundRect">
            <a:avLst>
              <a:gd name="adj" fmla="val 20833"/>
            </a:avLst>
          </a:prstGeom>
          <a:solidFill>
            <a:schemeClr val="accent2">
              <a:alpha val="18000"/>
            </a:schemeClr>
          </a:solidFill>
          <a:ln/>
        </p:spPr>
      </p:sp>
      <p:sp>
        <p:nvSpPr>
          <p:cNvPr id="54" name="Text 52"/>
          <p:cNvSpPr txBox="1"/>
          <p:nvPr/>
        </p:nvSpPr>
        <p:spPr>
          <a:xfrm>
            <a:off x="10469880" y="3236976"/>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55" name="Text 53"/>
          <p:cNvSpPr txBox="1"/>
          <p:nvPr/>
        </p:nvSpPr>
        <p:spPr>
          <a:xfrm>
            <a:off x="777240" y="3511296"/>
            <a:ext cx="3063240" cy="329184"/>
          </a:xfrm>
          <a:prstGeom prst="rect">
            <a:avLst/>
          </a:prstGeom>
          <a:noFill/>
          <a:ln/>
        </p:spPr>
        <p:txBody>
          <a:bodyPr wrap="square" lIns="0" tIns="0" rIns="0" bIns="0" rtlCol="0" anchor="ctr"/>
          <a:lstStyle/>
          <a:p>
            <a:pPr indent="0" marL="0">
              <a:buNone/>
            </a:pPr>
            <a:r>
              <a:rPr lang="en-US" sz="1200" dirty="0">
                <a:solidFill>
                  <a:schemeClr val="tx1"/>
                </a:solidFill>
              </a:rPr>
              <a:t>A3 Selector de conectores</a:t>
            </a:r>
            <a:endParaRPr lang="en-US" sz="1200" dirty="0"/>
          </a:p>
        </p:txBody>
      </p:sp>
      <p:sp>
        <p:nvSpPr>
          <p:cNvPr id="56" name="Shape 54"/>
          <p:cNvSpPr/>
          <p:nvPr/>
        </p:nvSpPr>
        <p:spPr>
          <a:xfrm>
            <a:off x="6053328" y="3593592"/>
            <a:ext cx="658368" cy="164592"/>
          </a:xfrm>
          <a:prstGeom prst="roundRect">
            <a:avLst>
              <a:gd name="adj" fmla="val 27778"/>
            </a:avLst>
          </a:prstGeom>
          <a:solidFill>
            <a:schemeClr val="accent2"/>
          </a:solidFill>
          <a:ln/>
        </p:spPr>
      </p:sp>
      <p:sp>
        <p:nvSpPr>
          <p:cNvPr id="57" name="Shape 55"/>
          <p:cNvSpPr/>
          <p:nvPr/>
        </p:nvSpPr>
        <p:spPr>
          <a:xfrm>
            <a:off x="10469880" y="3566160"/>
            <a:ext cx="1005840" cy="219456"/>
          </a:xfrm>
          <a:prstGeom prst="roundRect">
            <a:avLst>
              <a:gd name="adj" fmla="val 20833"/>
            </a:avLst>
          </a:prstGeom>
          <a:solidFill>
            <a:schemeClr val="accent2">
              <a:alpha val="18000"/>
            </a:schemeClr>
          </a:solidFill>
          <a:ln/>
        </p:spPr>
      </p:sp>
      <p:sp>
        <p:nvSpPr>
          <p:cNvPr id="58" name="Text 56"/>
          <p:cNvSpPr txBox="1"/>
          <p:nvPr/>
        </p:nvSpPr>
        <p:spPr>
          <a:xfrm>
            <a:off x="10469880" y="3566160"/>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59" name="Text 57"/>
          <p:cNvSpPr txBox="1"/>
          <p:nvPr/>
        </p:nvSpPr>
        <p:spPr>
          <a:xfrm>
            <a:off x="777240" y="3840480"/>
            <a:ext cx="3063240" cy="329184"/>
          </a:xfrm>
          <a:prstGeom prst="rect">
            <a:avLst/>
          </a:prstGeom>
          <a:noFill/>
          <a:ln/>
        </p:spPr>
        <p:txBody>
          <a:bodyPr wrap="square" lIns="0" tIns="0" rIns="0" bIns="0" rtlCol="0" anchor="ctr"/>
          <a:lstStyle/>
          <a:p>
            <a:pPr indent="0" marL="0">
              <a:buNone/>
            </a:pPr>
            <a:r>
              <a:rPr lang="en-US" sz="1200" dirty="0">
                <a:solidFill>
                  <a:schemeClr val="tx1"/>
                </a:solidFill>
              </a:rPr>
              <a:t>A4 API de conectores</a:t>
            </a:r>
            <a:endParaRPr lang="en-US" sz="1200" dirty="0"/>
          </a:p>
        </p:txBody>
      </p:sp>
      <p:sp>
        <p:nvSpPr>
          <p:cNvPr id="60" name="Shape 58"/>
          <p:cNvSpPr/>
          <p:nvPr/>
        </p:nvSpPr>
        <p:spPr>
          <a:xfrm>
            <a:off x="6409944" y="3922776"/>
            <a:ext cx="658368" cy="164592"/>
          </a:xfrm>
          <a:prstGeom prst="roundRect">
            <a:avLst>
              <a:gd name="adj" fmla="val 27778"/>
            </a:avLst>
          </a:prstGeom>
          <a:solidFill>
            <a:schemeClr val="accent2"/>
          </a:solidFill>
          <a:ln/>
        </p:spPr>
      </p:sp>
      <p:sp>
        <p:nvSpPr>
          <p:cNvPr id="61" name="Shape 59"/>
          <p:cNvSpPr/>
          <p:nvPr/>
        </p:nvSpPr>
        <p:spPr>
          <a:xfrm>
            <a:off x="10469880" y="3895344"/>
            <a:ext cx="1005840" cy="219456"/>
          </a:xfrm>
          <a:prstGeom prst="roundRect">
            <a:avLst>
              <a:gd name="adj" fmla="val 20833"/>
            </a:avLst>
          </a:prstGeom>
          <a:solidFill>
            <a:schemeClr val="accent2">
              <a:alpha val="18000"/>
            </a:schemeClr>
          </a:solidFill>
          <a:ln/>
        </p:spPr>
      </p:sp>
      <p:sp>
        <p:nvSpPr>
          <p:cNvPr id="62" name="Text 60"/>
          <p:cNvSpPr txBox="1"/>
          <p:nvPr/>
        </p:nvSpPr>
        <p:spPr>
          <a:xfrm>
            <a:off x="10469880" y="3895344"/>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63" name="Text 61"/>
          <p:cNvSpPr txBox="1"/>
          <p:nvPr/>
        </p:nvSpPr>
        <p:spPr>
          <a:xfrm>
            <a:off x="777240" y="4169664"/>
            <a:ext cx="3063240" cy="329184"/>
          </a:xfrm>
          <a:prstGeom prst="rect">
            <a:avLst/>
          </a:prstGeom>
          <a:noFill/>
          <a:ln/>
        </p:spPr>
        <p:txBody>
          <a:bodyPr wrap="square" lIns="0" tIns="0" rIns="0" bIns="0" rtlCol="0" anchor="ctr"/>
          <a:lstStyle/>
          <a:p>
            <a:pPr indent="0" marL="0">
              <a:buNone/>
            </a:pPr>
            <a:r>
              <a:rPr lang="en-US" sz="1200" dirty="0">
                <a:solidFill>
                  <a:schemeClr val="tx1"/>
                </a:solidFill>
              </a:rPr>
              <a:t>A5 Pantalla de gestión de conectores</a:t>
            </a:r>
            <a:endParaRPr lang="en-US" sz="1200" dirty="0"/>
          </a:p>
        </p:txBody>
      </p:sp>
      <p:sp>
        <p:nvSpPr>
          <p:cNvPr id="64" name="Shape 62"/>
          <p:cNvSpPr/>
          <p:nvPr/>
        </p:nvSpPr>
        <p:spPr>
          <a:xfrm>
            <a:off x="6766560" y="4251960"/>
            <a:ext cx="658368" cy="164592"/>
          </a:xfrm>
          <a:prstGeom prst="roundRect">
            <a:avLst>
              <a:gd name="adj" fmla="val 27778"/>
            </a:avLst>
          </a:prstGeom>
          <a:solidFill>
            <a:schemeClr val="accent2"/>
          </a:solidFill>
          <a:ln/>
        </p:spPr>
      </p:sp>
      <p:sp>
        <p:nvSpPr>
          <p:cNvPr id="65" name="Shape 63"/>
          <p:cNvSpPr/>
          <p:nvPr/>
        </p:nvSpPr>
        <p:spPr>
          <a:xfrm>
            <a:off x="10469880" y="4224528"/>
            <a:ext cx="1005840" cy="219456"/>
          </a:xfrm>
          <a:prstGeom prst="roundRect">
            <a:avLst>
              <a:gd name="adj" fmla="val 20833"/>
            </a:avLst>
          </a:prstGeom>
          <a:solidFill>
            <a:schemeClr val="accent2">
              <a:alpha val="18000"/>
            </a:schemeClr>
          </a:solidFill>
          <a:ln/>
        </p:spPr>
      </p:sp>
      <p:sp>
        <p:nvSpPr>
          <p:cNvPr id="66" name="Text 64"/>
          <p:cNvSpPr txBox="1"/>
          <p:nvPr/>
        </p:nvSpPr>
        <p:spPr>
          <a:xfrm>
            <a:off x="10469880" y="4224528"/>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67" name="Text 65"/>
          <p:cNvSpPr txBox="1"/>
          <p:nvPr/>
        </p:nvSpPr>
        <p:spPr>
          <a:xfrm>
            <a:off x="777240" y="4498848"/>
            <a:ext cx="3063240" cy="329184"/>
          </a:xfrm>
          <a:prstGeom prst="rect">
            <a:avLst/>
          </a:prstGeom>
          <a:noFill/>
          <a:ln/>
        </p:spPr>
        <p:txBody>
          <a:bodyPr wrap="square" lIns="0" tIns="0" rIns="0" bIns="0" rtlCol="0" anchor="ctr"/>
          <a:lstStyle/>
          <a:p>
            <a:pPr indent="0" marL="0">
              <a:buNone/>
            </a:pPr>
            <a:r>
              <a:rPr lang="en-US" sz="1200" dirty="0">
                <a:solidFill>
                  <a:schemeClr val="tx1"/>
                </a:solidFill>
              </a:rPr>
              <a:t>A6 Conector de referencia e ingesta</a:t>
            </a:r>
            <a:endParaRPr lang="en-US" sz="1200" dirty="0"/>
          </a:p>
        </p:txBody>
      </p:sp>
      <p:sp>
        <p:nvSpPr>
          <p:cNvPr id="68" name="Shape 66"/>
          <p:cNvSpPr/>
          <p:nvPr/>
        </p:nvSpPr>
        <p:spPr>
          <a:xfrm>
            <a:off x="7123176" y="4581144"/>
            <a:ext cx="1014984" cy="164592"/>
          </a:xfrm>
          <a:prstGeom prst="roundRect">
            <a:avLst>
              <a:gd name="adj" fmla="val 27778"/>
            </a:avLst>
          </a:prstGeom>
          <a:solidFill>
            <a:schemeClr val="accent2"/>
          </a:solidFill>
          <a:ln/>
        </p:spPr>
      </p:sp>
      <p:sp>
        <p:nvSpPr>
          <p:cNvPr id="69" name="Shape 67"/>
          <p:cNvSpPr/>
          <p:nvPr/>
        </p:nvSpPr>
        <p:spPr>
          <a:xfrm>
            <a:off x="10469880" y="4553712"/>
            <a:ext cx="1005840" cy="219456"/>
          </a:xfrm>
          <a:prstGeom prst="roundRect">
            <a:avLst>
              <a:gd name="adj" fmla="val 20833"/>
            </a:avLst>
          </a:prstGeom>
          <a:solidFill>
            <a:schemeClr val="accent2">
              <a:alpha val="18000"/>
            </a:schemeClr>
          </a:solidFill>
          <a:ln/>
        </p:spPr>
      </p:sp>
      <p:sp>
        <p:nvSpPr>
          <p:cNvPr id="70" name="Text 68"/>
          <p:cNvSpPr txBox="1"/>
          <p:nvPr/>
        </p:nvSpPr>
        <p:spPr>
          <a:xfrm>
            <a:off x="10469880" y="4553712"/>
            <a:ext cx="1005840" cy="219456"/>
          </a:xfrm>
          <a:prstGeom prst="rect">
            <a:avLst/>
          </a:prstGeom>
          <a:noFill/>
          <a:ln/>
        </p:spPr>
        <p:txBody>
          <a:bodyPr wrap="square" lIns="0" tIns="0" rIns="0" bIns="0" rtlCol="0" anchor="ctr"/>
          <a:lstStyle/>
          <a:p>
            <a:pPr algn="ctr" indent="0" marL="0">
              <a:buNone/>
            </a:pPr>
            <a:r>
              <a:rPr lang="en-US" sz="900" b="1" dirty="0">
                <a:solidFill>
                  <a:schemeClr val="accent2"/>
                </a:solidFill>
              </a:rPr>
              <a:t>Cumplido</a:t>
            </a:r>
            <a:endParaRPr lang="en-US" sz="900" dirty="0"/>
          </a:p>
        </p:txBody>
      </p:sp>
      <p:sp>
        <p:nvSpPr>
          <p:cNvPr id="71" name="Text 69"/>
          <p:cNvSpPr txBox="1"/>
          <p:nvPr/>
        </p:nvSpPr>
        <p:spPr>
          <a:xfrm>
            <a:off x="777240" y="4828032"/>
            <a:ext cx="3063240" cy="329184"/>
          </a:xfrm>
          <a:prstGeom prst="rect">
            <a:avLst/>
          </a:prstGeom>
          <a:noFill/>
          <a:ln/>
        </p:spPr>
        <p:txBody>
          <a:bodyPr wrap="square" lIns="0" tIns="0" rIns="0" bIns="0" rtlCol="0" anchor="ctr"/>
          <a:lstStyle/>
          <a:p>
            <a:pPr indent="0" marL="0">
              <a:buNone/>
            </a:pPr>
            <a:r>
              <a:rPr lang="en-US" sz="1200" dirty="0">
                <a:solidFill>
                  <a:schemeClr val="tx1"/>
                </a:solidFill>
              </a:rPr>
              <a:t>A7 Indicadores MTBF y MTTR</a:t>
            </a:r>
            <a:endParaRPr lang="en-US" sz="1200" dirty="0"/>
          </a:p>
        </p:txBody>
      </p:sp>
      <p:sp>
        <p:nvSpPr>
          <p:cNvPr id="72" name="Shape 70"/>
          <p:cNvSpPr/>
          <p:nvPr/>
        </p:nvSpPr>
        <p:spPr>
          <a:xfrm>
            <a:off x="8193024" y="4910328"/>
            <a:ext cx="658368" cy="164592"/>
          </a:xfrm>
          <a:prstGeom prst="roundRect">
            <a:avLst>
              <a:gd name="adj" fmla="val 27778"/>
            </a:avLst>
          </a:prstGeom>
          <a:solidFill>
            <a:schemeClr val="accent3"/>
          </a:solidFill>
          <a:ln/>
        </p:spPr>
      </p:sp>
      <p:sp>
        <p:nvSpPr>
          <p:cNvPr id="73" name="Shape 71"/>
          <p:cNvSpPr/>
          <p:nvPr/>
        </p:nvSpPr>
        <p:spPr>
          <a:xfrm>
            <a:off x="10469880" y="4882896"/>
            <a:ext cx="1005840" cy="219456"/>
          </a:xfrm>
          <a:prstGeom prst="roundRect">
            <a:avLst>
              <a:gd name="adj" fmla="val 20833"/>
            </a:avLst>
          </a:prstGeom>
          <a:solidFill>
            <a:schemeClr val="accent3">
              <a:alpha val="18000"/>
            </a:schemeClr>
          </a:solidFill>
          <a:ln/>
        </p:spPr>
      </p:sp>
      <p:sp>
        <p:nvSpPr>
          <p:cNvPr id="74" name="Text 72"/>
          <p:cNvSpPr txBox="1"/>
          <p:nvPr/>
        </p:nvSpPr>
        <p:spPr>
          <a:xfrm>
            <a:off x="10469880" y="4882896"/>
            <a:ext cx="1005840" cy="219456"/>
          </a:xfrm>
          <a:prstGeom prst="rect">
            <a:avLst/>
          </a:prstGeom>
          <a:noFill/>
          <a:ln/>
        </p:spPr>
        <p:txBody>
          <a:bodyPr wrap="square" lIns="0" tIns="0" rIns="0" bIns="0" rtlCol="0" anchor="ctr"/>
          <a:lstStyle/>
          <a:p>
            <a:pPr algn="ctr" indent="0" marL="0">
              <a:buNone/>
            </a:pPr>
            <a:r>
              <a:rPr lang="en-US" sz="900" b="1" dirty="0">
                <a:solidFill>
                  <a:schemeClr val="accent3"/>
                </a:solidFill>
              </a:rPr>
              <a:t>En curso</a:t>
            </a:r>
            <a:endParaRPr lang="en-US" sz="900" dirty="0"/>
          </a:p>
        </p:txBody>
      </p:sp>
      <p:sp>
        <p:nvSpPr>
          <p:cNvPr id="75" name="Text 73"/>
          <p:cNvSpPr txBox="1"/>
          <p:nvPr/>
        </p:nvSpPr>
        <p:spPr>
          <a:xfrm>
            <a:off x="777240" y="5157216"/>
            <a:ext cx="3063240" cy="329184"/>
          </a:xfrm>
          <a:prstGeom prst="rect">
            <a:avLst/>
          </a:prstGeom>
          <a:noFill/>
          <a:ln/>
        </p:spPr>
        <p:txBody>
          <a:bodyPr wrap="square" lIns="0" tIns="0" rIns="0" bIns="0" rtlCol="0" anchor="ctr"/>
          <a:lstStyle/>
          <a:p>
            <a:pPr indent="0" marL="0">
              <a:buNone/>
            </a:pPr>
            <a:r>
              <a:rPr lang="en-US" sz="1200" dirty="0">
                <a:solidFill>
                  <a:schemeClr val="tx1"/>
                </a:solidFill>
              </a:rPr>
              <a:t>A8 Pruebas y corrección</a:t>
            </a:r>
            <a:endParaRPr lang="en-US" sz="1200" dirty="0"/>
          </a:p>
        </p:txBody>
      </p:sp>
      <p:sp>
        <p:nvSpPr>
          <p:cNvPr id="76" name="Shape 74"/>
          <p:cNvSpPr/>
          <p:nvPr/>
        </p:nvSpPr>
        <p:spPr>
          <a:xfrm>
            <a:off x="8906256" y="5239512"/>
            <a:ext cx="658368" cy="164592"/>
          </a:xfrm>
          <a:prstGeom prst="roundRect">
            <a:avLst>
              <a:gd name="adj" fmla="val 27778"/>
            </a:avLst>
          </a:prstGeom>
          <a:solidFill>
            <a:srgbClr val="B8C2CC"/>
          </a:solidFill>
          <a:ln/>
        </p:spPr>
      </p:sp>
      <p:sp>
        <p:nvSpPr>
          <p:cNvPr id="77" name="Shape 75"/>
          <p:cNvSpPr/>
          <p:nvPr/>
        </p:nvSpPr>
        <p:spPr>
          <a:xfrm>
            <a:off x="10469880" y="5212080"/>
            <a:ext cx="1005840" cy="219456"/>
          </a:xfrm>
          <a:prstGeom prst="roundRect">
            <a:avLst>
              <a:gd name="adj" fmla="val 20833"/>
            </a:avLst>
          </a:prstGeom>
          <a:solidFill>
            <a:schemeClr val="accent4">
              <a:alpha val="15000"/>
            </a:schemeClr>
          </a:solidFill>
          <a:ln/>
        </p:spPr>
      </p:sp>
      <p:sp>
        <p:nvSpPr>
          <p:cNvPr id="78" name="Text 76"/>
          <p:cNvSpPr txBox="1"/>
          <p:nvPr/>
        </p:nvSpPr>
        <p:spPr>
          <a:xfrm>
            <a:off x="10469880" y="5212080"/>
            <a:ext cx="1005840" cy="219456"/>
          </a:xfrm>
          <a:prstGeom prst="rect">
            <a:avLst/>
          </a:prstGeom>
          <a:noFill/>
          <a:ln/>
        </p:spPr>
        <p:txBody>
          <a:bodyPr wrap="square" lIns="0" tIns="0" rIns="0" bIns="0" rtlCol="0" anchor="ctr"/>
          <a:lstStyle/>
          <a:p>
            <a:pPr algn="ctr" indent="0" marL="0">
              <a:buNone/>
            </a:pPr>
            <a:r>
              <a:rPr lang="en-US" sz="900" b="1" dirty="0">
                <a:solidFill>
                  <a:schemeClr val="accent4"/>
                </a:solidFill>
              </a:rPr>
              <a:t>Pendiente</a:t>
            </a:r>
            <a:endParaRPr lang="en-US" sz="900" dirty="0"/>
          </a:p>
        </p:txBody>
      </p:sp>
      <p:sp>
        <p:nvSpPr>
          <p:cNvPr id="79" name="Text 77"/>
          <p:cNvSpPr txBox="1"/>
          <p:nvPr/>
        </p:nvSpPr>
        <p:spPr>
          <a:xfrm>
            <a:off x="777240" y="5486400"/>
            <a:ext cx="3063240" cy="329184"/>
          </a:xfrm>
          <a:prstGeom prst="rect">
            <a:avLst/>
          </a:prstGeom>
          <a:noFill/>
          <a:ln/>
        </p:spPr>
        <p:txBody>
          <a:bodyPr wrap="square" lIns="0" tIns="0" rIns="0" bIns="0" rtlCol="0" anchor="ctr"/>
          <a:lstStyle/>
          <a:p>
            <a:pPr indent="0" marL="0">
              <a:buNone/>
            </a:pPr>
            <a:r>
              <a:rPr lang="en-US" sz="1200" dirty="0">
                <a:solidFill>
                  <a:schemeClr val="tx1"/>
                </a:solidFill>
              </a:rPr>
              <a:t>A9 Validación, documentación y cierre</a:t>
            </a:r>
            <a:endParaRPr lang="en-US" sz="1200" dirty="0"/>
          </a:p>
        </p:txBody>
      </p:sp>
      <p:sp>
        <p:nvSpPr>
          <p:cNvPr id="80" name="Shape 78"/>
          <p:cNvSpPr/>
          <p:nvPr/>
        </p:nvSpPr>
        <p:spPr>
          <a:xfrm>
            <a:off x="9619488" y="5568696"/>
            <a:ext cx="658368" cy="164592"/>
          </a:xfrm>
          <a:prstGeom prst="roundRect">
            <a:avLst>
              <a:gd name="adj" fmla="val 27778"/>
            </a:avLst>
          </a:prstGeom>
          <a:solidFill>
            <a:srgbClr val="B8C2CC"/>
          </a:solidFill>
          <a:ln/>
        </p:spPr>
      </p:sp>
      <p:sp>
        <p:nvSpPr>
          <p:cNvPr id="81" name="Shape 79"/>
          <p:cNvSpPr/>
          <p:nvPr/>
        </p:nvSpPr>
        <p:spPr>
          <a:xfrm>
            <a:off x="10469880" y="5541264"/>
            <a:ext cx="1005840" cy="219456"/>
          </a:xfrm>
          <a:prstGeom prst="roundRect">
            <a:avLst>
              <a:gd name="adj" fmla="val 20833"/>
            </a:avLst>
          </a:prstGeom>
          <a:solidFill>
            <a:schemeClr val="accent4">
              <a:alpha val="15000"/>
            </a:schemeClr>
          </a:solidFill>
          <a:ln/>
        </p:spPr>
      </p:sp>
      <p:sp>
        <p:nvSpPr>
          <p:cNvPr id="82" name="Text 80"/>
          <p:cNvSpPr txBox="1"/>
          <p:nvPr/>
        </p:nvSpPr>
        <p:spPr>
          <a:xfrm>
            <a:off x="10469880" y="5541264"/>
            <a:ext cx="1005840" cy="219456"/>
          </a:xfrm>
          <a:prstGeom prst="rect">
            <a:avLst/>
          </a:prstGeom>
          <a:noFill/>
          <a:ln/>
        </p:spPr>
        <p:txBody>
          <a:bodyPr wrap="square" lIns="0" tIns="0" rIns="0" bIns="0" rtlCol="0" anchor="ctr"/>
          <a:lstStyle/>
          <a:p>
            <a:pPr algn="ctr" indent="0" marL="0">
              <a:buNone/>
            </a:pPr>
            <a:r>
              <a:rPr lang="en-US" sz="900" b="1" dirty="0">
                <a:solidFill>
                  <a:schemeClr val="accent4"/>
                </a:solidFill>
              </a:rPr>
              <a:t>Pendiente</a:t>
            </a:r>
            <a:endParaRPr lang="en-US" sz="900" dirty="0"/>
          </a:p>
        </p:txBody>
      </p:sp>
      <p:sp>
        <p:nvSpPr>
          <p:cNvPr id="83" name="Shape 81"/>
          <p:cNvSpPr/>
          <p:nvPr/>
        </p:nvSpPr>
        <p:spPr>
          <a:xfrm>
            <a:off x="777240" y="5916168"/>
            <a:ext cx="320040" cy="164592"/>
          </a:xfrm>
          <a:prstGeom prst="roundRect">
            <a:avLst>
              <a:gd name="adj" fmla="val 27778"/>
            </a:avLst>
          </a:prstGeom>
          <a:solidFill>
            <a:schemeClr val="accent2"/>
          </a:solidFill>
          <a:ln/>
        </p:spPr>
      </p:sp>
      <p:sp>
        <p:nvSpPr>
          <p:cNvPr id="84" name="Text 82"/>
          <p:cNvSpPr txBox="1"/>
          <p:nvPr/>
        </p:nvSpPr>
        <p:spPr>
          <a:xfrm>
            <a:off x="1188720" y="5852160"/>
            <a:ext cx="1280160" cy="274320"/>
          </a:xfrm>
          <a:prstGeom prst="rect">
            <a:avLst/>
          </a:prstGeom>
          <a:noFill/>
          <a:ln/>
        </p:spPr>
        <p:txBody>
          <a:bodyPr wrap="square" lIns="0" tIns="0" rIns="0" bIns="0" rtlCol="0" anchor="ctr"/>
          <a:lstStyle/>
          <a:p>
            <a:pPr indent="0" marL="0">
              <a:buNone/>
            </a:pPr>
            <a:r>
              <a:rPr lang="en-US" sz="1100" dirty="0">
                <a:solidFill>
                  <a:schemeClr val="accent4"/>
                </a:solidFill>
              </a:rPr>
              <a:t>Cumplido</a:t>
            </a:r>
            <a:endParaRPr lang="en-US" sz="1100" dirty="0"/>
          </a:p>
        </p:txBody>
      </p:sp>
      <p:sp>
        <p:nvSpPr>
          <p:cNvPr id="85" name="Shape 83"/>
          <p:cNvSpPr/>
          <p:nvPr/>
        </p:nvSpPr>
        <p:spPr>
          <a:xfrm>
            <a:off x="2423160" y="5916168"/>
            <a:ext cx="320040" cy="164592"/>
          </a:xfrm>
          <a:prstGeom prst="roundRect">
            <a:avLst>
              <a:gd name="adj" fmla="val 27778"/>
            </a:avLst>
          </a:prstGeom>
          <a:solidFill>
            <a:schemeClr val="accent3"/>
          </a:solidFill>
          <a:ln/>
        </p:spPr>
      </p:sp>
      <p:sp>
        <p:nvSpPr>
          <p:cNvPr id="86" name="Text 84"/>
          <p:cNvSpPr txBox="1"/>
          <p:nvPr/>
        </p:nvSpPr>
        <p:spPr>
          <a:xfrm>
            <a:off x="2834640" y="5852160"/>
            <a:ext cx="1280160" cy="274320"/>
          </a:xfrm>
          <a:prstGeom prst="rect">
            <a:avLst/>
          </a:prstGeom>
          <a:noFill/>
          <a:ln/>
        </p:spPr>
        <p:txBody>
          <a:bodyPr wrap="square" lIns="0" tIns="0" rIns="0" bIns="0" rtlCol="0" anchor="ctr"/>
          <a:lstStyle/>
          <a:p>
            <a:pPr indent="0" marL="0">
              <a:buNone/>
            </a:pPr>
            <a:r>
              <a:rPr lang="en-US" sz="1100" dirty="0">
                <a:solidFill>
                  <a:schemeClr val="accent4"/>
                </a:solidFill>
              </a:rPr>
              <a:t>En curso</a:t>
            </a:r>
            <a:endParaRPr lang="en-US" sz="1100" dirty="0"/>
          </a:p>
        </p:txBody>
      </p:sp>
      <p:sp>
        <p:nvSpPr>
          <p:cNvPr id="87" name="Shape 85"/>
          <p:cNvSpPr/>
          <p:nvPr/>
        </p:nvSpPr>
        <p:spPr>
          <a:xfrm>
            <a:off x="4069080" y="5916168"/>
            <a:ext cx="320040" cy="164592"/>
          </a:xfrm>
          <a:prstGeom prst="roundRect">
            <a:avLst>
              <a:gd name="adj" fmla="val 27778"/>
            </a:avLst>
          </a:prstGeom>
          <a:solidFill>
            <a:srgbClr val="B8C2CC"/>
          </a:solidFill>
          <a:ln/>
        </p:spPr>
      </p:sp>
      <p:sp>
        <p:nvSpPr>
          <p:cNvPr id="88" name="Text 86"/>
          <p:cNvSpPr txBox="1"/>
          <p:nvPr/>
        </p:nvSpPr>
        <p:spPr>
          <a:xfrm>
            <a:off x="4480560" y="5852160"/>
            <a:ext cx="1280160" cy="274320"/>
          </a:xfrm>
          <a:prstGeom prst="rect">
            <a:avLst/>
          </a:prstGeom>
          <a:noFill/>
          <a:ln/>
        </p:spPr>
        <p:txBody>
          <a:bodyPr wrap="square" lIns="0" tIns="0" rIns="0" bIns="0" rtlCol="0" anchor="ctr"/>
          <a:lstStyle/>
          <a:p>
            <a:pPr indent="0" marL="0">
              <a:buNone/>
            </a:pPr>
            <a:r>
              <a:rPr lang="en-US" sz="1100" dirty="0">
                <a:solidFill>
                  <a:schemeClr val="accent4"/>
                </a:solidFill>
              </a:rPr>
              <a:t>Pendiente</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Arquitectura del software</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Diseño por capas: cada capa tiene una sola responsabilidad y solo el conector conoce el ERP</a:t>
            </a:r>
            <a:endParaRPr lang="en-US" sz="1500" dirty="0"/>
          </a:p>
        </p:txBody>
      </p:sp>
      <p:sp>
        <p:nvSpPr>
          <p:cNvPr id="4" name="capa1"/>
          <p:cNvSpPr/>
          <p:nvPr/>
        </p:nvSpPr>
        <p:spPr>
          <a:xfrm>
            <a:off x="548640" y="1691640"/>
            <a:ext cx="11091672" cy="786384"/>
          </a:xfrm>
          <a:prstGeom prst="roundRect">
            <a:avLst>
              <a:gd name="adj" fmla="val 11628"/>
            </a:avLst>
          </a:prstGeom>
          <a:solidFill>
            <a:schemeClr val="bg1"/>
          </a:solidFill>
          <a:ln w="22225">
            <a:solidFill>
              <a:srgbClr val="2B6CB0"/>
            </a:solidFill>
            <a:prstDash val="solid"/>
          </a:ln>
          <a:effectLst>
            <a:outerShdw sx="100000" sy="100000" kx="0" ky="0" algn="bl" rotWithShape="0" blurRad="76200" dist="25400" dir="5400000">
              <a:srgbClr val="1F2933">
                <a:alpha val="10000"/>
              </a:srgbClr>
            </a:outerShdw>
          </a:effectLst>
        </p:spPr>
      </p:sp>
      <p:sp>
        <p:nvSpPr>
          <p:cNvPr id="5" name="Shape 3"/>
          <p:cNvSpPr/>
          <p:nvPr/>
        </p:nvSpPr>
        <p:spPr>
          <a:xfrm>
            <a:off x="777240" y="1837944"/>
            <a:ext cx="493776" cy="493776"/>
          </a:xfrm>
          <a:prstGeom prst="ellipse">
            <a:avLst/>
          </a:prstGeom>
          <a:solidFill>
            <a:srgbClr val="2B6CB0"/>
          </a:solidFill>
          <a:ln/>
        </p:spPr>
      </p:sp>
      <p:pic>
        <p:nvPicPr>
          <p:cNvPr id="6" name="Image 0" descr="preencoded.png">    </p:cNvPr>
          <p:cNvPicPr>
            <a:picLocks noChangeAspect="1"/>
          </p:cNvPicPr>
          <p:nvPr/>
        </p:nvPicPr>
        <p:blipFill>
          <a:blip r:embed="rId1"/>
          <a:stretch>
            <a:fillRect/>
          </a:stretch>
        </p:blipFill>
        <p:spPr>
          <a:xfrm>
            <a:off x="900684" y="1961388"/>
            <a:ext cx="246888" cy="246888"/>
          </a:xfrm>
          <a:prstGeom prst="rect">
            <a:avLst/>
          </a:prstGeom>
        </p:spPr>
      </p:pic>
      <p:sp>
        <p:nvSpPr>
          <p:cNvPr id="7" name="Text 4"/>
          <p:cNvSpPr txBox="1"/>
          <p:nvPr/>
        </p:nvSpPr>
        <p:spPr>
          <a:xfrm>
            <a:off x="1508760" y="1783080"/>
            <a:ext cx="9875520" cy="292608"/>
          </a:xfrm>
          <a:prstGeom prst="rect">
            <a:avLst/>
          </a:prstGeom>
          <a:noFill/>
          <a:ln/>
        </p:spPr>
        <p:txBody>
          <a:bodyPr wrap="square" lIns="0" tIns="0" rIns="0" bIns="0" rtlCol="0" anchor="t"/>
          <a:lstStyle/>
          <a:p>
            <a:pPr indent="0" marL="0">
              <a:buNone/>
            </a:pPr>
            <a:r>
              <a:rPr lang="en-US" sz="1300" b="1" spc="100" kern="0" dirty="0">
                <a:solidFill>
                  <a:srgbClr val="2B6CB0"/>
                </a:solidFill>
              </a:rPr>
              <a:t>CAPA DE PRESENTACIÓN (CLIENTE)</a:t>
            </a:r>
            <a:endParaRPr lang="en-US" sz="1300" dirty="0"/>
          </a:p>
        </p:txBody>
      </p:sp>
      <p:sp>
        <p:nvSpPr>
          <p:cNvPr id="8" name="Text 5"/>
          <p:cNvSpPr txBox="1"/>
          <p:nvPr/>
        </p:nvSpPr>
        <p:spPr>
          <a:xfrm>
            <a:off x="1508760" y="2075688"/>
            <a:ext cx="9966960" cy="347472"/>
          </a:xfrm>
          <a:prstGeom prst="rect">
            <a:avLst/>
          </a:prstGeom>
          <a:noFill/>
          <a:ln/>
        </p:spPr>
        <p:txBody>
          <a:bodyPr wrap="square" lIns="0" tIns="0" rIns="0" bIns="0" rtlCol="0" anchor="t"/>
          <a:lstStyle/>
          <a:p>
            <a:pPr indent="0" marL="0">
              <a:buNone/>
            </a:pPr>
            <a:r>
              <a:rPr lang="en-US" sz="1300" dirty="0">
                <a:solidFill>
                  <a:schemeClr val="tx1"/>
                </a:solidFill>
              </a:rPr>
              <a:t>SPA en React 18 + Vite + TypeScript  ·  Selector de conectores  ·  Gestión de conectores (administrador)  ·  Modo claro y oscuro</a:t>
            </a:r>
            <a:endParaRPr lang="en-US" sz="1300" dirty="0"/>
          </a:p>
        </p:txBody>
      </p:sp>
      <p:sp>
        <p:nvSpPr>
          <p:cNvPr id="9" name="capa2"/>
          <p:cNvSpPr/>
          <p:nvPr/>
        </p:nvSpPr>
        <p:spPr>
          <a:xfrm>
            <a:off x="548640" y="2606040"/>
            <a:ext cx="11091672" cy="786384"/>
          </a:xfrm>
          <a:prstGeom prst="roundRect">
            <a:avLst>
              <a:gd name="adj" fmla="val 11628"/>
            </a:avLst>
          </a:prstGeom>
          <a:solidFill>
            <a:schemeClr val="bg1"/>
          </a:solidFill>
          <a:ln w="22225">
            <a:solidFill>
              <a:srgbClr val="2F855A"/>
            </a:solidFill>
            <a:prstDash val="solid"/>
          </a:ln>
          <a:effectLst>
            <a:outerShdw sx="100000" sy="100000" kx="0" ky="0" algn="bl" rotWithShape="0" blurRad="76200" dist="25400" dir="5400000">
              <a:srgbClr val="1F2933">
                <a:alpha val="10000"/>
              </a:srgbClr>
            </a:outerShdw>
          </a:effectLst>
        </p:spPr>
      </p:sp>
      <p:sp>
        <p:nvSpPr>
          <p:cNvPr id="10" name="Shape 7"/>
          <p:cNvSpPr/>
          <p:nvPr/>
        </p:nvSpPr>
        <p:spPr>
          <a:xfrm>
            <a:off x="777240" y="2752344"/>
            <a:ext cx="493776" cy="493776"/>
          </a:xfrm>
          <a:prstGeom prst="ellipse">
            <a:avLst/>
          </a:prstGeom>
          <a:solidFill>
            <a:srgbClr val="2F855A"/>
          </a:solidFill>
          <a:ln/>
        </p:spPr>
      </p:sp>
      <p:pic>
        <p:nvPicPr>
          <p:cNvPr id="11" name="Image 1" descr="preencoded.png">    </p:cNvPr>
          <p:cNvPicPr>
            <a:picLocks noChangeAspect="1"/>
          </p:cNvPicPr>
          <p:nvPr/>
        </p:nvPicPr>
        <p:blipFill>
          <a:blip r:embed="rId2"/>
          <a:stretch>
            <a:fillRect/>
          </a:stretch>
        </p:blipFill>
        <p:spPr>
          <a:xfrm>
            <a:off x="900684" y="2875788"/>
            <a:ext cx="246888" cy="246888"/>
          </a:xfrm>
          <a:prstGeom prst="rect">
            <a:avLst/>
          </a:prstGeom>
        </p:spPr>
      </p:pic>
      <p:sp>
        <p:nvSpPr>
          <p:cNvPr id="12" name="Text 8"/>
          <p:cNvSpPr txBox="1"/>
          <p:nvPr/>
        </p:nvSpPr>
        <p:spPr>
          <a:xfrm>
            <a:off x="1508760" y="2697480"/>
            <a:ext cx="9875520" cy="292608"/>
          </a:xfrm>
          <a:prstGeom prst="rect">
            <a:avLst/>
          </a:prstGeom>
          <a:noFill/>
          <a:ln/>
        </p:spPr>
        <p:txBody>
          <a:bodyPr wrap="square" lIns="0" tIns="0" rIns="0" bIns="0" rtlCol="0" anchor="t"/>
          <a:lstStyle/>
          <a:p>
            <a:pPr indent="0" marL="0">
              <a:buNone/>
            </a:pPr>
            <a:r>
              <a:rPr lang="en-US" sz="1300" b="1" spc="100" kern="0" dirty="0">
                <a:solidFill>
                  <a:srgbClr val="2F855A"/>
                </a:solidFill>
              </a:rPr>
              <a:t>CAPA DE LÓGICA Y SERVICIOS (BACKEND)</a:t>
            </a:r>
            <a:endParaRPr lang="en-US" sz="1300" dirty="0"/>
          </a:p>
        </p:txBody>
      </p:sp>
      <p:sp>
        <p:nvSpPr>
          <p:cNvPr id="13" name="Text 9"/>
          <p:cNvSpPr txBox="1"/>
          <p:nvPr/>
        </p:nvSpPr>
        <p:spPr>
          <a:xfrm>
            <a:off x="1508760" y="2990088"/>
            <a:ext cx="9966960" cy="347472"/>
          </a:xfrm>
          <a:prstGeom prst="rect">
            <a:avLst/>
          </a:prstGeom>
          <a:noFill/>
          <a:ln/>
        </p:spPr>
        <p:txBody>
          <a:bodyPr wrap="square" lIns="0" tIns="0" rIns="0" bIns="0" rtlCol="0" anchor="t"/>
          <a:lstStyle/>
          <a:p>
            <a:pPr indent="0" marL="0">
              <a:buNone/>
            </a:pPr>
            <a:r>
              <a:rPr lang="en-US" sz="1300" dirty="0">
                <a:solidFill>
                  <a:schemeClr val="tx1"/>
                </a:solidFill>
              </a:rPr>
              <a:t>API REST con FastAPI  ·  Control de acceso por rol  ·  Credenciales de ERP cifradas  ·  Auditoría de acciones  ·  IA con DeepSeek</a:t>
            </a:r>
            <a:endParaRPr lang="en-US" sz="1300" dirty="0"/>
          </a:p>
        </p:txBody>
      </p:sp>
      <p:sp>
        <p:nvSpPr>
          <p:cNvPr id="14" name="capa3"/>
          <p:cNvSpPr/>
          <p:nvPr/>
        </p:nvSpPr>
        <p:spPr>
          <a:xfrm>
            <a:off x="548640" y="3520440"/>
            <a:ext cx="11091672" cy="786384"/>
          </a:xfrm>
          <a:prstGeom prst="roundRect">
            <a:avLst>
              <a:gd name="adj" fmla="val 11628"/>
            </a:avLst>
          </a:prstGeom>
          <a:solidFill>
            <a:schemeClr val="bg1"/>
          </a:solidFill>
          <a:ln w="22225">
            <a:solidFill>
              <a:srgbClr val="E69B00"/>
            </a:solidFill>
            <a:prstDash val="solid"/>
          </a:ln>
          <a:effectLst>
            <a:outerShdw sx="100000" sy="100000" kx="0" ky="0" algn="bl" rotWithShape="0" blurRad="76200" dist="25400" dir="5400000">
              <a:srgbClr val="1F2933">
                <a:alpha val="10000"/>
              </a:srgbClr>
            </a:outerShdw>
          </a:effectLst>
        </p:spPr>
      </p:sp>
      <p:sp>
        <p:nvSpPr>
          <p:cNvPr id="15" name="Shape 11"/>
          <p:cNvSpPr/>
          <p:nvPr/>
        </p:nvSpPr>
        <p:spPr>
          <a:xfrm>
            <a:off x="777240" y="3666744"/>
            <a:ext cx="493776" cy="493776"/>
          </a:xfrm>
          <a:prstGeom prst="ellipse">
            <a:avLst/>
          </a:prstGeom>
          <a:solidFill>
            <a:srgbClr val="E69B00"/>
          </a:solidFill>
          <a:ln/>
        </p:spPr>
      </p:sp>
      <p:pic>
        <p:nvPicPr>
          <p:cNvPr id="16" name="Image 2" descr="preencoded.png">    </p:cNvPr>
          <p:cNvPicPr>
            <a:picLocks noChangeAspect="1"/>
          </p:cNvPicPr>
          <p:nvPr/>
        </p:nvPicPr>
        <p:blipFill>
          <a:blip r:embed="rId3"/>
          <a:stretch>
            <a:fillRect/>
          </a:stretch>
        </p:blipFill>
        <p:spPr>
          <a:xfrm>
            <a:off x="900684" y="3790188"/>
            <a:ext cx="246888" cy="246888"/>
          </a:xfrm>
          <a:prstGeom prst="rect">
            <a:avLst/>
          </a:prstGeom>
        </p:spPr>
      </p:pic>
      <p:sp>
        <p:nvSpPr>
          <p:cNvPr id="17" name="Text 12"/>
          <p:cNvSpPr txBox="1"/>
          <p:nvPr/>
        </p:nvSpPr>
        <p:spPr>
          <a:xfrm>
            <a:off x="1508760" y="3611880"/>
            <a:ext cx="9875520" cy="292608"/>
          </a:xfrm>
          <a:prstGeom prst="rect">
            <a:avLst/>
          </a:prstGeom>
          <a:noFill/>
          <a:ln/>
        </p:spPr>
        <p:txBody>
          <a:bodyPr wrap="square" lIns="0" tIns="0" rIns="0" bIns="0" rtlCol="0" anchor="t"/>
          <a:lstStyle/>
          <a:p>
            <a:pPr indent="0" marL="0">
              <a:buNone/>
            </a:pPr>
            <a:r>
              <a:rPr lang="en-US" sz="1300" b="1" spc="100" kern="0" dirty="0">
                <a:solidFill>
                  <a:srgbClr val="E69B00"/>
                </a:solidFill>
              </a:rPr>
              <a:t>CAPA DE INTEGRACIÓN E INGESTA (CONECTORES)</a:t>
            </a:r>
            <a:endParaRPr lang="en-US" sz="1300" dirty="0"/>
          </a:p>
        </p:txBody>
      </p:sp>
      <p:sp>
        <p:nvSpPr>
          <p:cNvPr id="18" name="Text 13"/>
          <p:cNvSpPr txBox="1"/>
          <p:nvPr/>
        </p:nvSpPr>
        <p:spPr>
          <a:xfrm>
            <a:off x="1508760" y="3904488"/>
            <a:ext cx="9966960" cy="347472"/>
          </a:xfrm>
          <a:prstGeom prst="rect">
            <a:avLst/>
          </a:prstGeom>
          <a:noFill/>
          <a:ln/>
        </p:spPr>
        <p:txBody>
          <a:bodyPr wrap="square" lIns="0" tIns="0" rIns="0" bIns="0" rtlCol="0" anchor="t"/>
          <a:lstStyle/>
          <a:p>
            <a:pPr indent="0" marL="0">
              <a:buNone/>
            </a:pPr>
            <a:r>
              <a:rPr lang="en-US" sz="1300" dirty="0">
                <a:solidFill>
                  <a:schemeClr val="tx1"/>
                </a:solidFill>
              </a:rPr>
              <a:t>Un conector por ERP con contrato común  ·  Sincronización programada y manual  ·  Traducción de códigos  ·  Carga idempotente con rechazos</a:t>
            </a:r>
            <a:endParaRPr lang="en-US" sz="1300" dirty="0"/>
          </a:p>
        </p:txBody>
      </p:sp>
      <p:sp>
        <p:nvSpPr>
          <p:cNvPr id="19" name="capa4"/>
          <p:cNvSpPr/>
          <p:nvPr/>
        </p:nvSpPr>
        <p:spPr>
          <a:xfrm>
            <a:off x="548640" y="4434840"/>
            <a:ext cx="11091672" cy="786384"/>
          </a:xfrm>
          <a:prstGeom prst="roundRect">
            <a:avLst>
              <a:gd name="adj" fmla="val 11628"/>
            </a:avLst>
          </a:prstGeom>
          <a:solidFill>
            <a:schemeClr val="bg1"/>
          </a:solidFill>
          <a:ln w="22225">
            <a:solidFill>
              <a:srgbClr val="9A5B00"/>
            </a:solidFill>
            <a:prstDash val="solid"/>
          </a:ln>
          <a:effectLst>
            <a:outerShdw sx="100000" sy="100000" kx="0" ky="0" algn="bl" rotWithShape="0" blurRad="76200" dist="25400" dir="5400000">
              <a:srgbClr val="1F2933">
                <a:alpha val="10000"/>
              </a:srgbClr>
            </a:outerShdw>
          </a:effectLst>
        </p:spPr>
      </p:sp>
      <p:sp>
        <p:nvSpPr>
          <p:cNvPr id="20" name="Shape 15"/>
          <p:cNvSpPr/>
          <p:nvPr/>
        </p:nvSpPr>
        <p:spPr>
          <a:xfrm>
            <a:off x="777240" y="4581144"/>
            <a:ext cx="493776" cy="493776"/>
          </a:xfrm>
          <a:prstGeom prst="ellipse">
            <a:avLst/>
          </a:prstGeom>
          <a:solidFill>
            <a:srgbClr val="9A5B00"/>
          </a:solidFill>
          <a:ln/>
        </p:spPr>
      </p:sp>
      <p:pic>
        <p:nvPicPr>
          <p:cNvPr id="21" name="Image 3" descr="preencoded.png">    </p:cNvPr>
          <p:cNvPicPr>
            <a:picLocks noChangeAspect="1"/>
          </p:cNvPicPr>
          <p:nvPr/>
        </p:nvPicPr>
        <p:blipFill>
          <a:blip r:embed="rId4"/>
          <a:stretch>
            <a:fillRect/>
          </a:stretch>
        </p:blipFill>
        <p:spPr>
          <a:xfrm>
            <a:off x="900684" y="4704588"/>
            <a:ext cx="246888" cy="246888"/>
          </a:xfrm>
          <a:prstGeom prst="rect">
            <a:avLst/>
          </a:prstGeom>
        </p:spPr>
      </p:pic>
      <p:sp>
        <p:nvSpPr>
          <p:cNvPr id="22" name="Text 16"/>
          <p:cNvSpPr txBox="1"/>
          <p:nvPr/>
        </p:nvSpPr>
        <p:spPr>
          <a:xfrm>
            <a:off x="1508760" y="4526280"/>
            <a:ext cx="9875520" cy="292608"/>
          </a:xfrm>
          <a:prstGeom prst="rect">
            <a:avLst/>
          </a:prstGeom>
          <a:noFill/>
          <a:ln/>
        </p:spPr>
        <p:txBody>
          <a:bodyPr wrap="square" lIns="0" tIns="0" rIns="0" bIns="0" rtlCol="0" anchor="t"/>
          <a:lstStyle/>
          <a:p>
            <a:pPr indent="0" marL="0">
              <a:buNone/>
            </a:pPr>
            <a:r>
              <a:rPr lang="en-US" sz="1300" b="1" spc="100" kern="0" dirty="0">
                <a:solidFill>
                  <a:srgbClr val="9A5B00"/>
                </a:solidFill>
              </a:rPr>
              <a:t>CAPA DE DATOS (POSTGRESQL 15 · MULTI-EMPRESA)</a:t>
            </a:r>
            <a:endParaRPr lang="en-US" sz="1300" dirty="0"/>
          </a:p>
        </p:txBody>
      </p:sp>
      <p:sp>
        <p:nvSpPr>
          <p:cNvPr id="23" name="Text 17"/>
          <p:cNvSpPr txBox="1"/>
          <p:nvPr/>
        </p:nvSpPr>
        <p:spPr>
          <a:xfrm>
            <a:off x="1508760" y="4818888"/>
            <a:ext cx="9966960" cy="347472"/>
          </a:xfrm>
          <a:prstGeom prst="rect">
            <a:avLst/>
          </a:prstGeom>
          <a:noFill/>
          <a:ln/>
        </p:spPr>
        <p:txBody>
          <a:bodyPr wrap="square" lIns="0" tIns="0" rIns="0" bIns="0" rtlCol="0" anchor="t"/>
          <a:lstStyle/>
          <a:p>
            <a:pPr indent="0" marL="0">
              <a:buNone/>
            </a:pPr>
            <a:r>
              <a:rPr lang="en-US" sz="1300" dirty="0">
                <a:solidFill>
                  <a:schemeClr val="tx1"/>
                </a:solidFill>
              </a:rPr>
              <a:t>Bronce: dato crudo en JSONB  ·  Plata: EVENTO_FALLA (modelo canónico)  ·  Oro: MTBF y MTTR por máquina  ·  Aislamiento por empresa</a:t>
            </a:r>
            <a:endParaRPr lang="en-US" sz="1300" dirty="0"/>
          </a:p>
        </p:txBody>
      </p:sp>
      <p:sp>
        <p:nvSpPr>
          <p:cNvPr id="24" name="capa5"/>
          <p:cNvSpPr/>
          <p:nvPr/>
        </p:nvSpPr>
        <p:spPr>
          <a:xfrm>
            <a:off x="548640" y="5349240"/>
            <a:ext cx="11091672" cy="786384"/>
          </a:xfrm>
          <a:prstGeom prst="roundRect">
            <a:avLst>
              <a:gd name="adj" fmla="val 11628"/>
            </a:avLst>
          </a:prstGeom>
          <a:solidFill>
            <a:schemeClr val="bg1"/>
          </a:solidFill>
          <a:ln w="22225">
            <a:solidFill>
              <a:srgbClr val="5B6770"/>
            </a:solidFill>
            <a:prstDash val="solid"/>
          </a:ln>
          <a:effectLst>
            <a:outerShdw sx="100000" sy="100000" kx="0" ky="0" algn="bl" rotWithShape="0" blurRad="76200" dist="25400" dir="5400000">
              <a:srgbClr val="1F2933">
                <a:alpha val="10000"/>
              </a:srgbClr>
            </a:outerShdw>
          </a:effectLst>
        </p:spPr>
      </p:sp>
      <p:sp>
        <p:nvSpPr>
          <p:cNvPr id="25" name="Shape 19"/>
          <p:cNvSpPr/>
          <p:nvPr/>
        </p:nvSpPr>
        <p:spPr>
          <a:xfrm>
            <a:off x="777240" y="5495544"/>
            <a:ext cx="493776" cy="493776"/>
          </a:xfrm>
          <a:prstGeom prst="ellipse">
            <a:avLst/>
          </a:prstGeom>
          <a:solidFill>
            <a:srgbClr val="5B6770"/>
          </a:solidFill>
          <a:ln/>
        </p:spPr>
      </p:sp>
      <p:pic>
        <p:nvPicPr>
          <p:cNvPr id="26" name="Image 4" descr="preencoded.png">    </p:cNvPr>
          <p:cNvPicPr>
            <a:picLocks noChangeAspect="1"/>
          </p:cNvPicPr>
          <p:nvPr/>
        </p:nvPicPr>
        <p:blipFill>
          <a:blip r:embed="rId5"/>
          <a:stretch>
            <a:fillRect/>
          </a:stretch>
        </p:blipFill>
        <p:spPr>
          <a:xfrm>
            <a:off x="900684" y="5618988"/>
            <a:ext cx="246888" cy="246888"/>
          </a:xfrm>
          <a:prstGeom prst="rect">
            <a:avLst/>
          </a:prstGeom>
        </p:spPr>
      </p:pic>
      <p:sp>
        <p:nvSpPr>
          <p:cNvPr id="27" name="Text 20"/>
          <p:cNvSpPr txBox="1"/>
          <p:nvPr/>
        </p:nvSpPr>
        <p:spPr>
          <a:xfrm>
            <a:off x="1508760" y="5440680"/>
            <a:ext cx="9875520" cy="292608"/>
          </a:xfrm>
          <a:prstGeom prst="rect">
            <a:avLst/>
          </a:prstGeom>
          <a:noFill/>
          <a:ln/>
        </p:spPr>
        <p:txBody>
          <a:bodyPr wrap="square" lIns="0" tIns="0" rIns="0" bIns="0" rtlCol="0" anchor="t"/>
          <a:lstStyle/>
          <a:p>
            <a:pPr indent="0" marL="0">
              <a:buNone/>
            </a:pPr>
            <a:r>
              <a:rPr lang="en-US" sz="1300" b="1" spc="100" kern="0" dirty="0">
                <a:solidFill>
                  <a:srgbClr val="5B6770"/>
                </a:solidFill>
              </a:rPr>
              <a:t>FUENTES EXTERNAS (ERP DEL CLIENTE)</a:t>
            </a:r>
            <a:endParaRPr lang="en-US" sz="1300" dirty="0"/>
          </a:p>
        </p:txBody>
      </p:sp>
      <p:sp>
        <p:nvSpPr>
          <p:cNvPr id="28" name="Text 21"/>
          <p:cNvSpPr txBox="1"/>
          <p:nvPr/>
        </p:nvSpPr>
        <p:spPr>
          <a:xfrm>
            <a:off x="1508760" y="5733288"/>
            <a:ext cx="9966960" cy="347472"/>
          </a:xfrm>
          <a:prstGeom prst="rect">
            <a:avLst/>
          </a:prstGeom>
          <a:noFill/>
          <a:ln/>
        </p:spPr>
        <p:txBody>
          <a:bodyPr wrap="square" lIns="0" tIns="0" rIns="0" bIns="0" rtlCol="0" anchor="t"/>
          <a:lstStyle/>
          <a:p>
            <a:pPr indent="0" marL="0">
              <a:buNone/>
            </a:pPr>
            <a:r>
              <a:rPr lang="en-US" sz="1300" dirty="0">
                <a:solidFill>
                  <a:schemeClr val="tx1"/>
                </a:solidFill>
              </a:rPr>
              <a:t>SAP PM  ·  Oracle EAM  ·  Fracttal One  ·  Archivos CSV  ·  Fuente simulada que imita SAP PM para las pruebas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Modelo de datos antes: esquema original de Barb</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Diagrama entidad-relación del producto antes de la integración, organizado por módulos</a:t>
            </a:r>
            <a:endParaRPr lang="en-US" sz="1500" dirty="0"/>
          </a:p>
        </p:txBody>
      </p:sp>
      <p:sp>
        <p:nvSpPr>
          <p:cNvPr id="4" name="Shape 2"/>
          <p:cNvSpPr/>
          <p:nvPr/>
        </p:nvSpPr>
        <p:spPr>
          <a:xfrm>
            <a:off x="548640" y="1691640"/>
            <a:ext cx="11091672" cy="4572000"/>
          </a:xfrm>
          <a:prstGeom prst="roundRect">
            <a:avLst>
              <a:gd name="adj" fmla="val 1600"/>
            </a:avLst>
          </a:prstGeom>
          <a:solidFill>
            <a:schemeClr val="bg1"/>
          </a:solidFill>
          <a:ln/>
          <a:effectLst>
            <a:outerShdw sx="100000" sy="100000" kx="0" ky="0" algn="bl" rotWithShape="0" blurRad="76200" dist="25400" dir="5400000">
              <a:srgbClr val="1F2933">
                <a:alpha val="10000"/>
              </a:srgbClr>
            </a:outerShdw>
          </a:effectLst>
        </p:spPr>
      </p:sp>
      <p:pic>
        <p:nvPicPr>
          <p:cNvPr id="5" name="Image 0" descr="Diagrama entidad-relación">    </p:cNvPr>
          <p:cNvPicPr>
            <a:picLocks noChangeAspect="1"/>
          </p:cNvPicPr>
          <p:nvPr/>
        </p:nvPicPr>
        <p:blipFill>
          <a:blip r:embed="rId1"/>
          <a:stretch>
            <a:fillRect/>
          </a:stretch>
        </p:blipFill>
        <p:spPr>
          <a:xfrm>
            <a:off x="2016553" y="1755648"/>
            <a:ext cx="8155845" cy="4443984"/>
          </a:xfrm>
          <a:prstGeom prst="rect">
            <a:avLst/>
          </a:prstGeom>
        </p:spPr>
      </p:pic>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Modelo de datos después: tablas del pipeline multi-ERP</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Solo las tablas creadas para el requerimiento y las tablas existentes con las que se relacionan</a:t>
            </a:r>
            <a:endParaRPr lang="en-US" sz="1500" dirty="0"/>
          </a:p>
        </p:txBody>
      </p:sp>
      <p:sp>
        <p:nvSpPr>
          <p:cNvPr id="4" name="Shape 2"/>
          <p:cNvSpPr/>
          <p:nvPr/>
        </p:nvSpPr>
        <p:spPr>
          <a:xfrm>
            <a:off x="548640" y="1783080"/>
            <a:ext cx="7452360" cy="4434840"/>
          </a:xfrm>
          <a:prstGeom prst="roundRect">
            <a:avLst>
              <a:gd name="adj" fmla="val 1649"/>
            </a:avLst>
          </a:prstGeom>
          <a:solidFill>
            <a:schemeClr val="bg1"/>
          </a:solidFill>
          <a:ln/>
          <a:effectLst>
            <a:outerShdw sx="100000" sy="100000" kx="0" ky="0" algn="bl" rotWithShape="0" blurRad="76200" dist="25400" dir="5400000">
              <a:srgbClr val="1F2933">
                <a:alpha val="10000"/>
              </a:srgbClr>
            </a:outerShdw>
          </a:effectLst>
        </p:spPr>
      </p:sp>
      <p:pic>
        <p:nvPicPr>
          <p:cNvPr id="5" name="Image 0" descr="Diagrama entidad-relación">    </p:cNvPr>
          <p:cNvPicPr>
            <a:picLocks noChangeAspect="1"/>
          </p:cNvPicPr>
          <p:nvPr/>
        </p:nvPicPr>
        <p:blipFill>
          <a:blip r:embed="rId1"/>
          <a:stretch>
            <a:fillRect/>
          </a:stretch>
        </p:blipFill>
        <p:spPr>
          <a:xfrm>
            <a:off x="908220" y="1874520"/>
            <a:ext cx="6733200" cy="4251960"/>
          </a:xfrm>
          <a:prstGeom prst="rect">
            <a:avLst/>
          </a:prstGeom>
        </p:spPr>
      </p:pic>
      <p:sp>
        <p:nvSpPr>
          <p:cNvPr id="6" name="Shape 3"/>
          <p:cNvSpPr/>
          <p:nvPr/>
        </p:nvSpPr>
        <p:spPr>
          <a:xfrm>
            <a:off x="8183880" y="1783080"/>
            <a:ext cx="3456432" cy="4434840"/>
          </a:xfrm>
          <a:prstGeom prst="roundRect">
            <a:avLst>
              <a:gd name="adj" fmla="val 2116"/>
            </a:avLst>
          </a:prstGeom>
          <a:solidFill>
            <a:schemeClr val="bg1"/>
          </a:solidFill>
          <a:ln/>
          <a:effectLst>
            <a:outerShdw sx="100000" sy="100000" kx="0" ky="0" algn="bl" rotWithShape="0" blurRad="76200" dist="25400" dir="5400000">
              <a:srgbClr val="1F2933">
                <a:alpha val="10000"/>
              </a:srgbClr>
            </a:outerShdw>
          </a:effectLst>
        </p:spPr>
      </p:sp>
      <p:sp>
        <p:nvSpPr>
          <p:cNvPr id="7" name="Text 4"/>
          <p:cNvSpPr txBox="1"/>
          <p:nvPr/>
        </p:nvSpPr>
        <p:spPr>
          <a:xfrm>
            <a:off x="8412480" y="1938528"/>
            <a:ext cx="301752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LEYENDA</a:t>
            </a:r>
            <a:endParaRPr lang="en-US" sz="1100" dirty="0"/>
          </a:p>
        </p:txBody>
      </p:sp>
      <p:sp>
        <p:nvSpPr>
          <p:cNvPr id="8" name="Shape 5"/>
          <p:cNvSpPr/>
          <p:nvPr/>
        </p:nvSpPr>
        <p:spPr>
          <a:xfrm>
            <a:off x="8412480" y="2322576"/>
            <a:ext cx="384048" cy="219456"/>
          </a:xfrm>
          <a:prstGeom prst="rect">
            <a:avLst/>
          </a:prstGeom>
          <a:solidFill>
            <a:srgbClr val="FCEBC4"/>
          </a:solidFill>
          <a:ln w="15875">
            <a:solidFill>
              <a:srgbClr val="E69B00"/>
            </a:solidFill>
            <a:prstDash val="solid"/>
          </a:ln>
        </p:spPr>
      </p:sp>
      <p:sp>
        <p:nvSpPr>
          <p:cNvPr id="9" name="Text 6"/>
          <p:cNvSpPr txBox="1"/>
          <p:nvPr/>
        </p:nvSpPr>
        <p:spPr>
          <a:xfrm>
            <a:off x="8915400" y="2286000"/>
            <a:ext cx="2651760" cy="292608"/>
          </a:xfrm>
          <a:prstGeom prst="rect">
            <a:avLst/>
          </a:prstGeom>
          <a:noFill/>
          <a:ln/>
        </p:spPr>
        <p:txBody>
          <a:bodyPr wrap="square" lIns="0" tIns="0" rIns="0" bIns="0" rtlCol="0" anchor="ctr"/>
          <a:lstStyle/>
          <a:p>
            <a:pPr indent="0" marL="0">
              <a:buNone/>
            </a:pPr>
            <a:r>
              <a:rPr lang="en-US" sz="1200" dirty="0">
                <a:solidFill>
                  <a:schemeClr val="tx1"/>
                </a:solidFill>
              </a:rPr>
              <a:t>Tabla nueva</a:t>
            </a:r>
            <a:endParaRPr lang="en-US" sz="1200" dirty="0"/>
          </a:p>
        </p:txBody>
      </p:sp>
      <p:sp>
        <p:nvSpPr>
          <p:cNvPr id="10" name="Shape 7"/>
          <p:cNvSpPr/>
          <p:nvPr/>
        </p:nvSpPr>
        <p:spPr>
          <a:xfrm>
            <a:off x="8412480" y="2688336"/>
            <a:ext cx="384048" cy="219456"/>
          </a:xfrm>
          <a:prstGeom prst="rect">
            <a:avLst/>
          </a:prstGeom>
          <a:solidFill>
            <a:srgbClr val="E69B00"/>
          </a:solidFill>
          <a:ln w="15875">
            <a:solidFill>
              <a:srgbClr val="9A5B00"/>
            </a:solidFill>
            <a:prstDash val="solid"/>
          </a:ln>
        </p:spPr>
      </p:sp>
      <p:sp>
        <p:nvSpPr>
          <p:cNvPr id="11" name="Text 8"/>
          <p:cNvSpPr txBox="1"/>
          <p:nvPr/>
        </p:nvSpPr>
        <p:spPr>
          <a:xfrm>
            <a:off x="8915400" y="2651760"/>
            <a:ext cx="2651760" cy="292608"/>
          </a:xfrm>
          <a:prstGeom prst="rect">
            <a:avLst/>
          </a:prstGeom>
          <a:noFill/>
          <a:ln/>
        </p:spPr>
        <p:txBody>
          <a:bodyPr wrap="square" lIns="0" tIns="0" rIns="0" bIns="0" rtlCol="0" anchor="ctr"/>
          <a:lstStyle/>
          <a:p>
            <a:pPr indent="0" marL="0">
              <a:buNone/>
            </a:pPr>
            <a:r>
              <a:rPr lang="en-US" sz="1200" dirty="0">
                <a:solidFill>
                  <a:schemeClr val="tx1"/>
                </a:solidFill>
              </a:rPr>
              <a:t>Tabla central nueva</a:t>
            </a:r>
            <a:endParaRPr lang="en-US" sz="1200" dirty="0"/>
          </a:p>
        </p:txBody>
      </p:sp>
      <p:sp>
        <p:nvSpPr>
          <p:cNvPr id="12" name="Shape 9"/>
          <p:cNvSpPr/>
          <p:nvPr/>
        </p:nvSpPr>
        <p:spPr>
          <a:xfrm>
            <a:off x="8412480" y="3054096"/>
            <a:ext cx="384048" cy="219456"/>
          </a:xfrm>
          <a:prstGeom prst="rect">
            <a:avLst/>
          </a:prstGeom>
          <a:solidFill>
            <a:srgbClr val="DCEAF7"/>
          </a:solidFill>
          <a:ln w="15875">
            <a:solidFill>
              <a:srgbClr val="2B6CB0"/>
            </a:solidFill>
            <a:prstDash val="solid"/>
          </a:ln>
        </p:spPr>
      </p:sp>
      <p:sp>
        <p:nvSpPr>
          <p:cNvPr id="13" name="Text 10"/>
          <p:cNvSpPr txBox="1"/>
          <p:nvPr/>
        </p:nvSpPr>
        <p:spPr>
          <a:xfrm>
            <a:off x="8915400" y="3017520"/>
            <a:ext cx="2651760" cy="292608"/>
          </a:xfrm>
          <a:prstGeom prst="rect">
            <a:avLst/>
          </a:prstGeom>
          <a:noFill/>
          <a:ln/>
        </p:spPr>
        <p:txBody>
          <a:bodyPr wrap="square" lIns="0" tIns="0" rIns="0" bIns="0" rtlCol="0" anchor="ctr"/>
          <a:lstStyle/>
          <a:p>
            <a:pPr indent="0" marL="0">
              <a:buNone/>
            </a:pPr>
            <a:r>
              <a:rPr lang="en-US" sz="1200" dirty="0">
                <a:solidFill>
                  <a:schemeClr val="tx1"/>
                </a:solidFill>
              </a:rPr>
              <a:t>Existente con columnas nuevas</a:t>
            </a:r>
            <a:endParaRPr lang="en-US" sz="1200" dirty="0"/>
          </a:p>
        </p:txBody>
      </p:sp>
      <p:sp>
        <p:nvSpPr>
          <p:cNvPr id="14" name="Shape 11"/>
          <p:cNvSpPr/>
          <p:nvPr/>
        </p:nvSpPr>
        <p:spPr>
          <a:xfrm>
            <a:off x="8412480" y="3419856"/>
            <a:ext cx="384048" cy="219456"/>
          </a:xfrm>
          <a:prstGeom prst="rect">
            <a:avLst/>
          </a:prstGeom>
          <a:solidFill>
            <a:srgbClr val="FFFFFF"/>
          </a:solidFill>
          <a:ln w="15875">
            <a:solidFill>
              <a:srgbClr val="8A96A3"/>
            </a:solidFill>
            <a:prstDash val="solid"/>
          </a:ln>
        </p:spPr>
      </p:sp>
      <p:sp>
        <p:nvSpPr>
          <p:cNvPr id="15" name="Text 12"/>
          <p:cNvSpPr txBox="1"/>
          <p:nvPr/>
        </p:nvSpPr>
        <p:spPr>
          <a:xfrm>
            <a:off x="8915400" y="3383280"/>
            <a:ext cx="2651760" cy="292608"/>
          </a:xfrm>
          <a:prstGeom prst="rect">
            <a:avLst/>
          </a:prstGeom>
          <a:noFill/>
          <a:ln/>
        </p:spPr>
        <p:txBody>
          <a:bodyPr wrap="square" lIns="0" tIns="0" rIns="0" bIns="0" rtlCol="0" anchor="ctr"/>
          <a:lstStyle/>
          <a:p>
            <a:pPr indent="0" marL="0">
              <a:buNone/>
            </a:pPr>
            <a:r>
              <a:rPr lang="en-US" sz="1200" dirty="0">
                <a:solidFill>
                  <a:schemeClr val="tx1"/>
                </a:solidFill>
              </a:rPr>
              <a:t>Existente sin cambios</a:t>
            </a:r>
            <a:endParaRPr lang="en-US" sz="1200" dirty="0"/>
          </a:p>
        </p:txBody>
      </p:sp>
      <p:sp>
        <p:nvSpPr>
          <p:cNvPr id="16" name="Text 13"/>
          <p:cNvSpPr txBox="1"/>
          <p:nvPr/>
        </p:nvSpPr>
        <p:spPr>
          <a:xfrm>
            <a:off x="8412480" y="3840480"/>
            <a:ext cx="301752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COLUMNAS OPCIONALES</a:t>
            </a:r>
            <a:endParaRPr lang="en-US" sz="1100" dirty="0"/>
          </a:p>
        </p:txBody>
      </p:sp>
      <p:sp>
        <p:nvSpPr>
          <p:cNvPr id="17" name="Text 14"/>
          <p:cNvSpPr txBox="1"/>
          <p:nvPr/>
        </p:nvSpPr>
        <p:spPr>
          <a:xfrm>
            <a:off x="8412480" y="4160520"/>
            <a:ext cx="3063240" cy="1234440"/>
          </a:xfrm>
          <a:prstGeom prst="rect">
            <a:avLst/>
          </a:prstGeom>
          <a:noFill/>
          <a:ln/>
        </p:spPr>
        <p:txBody>
          <a:bodyPr wrap="square" lIns="0" tIns="0" rIns="0" bIns="0" rtlCol="0" anchor="t"/>
          <a:lstStyle/>
          <a:p>
            <a:pPr indent="0" marL="0">
              <a:buNone/>
            </a:pPr>
            <a:r>
              <a:rPr lang="en-US" sz="1100" b="1" dirty="0">
                <a:solidFill>
                  <a:schemeClr val="tx1"/>
                </a:solidFill>
              </a:rPr>
              <a:t>MAQUINA</a:t>
            </a:r>
            <a:endParaRPr lang="en-US" sz="1100" dirty="0"/>
          </a:p>
          <a:p>
            <a:pPr indent="0" marL="0">
              <a:buNone/>
            </a:pPr>
            <a:r>
              <a:rPr lang="en-US" sz="1100" dirty="0">
                <a:solidFill>
                  <a:schemeClr val="tx1"/>
                </a:solidFill>
              </a:rPr>
              <a:t>fabricante · modelo · numero_serie · fecha_puesta_marcha · criticidad</a:t>
            </a:r>
            <a:endParaRPr lang="en-US" sz="1100" dirty="0"/>
          </a:p>
          <a:p>
            <a:pPr indent="0" marL="0">
              <a:buNone/>
            </a:pPr>
            <a:r>
              <a:rPr lang="en-US" sz="600" dirty="0">
                <a:solidFill>
                  <a:schemeClr val="tx1"/>
                </a:solidFill>
              </a:rPr>
              <a:t> </a:t>
            </a:r>
            <a:endParaRPr lang="en-US" sz="1100" dirty="0"/>
          </a:p>
          <a:p>
            <a:pPr indent="0" marL="0">
              <a:buNone/>
            </a:pPr>
            <a:r>
              <a:rPr lang="en-US" sz="1100" b="1" dirty="0">
                <a:solidFill>
                  <a:schemeClr val="tx1"/>
                </a:solidFill>
              </a:rPr>
              <a:t>ORDEN_TRABAJO</a:t>
            </a:r>
            <a:endParaRPr lang="en-US" sz="1100" dirty="0"/>
          </a:p>
          <a:p>
            <a:pPr indent="0" marL="0">
              <a:buNone/>
            </a:pPr>
            <a:r>
              <a:rPr lang="en-US" sz="1100" dirty="0">
                <a:solidFill>
                  <a:schemeClr val="tx1"/>
                </a:solidFill>
              </a:rPr>
              <a:t>conector_id · id_externo (NULL = creada en Barb)</a:t>
            </a:r>
            <a:endParaRPr lang="en-US" sz="1100" dirty="0"/>
          </a:p>
        </p:txBody>
      </p:sp>
      <p:sp>
        <p:nvSpPr>
          <p:cNvPr id="18" name="Text 15"/>
          <p:cNvSpPr txBox="1"/>
          <p:nvPr/>
        </p:nvSpPr>
        <p:spPr>
          <a:xfrm>
            <a:off x="8412480" y="5532120"/>
            <a:ext cx="3108960" cy="502920"/>
          </a:xfrm>
          <a:prstGeom prst="rect">
            <a:avLst/>
          </a:prstGeom>
          <a:noFill/>
          <a:ln/>
        </p:spPr>
        <p:txBody>
          <a:bodyPr wrap="square" lIns="0" tIns="0" rIns="0" bIns="0" rtlCol="0" anchor="ctr"/>
          <a:lstStyle/>
          <a:p>
            <a:pPr indent="0" marL="0">
              <a:buNone/>
            </a:pPr>
            <a:r>
              <a:rPr lang="en-US" sz="2000" b="1" dirty="0">
                <a:solidFill>
                  <a:schemeClr val="accent1"/>
                </a:solidFill>
              </a:rPr>
              <a:t>+9</a:t>
            </a:r>
            <a:pPr indent="0" marL="0">
              <a:buNone/>
            </a:pPr>
            <a:r>
              <a:rPr lang="en-US" sz="1200" dirty="0">
                <a:solidFill>
                  <a:schemeClr val="tx1"/>
                </a:solidFill>
              </a:rPr>
              <a:t> tablas   </a:t>
            </a:r>
            <a:pPr indent="0" marL="0">
              <a:buNone/>
            </a:pPr>
            <a:r>
              <a:rPr lang="en-US" sz="2000" b="1" dirty="0">
                <a:solidFill>
                  <a:schemeClr val="accent1"/>
                </a:solidFill>
              </a:rPr>
              <a:t>0</a:t>
            </a:r>
            <a:pPr indent="0" marL="0">
              <a:buNone/>
            </a:pPr>
            <a:r>
              <a:rPr lang="en-US" sz="1200" dirty="0">
                <a:solidFill>
                  <a:schemeClr val="tx1"/>
                </a:solidFill>
              </a:rPr>
              <a:t> cambios destructivos</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Tecnologías utilizadas</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Se mantiene el stack existente de Barb para integrar sin fricción</a:t>
            </a:r>
            <a:endParaRPr lang="en-US" sz="1500" dirty="0"/>
          </a:p>
        </p:txBody>
      </p:sp>
      <p:sp>
        <p:nvSpPr>
          <p:cNvPr id="4" name="Shape 2"/>
          <p:cNvSpPr/>
          <p:nvPr/>
        </p:nvSpPr>
        <p:spPr>
          <a:xfrm>
            <a:off x="548640" y="1783080"/>
            <a:ext cx="2606040" cy="443484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5" name="Shape 3"/>
          <p:cNvSpPr/>
          <p:nvPr/>
        </p:nvSpPr>
        <p:spPr>
          <a:xfrm>
            <a:off x="822960" y="2011680"/>
            <a:ext cx="566928" cy="566928"/>
          </a:xfrm>
          <a:prstGeom prst="ellipse">
            <a:avLst/>
          </a:prstGeom>
          <a:solidFill>
            <a:srgbClr val="E69B00"/>
          </a:solidFill>
          <a:ln/>
        </p:spPr>
      </p:sp>
      <p:pic>
        <p:nvPicPr>
          <p:cNvPr id="6" name="Image 0" descr="preencoded.png">    </p:cNvPr>
          <p:cNvPicPr>
            <a:picLocks noChangeAspect="1"/>
          </p:cNvPicPr>
          <p:nvPr/>
        </p:nvPicPr>
        <p:blipFill>
          <a:blip r:embed="rId1"/>
          <a:stretch>
            <a:fillRect/>
          </a:stretch>
        </p:blipFill>
        <p:spPr>
          <a:xfrm>
            <a:off x="964692" y="2153412"/>
            <a:ext cx="283464" cy="283464"/>
          </a:xfrm>
          <a:prstGeom prst="rect">
            <a:avLst/>
          </a:prstGeom>
        </p:spPr>
      </p:pic>
      <p:sp>
        <p:nvSpPr>
          <p:cNvPr id="7" name="Text 4"/>
          <p:cNvSpPr txBox="1"/>
          <p:nvPr/>
        </p:nvSpPr>
        <p:spPr>
          <a:xfrm>
            <a:off x="1508760" y="2011680"/>
            <a:ext cx="1554480" cy="566928"/>
          </a:xfrm>
          <a:prstGeom prst="rect">
            <a:avLst/>
          </a:prstGeom>
          <a:noFill/>
          <a:ln/>
        </p:spPr>
        <p:txBody>
          <a:bodyPr wrap="square" lIns="0" tIns="0" rIns="0" bIns="0" rtlCol="0" anchor="ctr"/>
          <a:lstStyle/>
          <a:p>
            <a:pPr indent="0" marL="0">
              <a:buNone/>
            </a:pPr>
            <a:r>
              <a:rPr lang="en-US" sz="1300" b="1" spc="200" kern="0" dirty="0">
                <a:solidFill>
                  <a:schemeClr val="accent6"/>
                </a:solidFill>
              </a:rPr>
              <a:t>FRONTEND</a:t>
            </a:r>
            <a:endParaRPr lang="en-US" sz="1300" dirty="0"/>
          </a:p>
        </p:txBody>
      </p:sp>
      <p:sp>
        <p:nvSpPr>
          <p:cNvPr id="8" name="Text 5"/>
          <p:cNvSpPr txBox="1"/>
          <p:nvPr/>
        </p:nvSpPr>
        <p:spPr>
          <a:xfrm>
            <a:off x="822960" y="2880360"/>
            <a:ext cx="2194560" cy="320040"/>
          </a:xfrm>
          <a:prstGeom prst="rect">
            <a:avLst/>
          </a:prstGeom>
          <a:noFill/>
          <a:ln/>
        </p:spPr>
        <p:txBody>
          <a:bodyPr wrap="square" lIns="0" tIns="0" rIns="0" bIns="0" rtlCol="0" anchor="t"/>
          <a:lstStyle/>
          <a:p>
            <a:pPr indent="0" marL="0">
              <a:buNone/>
            </a:pPr>
            <a:r>
              <a:rPr lang="en-US" sz="1500" b="1" dirty="0">
                <a:solidFill>
                  <a:schemeClr val="tx1"/>
                </a:solidFill>
              </a:rPr>
              <a:t>React 18 + Vite</a:t>
            </a:r>
            <a:endParaRPr lang="en-US" sz="1500" dirty="0"/>
          </a:p>
        </p:txBody>
      </p:sp>
      <p:sp>
        <p:nvSpPr>
          <p:cNvPr id="9" name="Text 6"/>
          <p:cNvSpPr txBox="1"/>
          <p:nvPr/>
        </p:nvSpPr>
        <p:spPr>
          <a:xfrm>
            <a:off x="822960" y="3227832"/>
            <a:ext cx="2194560" cy="548640"/>
          </a:xfrm>
          <a:prstGeom prst="rect">
            <a:avLst/>
          </a:prstGeom>
          <a:noFill/>
          <a:ln/>
        </p:spPr>
        <p:txBody>
          <a:bodyPr wrap="square" lIns="0" tIns="0" rIns="0" bIns="0" rtlCol="0" anchor="t"/>
          <a:lstStyle/>
          <a:p>
            <a:pPr indent="0" marL="0">
              <a:buNone/>
            </a:pPr>
            <a:r>
              <a:rPr lang="en-US" sz="1200" dirty="0">
                <a:solidFill>
                  <a:schemeClr val="accent4"/>
                </a:solidFill>
              </a:rPr>
              <a:t>Interfaz SPA de Barb</a:t>
            </a:r>
            <a:endParaRPr lang="en-US" sz="1200" dirty="0"/>
          </a:p>
        </p:txBody>
      </p:sp>
      <p:sp>
        <p:nvSpPr>
          <p:cNvPr id="10" name="Text 7"/>
          <p:cNvSpPr txBox="1"/>
          <p:nvPr/>
        </p:nvSpPr>
        <p:spPr>
          <a:xfrm>
            <a:off x="822960" y="3959352"/>
            <a:ext cx="2194560" cy="320040"/>
          </a:xfrm>
          <a:prstGeom prst="rect">
            <a:avLst/>
          </a:prstGeom>
          <a:noFill/>
          <a:ln/>
        </p:spPr>
        <p:txBody>
          <a:bodyPr wrap="square" lIns="0" tIns="0" rIns="0" bIns="0" rtlCol="0" anchor="t"/>
          <a:lstStyle/>
          <a:p>
            <a:pPr indent="0" marL="0">
              <a:buNone/>
            </a:pPr>
            <a:r>
              <a:rPr lang="en-US" sz="1500" b="1" dirty="0">
                <a:solidFill>
                  <a:schemeClr val="tx1"/>
                </a:solidFill>
              </a:rPr>
              <a:t>TypeScript</a:t>
            </a:r>
            <a:endParaRPr lang="en-US" sz="1500" dirty="0"/>
          </a:p>
        </p:txBody>
      </p:sp>
      <p:sp>
        <p:nvSpPr>
          <p:cNvPr id="11" name="Text 8"/>
          <p:cNvSpPr txBox="1"/>
          <p:nvPr/>
        </p:nvSpPr>
        <p:spPr>
          <a:xfrm>
            <a:off x="822960" y="4306824"/>
            <a:ext cx="2194560" cy="548640"/>
          </a:xfrm>
          <a:prstGeom prst="rect">
            <a:avLst/>
          </a:prstGeom>
          <a:noFill/>
          <a:ln/>
        </p:spPr>
        <p:txBody>
          <a:bodyPr wrap="square" lIns="0" tIns="0" rIns="0" bIns="0" rtlCol="0" anchor="t"/>
          <a:lstStyle/>
          <a:p>
            <a:pPr indent="0" marL="0">
              <a:buNone/>
            </a:pPr>
            <a:r>
              <a:rPr lang="en-US" sz="1200" dirty="0">
                <a:solidFill>
                  <a:schemeClr val="accent4"/>
                </a:solidFill>
              </a:rPr>
              <a:t>Tipado del selector de conectores</a:t>
            </a:r>
            <a:endParaRPr lang="en-US" sz="1200" dirty="0"/>
          </a:p>
        </p:txBody>
      </p:sp>
      <p:sp>
        <p:nvSpPr>
          <p:cNvPr id="12" name="Text 9"/>
          <p:cNvSpPr txBox="1"/>
          <p:nvPr/>
        </p:nvSpPr>
        <p:spPr>
          <a:xfrm>
            <a:off x="822960" y="5038344"/>
            <a:ext cx="2194560" cy="320040"/>
          </a:xfrm>
          <a:prstGeom prst="rect">
            <a:avLst/>
          </a:prstGeom>
          <a:noFill/>
          <a:ln/>
        </p:spPr>
        <p:txBody>
          <a:bodyPr wrap="square" lIns="0" tIns="0" rIns="0" bIns="0" rtlCol="0" anchor="t"/>
          <a:lstStyle/>
          <a:p>
            <a:pPr indent="0" marL="0">
              <a:buNone/>
            </a:pPr>
            <a:r>
              <a:rPr lang="en-US" sz="1500" b="1" dirty="0">
                <a:solidFill>
                  <a:schemeClr val="tx1"/>
                </a:solidFill>
              </a:rPr>
              <a:t>Tailwind CSS</a:t>
            </a:r>
            <a:endParaRPr lang="en-US" sz="1500" dirty="0"/>
          </a:p>
        </p:txBody>
      </p:sp>
      <p:sp>
        <p:nvSpPr>
          <p:cNvPr id="13" name="Text 10"/>
          <p:cNvSpPr txBox="1"/>
          <p:nvPr/>
        </p:nvSpPr>
        <p:spPr>
          <a:xfrm>
            <a:off x="822960" y="5385816"/>
            <a:ext cx="2194560" cy="548640"/>
          </a:xfrm>
          <a:prstGeom prst="rect">
            <a:avLst/>
          </a:prstGeom>
          <a:noFill/>
          <a:ln/>
        </p:spPr>
        <p:txBody>
          <a:bodyPr wrap="square" lIns="0" tIns="0" rIns="0" bIns="0" rtlCol="0" anchor="t"/>
          <a:lstStyle/>
          <a:p>
            <a:pPr indent="0" marL="0">
              <a:buNone/>
            </a:pPr>
            <a:r>
              <a:rPr lang="en-US" sz="1200" dirty="0">
                <a:solidFill>
                  <a:schemeClr val="accent4"/>
                </a:solidFill>
              </a:rPr>
              <a:t>Estilos con modo claro y oscuro</a:t>
            </a:r>
            <a:endParaRPr lang="en-US" sz="1200" dirty="0"/>
          </a:p>
        </p:txBody>
      </p:sp>
      <p:sp>
        <p:nvSpPr>
          <p:cNvPr id="14" name="Shape 11"/>
          <p:cNvSpPr/>
          <p:nvPr/>
        </p:nvSpPr>
        <p:spPr>
          <a:xfrm>
            <a:off x="3364992" y="1783080"/>
            <a:ext cx="2606040" cy="443484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15" name="Shape 12"/>
          <p:cNvSpPr/>
          <p:nvPr/>
        </p:nvSpPr>
        <p:spPr>
          <a:xfrm>
            <a:off x="3639312" y="2011680"/>
            <a:ext cx="566928" cy="566928"/>
          </a:xfrm>
          <a:prstGeom prst="ellipse">
            <a:avLst/>
          </a:prstGeom>
          <a:solidFill>
            <a:srgbClr val="E69B00"/>
          </a:solidFill>
          <a:ln/>
        </p:spPr>
      </p:sp>
      <p:pic>
        <p:nvPicPr>
          <p:cNvPr id="16" name="Image 1" descr="preencoded.png">    </p:cNvPr>
          <p:cNvPicPr>
            <a:picLocks noChangeAspect="1"/>
          </p:cNvPicPr>
          <p:nvPr/>
        </p:nvPicPr>
        <p:blipFill>
          <a:blip r:embed="rId2"/>
          <a:stretch>
            <a:fillRect/>
          </a:stretch>
        </p:blipFill>
        <p:spPr>
          <a:xfrm>
            <a:off x="3781044" y="2153412"/>
            <a:ext cx="283464" cy="283464"/>
          </a:xfrm>
          <a:prstGeom prst="rect">
            <a:avLst/>
          </a:prstGeom>
        </p:spPr>
      </p:pic>
      <p:sp>
        <p:nvSpPr>
          <p:cNvPr id="17" name="Text 13"/>
          <p:cNvSpPr txBox="1"/>
          <p:nvPr/>
        </p:nvSpPr>
        <p:spPr>
          <a:xfrm>
            <a:off x="4325112" y="2011680"/>
            <a:ext cx="1554480" cy="566928"/>
          </a:xfrm>
          <a:prstGeom prst="rect">
            <a:avLst/>
          </a:prstGeom>
          <a:noFill/>
          <a:ln/>
        </p:spPr>
        <p:txBody>
          <a:bodyPr wrap="square" lIns="0" tIns="0" rIns="0" bIns="0" rtlCol="0" anchor="ctr"/>
          <a:lstStyle/>
          <a:p>
            <a:pPr indent="0" marL="0">
              <a:buNone/>
            </a:pPr>
            <a:r>
              <a:rPr lang="en-US" sz="1300" b="1" spc="200" kern="0" dirty="0">
                <a:solidFill>
                  <a:schemeClr val="accent6"/>
                </a:solidFill>
              </a:rPr>
              <a:t>BACKEND</a:t>
            </a:r>
            <a:endParaRPr lang="en-US" sz="1300" dirty="0"/>
          </a:p>
        </p:txBody>
      </p:sp>
      <p:sp>
        <p:nvSpPr>
          <p:cNvPr id="18" name="Text 14"/>
          <p:cNvSpPr txBox="1"/>
          <p:nvPr/>
        </p:nvSpPr>
        <p:spPr>
          <a:xfrm>
            <a:off x="3639312" y="2880360"/>
            <a:ext cx="2194560" cy="320040"/>
          </a:xfrm>
          <a:prstGeom prst="rect">
            <a:avLst/>
          </a:prstGeom>
          <a:noFill/>
          <a:ln/>
        </p:spPr>
        <p:txBody>
          <a:bodyPr wrap="square" lIns="0" tIns="0" rIns="0" bIns="0" rtlCol="0" anchor="t"/>
          <a:lstStyle/>
          <a:p>
            <a:pPr indent="0" marL="0">
              <a:buNone/>
            </a:pPr>
            <a:r>
              <a:rPr lang="en-US" sz="1500" b="1" dirty="0">
                <a:solidFill>
                  <a:schemeClr val="tx1"/>
                </a:solidFill>
              </a:rPr>
              <a:t>Python + FastAPI</a:t>
            </a:r>
            <a:endParaRPr lang="en-US" sz="1500" dirty="0"/>
          </a:p>
        </p:txBody>
      </p:sp>
      <p:sp>
        <p:nvSpPr>
          <p:cNvPr id="19" name="Text 15"/>
          <p:cNvSpPr txBox="1"/>
          <p:nvPr/>
        </p:nvSpPr>
        <p:spPr>
          <a:xfrm>
            <a:off x="3639312" y="3227832"/>
            <a:ext cx="2194560" cy="548640"/>
          </a:xfrm>
          <a:prstGeom prst="rect">
            <a:avLst/>
          </a:prstGeom>
          <a:noFill/>
          <a:ln/>
        </p:spPr>
        <p:txBody>
          <a:bodyPr wrap="square" lIns="0" tIns="0" rIns="0" bIns="0" rtlCol="0" anchor="t"/>
          <a:lstStyle/>
          <a:p>
            <a:pPr indent="0" marL="0">
              <a:buNone/>
            </a:pPr>
            <a:r>
              <a:rPr lang="en-US" sz="1200" dirty="0">
                <a:solidFill>
                  <a:schemeClr val="accent4"/>
                </a:solidFill>
              </a:rPr>
              <a:t>API REST asíncrona y RBAC</a:t>
            </a:r>
            <a:endParaRPr lang="en-US" sz="1200" dirty="0"/>
          </a:p>
        </p:txBody>
      </p:sp>
      <p:sp>
        <p:nvSpPr>
          <p:cNvPr id="20" name="Text 16"/>
          <p:cNvSpPr txBox="1"/>
          <p:nvPr/>
        </p:nvSpPr>
        <p:spPr>
          <a:xfrm>
            <a:off x="3639312" y="3959352"/>
            <a:ext cx="2194560" cy="320040"/>
          </a:xfrm>
          <a:prstGeom prst="rect">
            <a:avLst/>
          </a:prstGeom>
          <a:noFill/>
          <a:ln/>
        </p:spPr>
        <p:txBody>
          <a:bodyPr wrap="square" lIns="0" tIns="0" rIns="0" bIns="0" rtlCol="0" anchor="t"/>
          <a:lstStyle/>
          <a:p>
            <a:pPr indent="0" marL="0">
              <a:buNone/>
            </a:pPr>
            <a:r>
              <a:rPr lang="en-US" sz="1500" b="1" dirty="0">
                <a:solidFill>
                  <a:schemeClr val="tx1"/>
                </a:solidFill>
              </a:rPr>
              <a:t>Conectores en Python</a:t>
            </a:r>
            <a:endParaRPr lang="en-US" sz="1500" dirty="0"/>
          </a:p>
        </p:txBody>
      </p:sp>
      <p:sp>
        <p:nvSpPr>
          <p:cNvPr id="21" name="Text 17"/>
          <p:cNvSpPr txBox="1"/>
          <p:nvPr/>
        </p:nvSpPr>
        <p:spPr>
          <a:xfrm>
            <a:off x="3639312" y="4306824"/>
            <a:ext cx="2194560" cy="548640"/>
          </a:xfrm>
          <a:prstGeom prst="rect">
            <a:avLst/>
          </a:prstGeom>
          <a:noFill/>
          <a:ln/>
        </p:spPr>
        <p:txBody>
          <a:bodyPr wrap="square" lIns="0" tIns="0" rIns="0" bIns="0" rtlCol="0" anchor="t"/>
          <a:lstStyle/>
          <a:p>
            <a:pPr indent="0" marL="0">
              <a:buNone/>
            </a:pPr>
            <a:r>
              <a:rPr lang="en-US" sz="1200" dirty="0">
                <a:solidFill>
                  <a:schemeClr val="accent4"/>
                </a:solidFill>
              </a:rPr>
              <a:t>Contrato común por ERP</a:t>
            </a:r>
            <a:endParaRPr lang="en-US" sz="1200" dirty="0"/>
          </a:p>
        </p:txBody>
      </p:sp>
      <p:sp>
        <p:nvSpPr>
          <p:cNvPr id="22" name="Text 18"/>
          <p:cNvSpPr txBox="1"/>
          <p:nvPr/>
        </p:nvSpPr>
        <p:spPr>
          <a:xfrm>
            <a:off x="3639312" y="5038344"/>
            <a:ext cx="2194560" cy="320040"/>
          </a:xfrm>
          <a:prstGeom prst="rect">
            <a:avLst/>
          </a:prstGeom>
          <a:noFill/>
          <a:ln/>
        </p:spPr>
        <p:txBody>
          <a:bodyPr wrap="square" lIns="0" tIns="0" rIns="0" bIns="0" rtlCol="0" anchor="t"/>
          <a:lstStyle/>
          <a:p>
            <a:pPr indent="0" marL="0">
              <a:buNone/>
            </a:pPr>
            <a:r>
              <a:rPr lang="en-US" sz="1500" b="1" dirty="0">
                <a:solidFill>
                  <a:schemeClr val="tx1"/>
                </a:solidFill>
              </a:rPr>
              <a:t>pytest</a:t>
            </a:r>
            <a:endParaRPr lang="en-US" sz="1500" dirty="0"/>
          </a:p>
        </p:txBody>
      </p:sp>
      <p:sp>
        <p:nvSpPr>
          <p:cNvPr id="23" name="Text 19"/>
          <p:cNvSpPr txBox="1"/>
          <p:nvPr/>
        </p:nvSpPr>
        <p:spPr>
          <a:xfrm>
            <a:off x="3639312" y="5385816"/>
            <a:ext cx="2194560" cy="548640"/>
          </a:xfrm>
          <a:prstGeom prst="rect">
            <a:avLst/>
          </a:prstGeom>
          <a:noFill/>
          <a:ln/>
        </p:spPr>
        <p:txBody>
          <a:bodyPr wrap="square" lIns="0" tIns="0" rIns="0" bIns="0" rtlCol="0" anchor="t"/>
          <a:lstStyle/>
          <a:p>
            <a:pPr indent="0" marL="0">
              <a:buNone/>
            </a:pPr>
            <a:r>
              <a:rPr lang="en-US" sz="1200" dirty="0">
                <a:solidFill>
                  <a:schemeClr val="accent4"/>
                </a:solidFill>
              </a:rPr>
              <a:t>Pruebas unitarias y de integración</a:t>
            </a:r>
            <a:endParaRPr lang="en-US" sz="1200" dirty="0"/>
          </a:p>
        </p:txBody>
      </p:sp>
      <p:sp>
        <p:nvSpPr>
          <p:cNvPr id="24" name="Shape 20"/>
          <p:cNvSpPr/>
          <p:nvPr/>
        </p:nvSpPr>
        <p:spPr>
          <a:xfrm>
            <a:off x="6181344" y="1783080"/>
            <a:ext cx="2606040" cy="443484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25" name="Shape 21"/>
          <p:cNvSpPr/>
          <p:nvPr/>
        </p:nvSpPr>
        <p:spPr>
          <a:xfrm>
            <a:off x="6455664" y="2011680"/>
            <a:ext cx="566928" cy="566928"/>
          </a:xfrm>
          <a:prstGeom prst="ellipse">
            <a:avLst/>
          </a:prstGeom>
          <a:solidFill>
            <a:srgbClr val="E69B00"/>
          </a:solidFill>
          <a:ln/>
        </p:spPr>
      </p:sp>
      <p:pic>
        <p:nvPicPr>
          <p:cNvPr id="26" name="Image 2" descr="preencoded.png">    </p:cNvPr>
          <p:cNvPicPr>
            <a:picLocks noChangeAspect="1"/>
          </p:cNvPicPr>
          <p:nvPr/>
        </p:nvPicPr>
        <p:blipFill>
          <a:blip r:embed="rId3"/>
          <a:stretch>
            <a:fillRect/>
          </a:stretch>
        </p:blipFill>
        <p:spPr>
          <a:xfrm>
            <a:off x="6597396" y="2153412"/>
            <a:ext cx="283464" cy="283464"/>
          </a:xfrm>
          <a:prstGeom prst="rect">
            <a:avLst/>
          </a:prstGeom>
        </p:spPr>
      </p:pic>
      <p:sp>
        <p:nvSpPr>
          <p:cNvPr id="27" name="Text 22"/>
          <p:cNvSpPr txBox="1"/>
          <p:nvPr/>
        </p:nvSpPr>
        <p:spPr>
          <a:xfrm>
            <a:off x="7141464" y="2011680"/>
            <a:ext cx="1554480" cy="566928"/>
          </a:xfrm>
          <a:prstGeom prst="rect">
            <a:avLst/>
          </a:prstGeom>
          <a:noFill/>
          <a:ln/>
        </p:spPr>
        <p:txBody>
          <a:bodyPr wrap="square" lIns="0" tIns="0" rIns="0" bIns="0" rtlCol="0" anchor="ctr"/>
          <a:lstStyle/>
          <a:p>
            <a:pPr indent="0" marL="0">
              <a:buNone/>
            </a:pPr>
            <a:r>
              <a:rPr lang="en-US" sz="1300" b="1" spc="200" kern="0" dirty="0">
                <a:solidFill>
                  <a:schemeClr val="accent6"/>
                </a:solidFill>
              </a:rPr>
              <a:t>DATOS</a:t>
            </a:r>
            <a:endParaRPr lang="en-US" sz="1300" dirty="0"/>
          </a:p>
        </p:txBody>
      </p:sp>
      <p:sp>
        <p:nvSpPr>
          <p:cNvPr id="28" name="Text 23"/>
          <p:cNvSpPr txBox="1"/>
          <p:nvPr/>
        </p:nvSpPr>
        <p:spPr>
          <a:xfrm>
            <a:off x="6455664" y="2880360"/>
            <a:ext cx="2194560" cy="320040"/>
          </a:xfrm>
          <a:prstGeom prst="rect">
            <a:avLst/>
          </a:prstGeom>
          <a:noFill/>
          <a:ln/>
        </p:spPr>
        <p:txBody>
          <a:bodyPr wrap="square" lIns="0" tIns="0" rIns="0" bIns="0" rtlCol="0" anchor="t"/>
          <a:lstStyle/>
          <a:p>
            <a:pPr indent="0" marL="0">
              <a:buNone/>
            </a:pPr>
            <a:r>
              <a:rPr lang="en-US" sz="1500" b="1" dirty="0">
                <a:solidFill>
                  <a:schemeClr val="tx1"/>
                </a:solidFill>
              </a:rPr>
              <a:t>PostgreSQL 15</a:t>
            </a:r>
            <a:endParaRPr lang="en-US" sz="1500" dirty="0"/>
          </a:p>
        </p:txBody>
      </p:sp>
      <p:sp>
        <p:nvSpPr>
          <p:cNvPr id="29" name="Text 24"/>
          <p:cNvSpPr txBox="1"/>
          <p:nvPr/>
        </p:nvSpPr>
        <p:spPr>
          <a:xfrm>
            <a:off x="6455664" y="3227832"/>
            <a:ext cx="2194560" cy="548640"/>
          </a:xfrm>
          <a:prstGeom prst="rect">
            <a:avLst/>
          </a:prstGeom>
          <a:noFill/>
          <a:ln/>
        </p:spPr>
        <p:txBody>
          <a:bodyPr wrap="square" lIns="0" tIns="0" rIns="0" bIns="0" rtlCol="0" anchor="t"/>
          <a:lstStyle/>
          <a:p>
            <a:pPr indent="0" marL="0">
              <a:buNone/>
            </a:pPr>
            <a:r>
              <a:rPr lang="en-US" sz="1200" dirty="0">
                <a:solidFill>
                  <a:schemeClr val="accent4"/>
                </a:solidFill>
              </a:rPr>
              <a:t>Modelo relacional multi-empresa</a:t>
            </a:r>
            <a:endParaRPr lang="en-US" sz="1200" dirty="0"/>
          </a:p>
        </p:txBody>
      </p:sp>
      <p:sp>
        <p:nvSpPr>
          <p:cNvPr id="30" name="Text 25"/>
          <p:cNvSpPr txBox="1"/>
          <p:nvPr/>
        </p:nvSpPr>
        <p:spPr>
          <a:xfrm>
            <a:off x="6455664" y="3959352"/>
            <a:ext cx="2194560" cy="320040"/>
          </a:xfrm>
          <a:prstGeom prst="rect">
            <a:avLst/>
          </a:prstGeom>
          <a:noFill/>
          <a:ln/>
        </p:spPr>
        <p:txBody>
          <a:bodyPr wrap="square" lIns="0" tIns="0" rIns="0" bIns="0" rtlCol="0" anchor="t"/>
          <a:lstStyle/>
          <a:p>
            <a:pPr indent="0" marL="0">
              <a:buNone/>
            </a:pPr>
            <a:r>
              <a:rPr lang="en-US" sz="1500" b="1" dirty="0">
                <a:solidFill>
                  <a:schemeClr val="tx1"/>
                </a:solidFill>
              </a:rPr>
              <a:t>JSONB</a:t>
            </a:r>
            <a:endParaRPr lang="en-US" sz="1500" dirty="0"/>
          </a:p>
        </p:txBody>
      </p:sp>
      <p:sp>
        <p:nvSpPr>
          <p:cNvPr id="31" name="Text 26"/>
          <p:cNvSpPr txBox="1"/>
          <p:nvPr/>
        </p:nvSpPr>
        <p:spPr>
          <a:xfrm>
            <a:off x="6455664" y="4306824"/>
            <a:ext cx="2194560" cy="548640"/>
          </a:xfrm>
          <a:prstGeom prst="rect">
            <a:avLst/>
          </a:prstGeom>
          <a:noFill/>
          <a:ln/>
        </p:spPr>
        <p:txBody>
          <a:bodyPr wrap="square" lIns="0" tIns="0" rIns="0" bIns="0" rtlCol="0" anchor="t"/>
          <a:lstStyle/>
          <a:p>
            <a:pPr indent="0" marL="0">
              <a:buNone/>
            </a:pPr>
            <a:r>
              <a:rPr lang="en-US" sz="1200" dirty="0">
                <a:solidFill>
                  <a:schemeClr val="accent4"/>
                </a:solidFill>
              </a:rPr>
              <a:t>Registro crudo de cada payload</a:t>
            </a:r>
            <a:endParaRPr lang="en-US" sz="1200" dirty="0"/>
          </a:p>
        </p:txBody>
      </p:sp>
      <p:sp>
        <p:nvSpPr>
          <p:cNvPr id="32" name="Text 27"/>
          <p:cNvSpPr txBox="1"/>
          <p:nvPr/>
        </p:nvSpPr>
        <p:spPr>
          <a:xfrm>
            <a:off x="6455664" y="5038344"/>
            <a:ext cx="2194560" cy="320040"/>
          </a:xfrm>
          <a:prstGeom prst="rect">
            <a:avLst/>
          </a:prstGeom>
          <a:noFill/>
          <a:ln/>
        </p:spPr>
        <p:txBody>
          <a:bodyPr wrap="square" lIns="0" tIns="0" rIns="0" bIns="0" rtlCol="0" anchor="t"/>
          <a:lstStyle/>
          <a:p>
            <a:pPr indent="0" marL="0">
              <a:buNone/>
            </a:pPr>
            <a:r>
              <a:rPr lang="en-US" sz="1500" b="1" dirty="0">
                <a:solidFill>
                  <a:schemeClr val="tx1"/>
                </a:solidFill>
              </a:rPr>
              <a:t>Migraciones SQL</a:t>
            </a:r>
            <a:endParaRPr lang="en-US" sz="1500" dirty="0"/>
          </a:p>
        </p:txBody>
      </p:sp>
      <p:sp>
        <p:nvSpPr>
          <p:cNvPr id="33" name="Text 28"/>
          <p:cNvSpPr txBox="1"/>
          <p:nvPr/>
        </p:nvSpPr>
        <p:spPr>
          <a:xfrm>
            <a:off x="6455664" y="5385816"/>
            <a:ext cx="2194560" cy="548640"/>
          </a:xfrm>
          <a:prstGeom prst="rect">
            <a:avLst/>
          </a:prstGeom>
          <a:noFill/>
          <a:ln/>
        </p:spPr>
        <p:txBody>
          <a:bodyPr wrap="square" lIns="0" tIns="0" rIns="0" bIns="0" rtlCol="0" anchor="t"/>
          <a:lstStyle/>
          <a:p>
            <a:pPr indent="0" marL="0">
              <a:buNone/>
            </a:pPr>
            <a:r>
              <a:rPr lang="en-US" sz="1200" dirty="0">
                <a:solidFill>
                  <a:schemeClr val="accent4"/>
                </a:solidFill>
              </a:rPr>
              <a:t>Aditivas e idempotentes</a:t>
            </a:r>
            <a:endParaRPr lang="en-US" sz="1200" dirty="0"/>
          </a:p>
        </p:txBody>
      </p:sp>
      <p:sp>
        <p:nvSpPr>
          <p:cNvPr id="34" name="Shape 29"/>
          <p:cNvSpPr/>
          <p:nvPr/>
        </p:nvSpPr>
        <p:spPr>
          <a:xfrm>
            <a:off x="8997696" y="1783080"/>
            <a:ext cx="2606040" cy="443484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35" name="Shape 30"/>
          <p:cNvSpPr/>
          <p:nvPr/>
        </p:nvSpPr>
        <p:spPr>
          <a:xfrm>
            <a:off x="9272016" y="2011680"/>
            <a:ext cx="566928" cy="566928"/>
          </a:xfrm>
          <a:prstGeom prst="ellipse">
            <a:avLst/>
          </a:prstGeom>
          <a:solidFill>
            <a:srgbClr val="E69B00"/>
          </a:solidFill>
          <a:ln/>
        </p:spPr>
      </p:sp>
      <p:pic>
        <p:nvPicPr>
          <p:cNvPr id="36" name="Image 3" descr="preencoded.png">    </p:cNvPr>
          <p:cNvPicPr>
            <a:picLocks noChangeAspect="1"/>
          </p:cNvPicPr>
          <p:nvPr/>
        </p:nvPicPr>
        <p:blipFill>
          <a:blip r:embed="rId4"/>
          <a:stretch>
            <a:fillRect/>
          </a:stretch>
        </p:blipFill>
        <p:spPr>
          <a:xfrm>
            <a:off x="9413748" y="2153412"/>
            <a:ext cx="283464" cy="283464"/>
          </a:xfrm>
          <a:prstGeom prst="rect">
            <a:avLst/>
          </a:prstGeom>
        </p:spPr>
      </p:pic>
      <p:sp>
        <p:nvSpPr>
          <p:cNvPr id="37" name="Text 31"/>
          <p:cNvSpPr txBox="1"/>
          <p:nvPr/>
        </p:nvSpPr>
        <p:spPr>
          <a:xfrm>
            <a:off x="9957816" y="2011680"/>
            <a:ext cx="1554480" cy="566928"/>
          </a:xfrm>
          <a:prstGeom prst="rect">
            <a:avLst/>
          </a:prstGeom>
          <a:noFill/>
          <a:ln/>
        </p:spPr>
        <p:txBody>
          <a:bodyPr wrap="square" lIns="0" tIns="0" rIns="0" bIns="0" rtlCol="0" anchor="ctr"/>
          <a:lstStyle/>
          <a:p>
            <a:pPr indent="0" marL="0">
              <a:buNone/>
            </a:pPr>
            <a:r>
              <a:rPr lang="en-US" sz="1300" b="1" spc="200" kern="0" dirty="0">
                <a:solidFill>
                  <a:schemeClr val="accent6"/>
                </a:solidFill>
              </a:rPr>
              <a:t>PLATAFORMA</a:t>
            </a:r>
            <a:endParaRPr lang="en-US" sz="1300" dirty="0"/>
          </a:p>
        </p:txBody>
      </p:sp>
      <p:sp>
        <p:nvSpPr>
          <p:cNvPr id="38" name="Text 32"/>
          <p:cNvSpPr txBox="1"/>
          <p:nvPr/>
        </p:nvSpPr>
        <p:spPr>
          <a:xfrm>
            <a:off x="9272016" y="2880360"/>
            <a:ext cx="2194560" cy="320040"/>
          </a:xfrm>
          <a:prstGeom prst="rect">
            <a:avLst/>
          </a:prstGeom>
          <a:noFill/>
          <a:ln/>
        </p:spPr>
        <p:txBody>
          <a:bodyPr wrap="square" lIns="0" tIns="0" rIns="0" bIns="0" rtlCol="0" anchor="t"/>
          <a:lstStyle/>
          <a:p>
            <a:pPr indent="0" marL="0">
              <a:buNone/>
            </a:pPr>
            <a:r>
              <a:rPr lang="en-US" sz="1500" b="1" dirty="0">
                <a:solidFill>
                  <a:schemeClr val="tx1"/>
                </a:solidFill>
              </a:rPr>
              <a:t>DeepSeek</a:t>
            </a:r>
            <a:endParaRPr lang="en-US" sz="1500" dirty="0"/>
          </a:p>
        </p:txBody>
      </p:sp>
      <p:sp>
        <p:nvSpPr>
          <p:cNvPr id="39" name="Text 33"/>
          <p:cNvSpPr txBox="1"/>
          <p:nvPr/>
        </p:nvSpPr>
        <p:spPr>
          <a:xfrm>
            <a:off x="9272016" y="3227832"/>
            <a:ext cx="2194560" cy="548640"/>
          </a:xfrm>
          <a:prstGeom prst="rect">
            <a:avLst/>
          </a:prstGeom>
          <a:noFill/>
          <a:ln/>
        </p:spPr>
        <p:txBody>
          <a:bodyPr wrap="square" lIns="0" tIns="0" rIns="0" bIns="0" rtlCol="0" anchor="t"/>
          <a:lstStyle/>
          <a:p>
            <a:pPr indent="0" marL="0">
              <a:buNone/>
            </a:pPr>
            <a:r>
              <a:rPr lang="en-US" sz="1200" dirty="0">
                <a:solidFill>
                  <a:schemeClr val="accent4"/>
                </a:solidFill>
              </a:rPr>
              <a:t>LLM de diagnóstico y consulta documental</a:t>
            </a:r>
            <a:endParaRPr lang="en-US" sz="1200" dirty="0"/>
          </a:p>
        </p:txBody>
      </p:sp>
      <p:sp>
        <p:nvSpPr>
          <p:cNvPr id="40" name="Text 34"/>
          <p:cNvSpPr txBox="1"/>
          <p:nvPr/>
        </p:nvSpPr>
        <p:spPr>
          <a:xfrm>
            <a:off x="9272016" y="3959352"/>
            <a:ext cx="2194560" cy="320040"/>
          </a:xfrm>
          <a:prstGeom prst="rect">
            <a:avLst/>
          </a:prstGeom>
          <a:noFill/>
          <a:ln/>
        </p:spPr>
        <p:txBody>
          <a:bodyPr wrap="square" lIns="0" tIns="0" rIns="0" bIns="0" rtlCol="0" anchor="t"/>
          <a:lstStyle/>
          <a:p>
            <a:pPr indent="0" marL="0">
              <a:buNone/>
            </a:pPr>
            <a:r>
              <a:rPr lang="en-US" sz="1500" b="1" dirty="0">
                <a:solidFill>
                  <a:schemeClr val="tx1"/>
                </a:solidFill>
              </a:rPr>
              <a:t>Git + Docker Compose</a:t>
            </a:r>
            <a:endParaRPr lang="en-US" sz="1500" dirty="0"/>
          </a:p>
        </p:txBody>
      </p:sp>
      <p:sp>
        <p:nvSpPr>
          <p:cNvPr id="41" name="Text 35"/>
          <p:cNvSpPr txBox="1"/>
          <p:nvPr/>
        </p:nvSpPr>
        <p:spPr>
          <a:xfrm>
            <a:off x="9272016" y="4306824"/>
            <a:ext cx="2194560" cy="548640"/>
          </a:xfrm>
          <a:prstGeom prst="rect">
            <a:avLst/>
          </a:prstGeom>
          <a:noFill/>
          <a:ln/>
        </p:spPr>
        <p:txBody>
          <a:bodyPr wrap="square" lIns="0" tIns="0" rIns="0" bIns="0" rtlCol="0" anchor="t"/>
          <a:lstStyle/>
          <a:p>
            <a:pPr indent="0" marL="0">
              <a:buNone/>
            </a:pPr>
            <a:r>
              <a:rPr lang="en-US" sz="1200" dirty="0">
                <a:solidFill>
                  <a:schemeClr val="accent4"/>
                </a:solidFill>
              </a:rPr>
              <a:t>Versionado y entorno local</a:t>
            </a:r>
            <a:endParaRPr lang="en-US" sz="1200" dirty="0"/>
          </a:p>
        </p:txBody>
      </p:sp>
      <p:sp>
        <p:nvSpPr>
          <p:cNvPr id="42" name="Text 36"/>
          <p:cNvSpPr txBox="1"/>
          <p:nvPr/>
        </p:nvSpPr>
        <p:spPr>
          <a:xfrm>
            <a:off x="9272016" y="5038344"/>
            <a:ext cx="2194560" cy="320040"/>
          </a:xfrm>
          <a:prstGeom prst="rect">
            <a:avLst/>
          </a:prstGeom>
          <a:noFill/>
          <a:ln/>
        </p:spPr>
        <p:txBody>
          <a:bodyPr wrap="square" lIns="0" tIns="0" rIns="0" bIns="0" rtlCol="0" anchor="t"/>
          <a:lstStyle/>
          <a:p>
            <a:pPr indent="0" marL="0">
              <a:buNone/>
            </a:pPr>
            <a:r>
              <a:rPr lang="en-US" sz="1500" b="1" dirty="0">
                <a:solidFill>
                  <a:schemeClr val="tx1"/>
                </a:solidFill>
              </a:rPr>
              <a:t>Render y Vercel</a:t>
            </a:r>
            <a:endParaRPr lang="en-US" sz="1500" dirty="0"/>
          </a:p>
        </p:txBody>
      </p:sp>
      <p:sp>
        <p:nvSpPr>
          <p:cNvPr id="43" name="Text 37"/>
          <p:cNvSpPr txBox="1"/>
          <p:nvPr/>
        </p:nvSpPr>
        <p:spPr>
          <a:xfrm>
            <a:off x="9272016" y="5385816"/>
            <a:ext cx="2194560" cy="548640"/>
          </a:xfrm>
          <a:prstGeom prst="rect">
            <a:avLst/>
          </a:prstGeom>
          <a:noFill/>
          <a:ln/>
        </p:spPr>
        <p:txBody>
          <a:bodyPr wrap="square" lIns="0" tIns="0" rIns="0" bIns="0" rtlCol="0" anchor="t"/>
          <a:lstStyle/>
          <a:p>
            <a:pPr indent="0" marL="0">
              <a:buNone/>
            </a:pPr>
            <a:r>
              <a:rPr lang="en-US" sz="1200" dirty="0">
                <a:solidFill>
                  <a:schemeClr val="accent4"/>
                </a:solidFill>
              </a:rPr>
              <a:t>Despliegue de backend y frontend</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Demostración del resultado del proyecto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Exposición del sistema: selector de conectores y migración sobre el esquema real</a:t>
            </a:r>
            <a:endParaRPr lang="en-US" sz="1500" dirty="0"/>
          </a:p>
        </p:txBody>
      </p:sp>
      <p:sp>
        <p:nvSpPr>
          <p:cNvPr id="4" name="Shape 2"/>
          <p:cNvSpPr/>
          <p:nvPr/>
        </p:nvSpPr>
        <p:spPr>
          <a:xfrm>
            <a:off x="548640" y="1783080"/>
            <a:ext cx="5760720" cy="4434840"/>
          </a:xfrm>
          <a:prstGeom prst="roundRect">
            <a:avLst>
              <a:gd name="adj" fmla="val 1649"/>
            </a:avLst>
          </a:prstGeom>
          <a:solidFill>
            <a:schemeClr val="accent4">
              <a:alpha val="10000"/>
            </a:schemeClr>
          </a:solidFill>
          <a:ln/>
        </p:spPr>
      </p:sp>
      <p:sp>
        <p:nvSpPr>
          <p:cNvPr id="5" name="Text 3"/>
          <p:cNvSpPr txBox="1"/>
          <p:nvPr/>
        </p:nvSpPr>
        <p:spPr>
          <a:xfrm>
            <a:off x="777240" y="1920240"/>
            <a:ext cx="4572000" cy="274320"/>
          </a:xfrm>
          <a:prstGeom prst="rect">
            <a:avLst/>
          </a:prstGeom>
          <a:noFill/>
          <a:ln/>
        </p:spPr>
        <p:txBody>
          <a:bodyPr wrap="square" lIns="0" tIns="0" rIns="0" bIns="0" rtlCol="0" anchor="t"/>
          <a:lstStyle/>
          <a:p>
            <a:pPr indent="0" marL="0">
              <a:buNone/>
            </a:pPr>
            <a:r>
              <a:rPr lang="en-US" sz="1200" b="1" dirty="0">
                <a:solidFill>
                  <a:schemeClr val="accent4"/>
                </a:solidFill>
              </a:rPr>
              <a:t>Selector de módulos de Barb</a:t>
            </a:r>
            <a:endParaRPr lang="en-US" sz="1200" dirty="0"/>
          </a:p>
        </p:txBody>
      </p:sp>
      <p:sp>
        <p:nvSpPr>
          <p:cNvPr id="6" name="Shape 4"/>
          <p:cNvSpPr/>
          <p:nvPr/>
        </p:nvSpPr>
        <p:spPr>
          <a:xfrm>
            <a:off x="1005840" y="2331720"/>
            <a:ext cx="4846320" cy="3200400"/>
          </a:xfrm>
          <a:prstGeom prst="roundRect">
            <a:avLst>
              <a:gd name="adj" fmla="val 2286"/>
            </a:avLst>
          </a:prstGeom>
          <a:solidFill>
            <a:schemeClr val="bg1"/>
          </a:solidFill>
          <a:ln/>
          <a:effectLst>
            <a:outerShdw sx="100000" sy="100000" kx="0" ky="0" algn="bl" rotWithShape="0" blurRad="76200" dist="25400" dir="5400000">
              <a:srgbClr val="1F2933">
                <a:alpha val="10000"/>
              </a:srgbClr>
            </a:outerShdw>
          </a:effectLst>
        </p:spPr>
      </p:sp>
      <p:sp>
        <p:nvSpPr>
          <p:cNvPr id="7" name="Text 5"/>
          <p:cNvSpPr txBox="1"/>
          <p:nvPr/>
        </p:nvSpPr>
        <p:spPr>
          <a:xfrm>
            <a:off x="1234440" y="2468880"/>
            <a:ext cx="3657600" cy="228600"/>
          </a:xfrm>
          <a:prstGeom prst="rect">
            <a:avLst/>
          </a:prstGeom>
          <a:noFill/>
          <a:ln/>
        </p:spPr>
        <p:txBody>
          <a:bodyPr wrap="square" lIns="0" tIns="0" rIns="0" bIns="0" rtlCol="0" anchor="t"/>
          <a:lstStyle/>
          <a:p>
            <a:pPr indent="0" marL="0">
              <a:buNone/>
            </a:pPr>
            <a:r>
              <a:rPr lang="en-US" sz="900" b="1" spc="200" kern="0" dirty="0">
                <a:solidFill>
                  <a:schemeClr val="accent4"/>
                </a:solidFill>
              </a:rPr>
              <a:t>ORIGEN DE LOS DATOS</a:t>
            </a:r>
            <a:endParaRPr lang="en-US" sz="900" dirty="0"/>
          </a:p>
        </p:txBody>
      </p:sp>
      <p:sp>
        <p:nvSpPr>
          <p:cNvPr id="8" name="Shape 6"/>
          <p:cNvSpPr/>
          <p:nvPr/>
        </p:nvSpPr>
        <p:spPr>
          <a:xfrm>
            <a:off x="1143000" y="2724912"/>
            <a:ext cx="4572000" cy="530352"/>
          </a:xfrm>
          <a:prstGeom prst="roundRect">
            <a:avLst>
              <a:gd name="adj" fmla="val 8621"/>
            </a:avLst>
          </a:prstGeom>
          <a:solidFill>
            <a:schemeClr val="accent3">
              <a:alpha val="10000"/>
            </a:schemeClr>
          </a:solidFill>
          <a:ln/>
        </p:spPr>
      </p:sp>
      <p:sp>
        <p:nvSpPr>
          <p:cNvPr id="9" name="Shape 7"/>
          <p:cNvSpPr/>
          <p:nvPr/>
        </p:nvSpPr>
        <p:spPr>
          <a:xfrm>
            <a:off x="1234440" y="2816352"/>
            <a:ext cx="502920" cy="347472"/>
          </a:xfrm>
          <a:prstGeom prst="roundRect">
            <a:avLst>
              <a:gd name="adj" fmla="val 13158"/>
            </a:avLst>
          </a:prstGeom>
          <a:solidFill>
            <a:schemeClr val="bg2"/>
          </a:solidFill>
          <a:ln w="9525">
            <a:solidFill>
              <a:srgbClr val="DDE3EA"/>
            </a:solidFill>
            <a:prstDash val="solid"/>
          </a:ln>
        </p:spPr>
      </p:sp>
      <p:sp>
        <p:nvSpPr>
          <p:cNvPr id="10" name="Text 8"/>
          <p:cNvSpPr txBox="1"/>
          <p:nvPr/>
        </p:nvSpPr>
        <p:spPr>
          <a:xfrm>
            <a:off x="1234440" y="2816352"/>
            <a:ext cx="502920" cy="347472"/>
          </a:xfrm>
          <a:prstGeom prst="rect">
            <a:avLst/>
          </a:prstGeom>
          <a:noFill/>
          <a:ln/>
        </p:spPr>
        <p:txBody>
          <a:bodyPr wrap="square" lIns="0" tIns="0" rIns="0" bIns="0" rtlCol="0" anchor="ctr"/>
          <a:lstStyle/>
          <a:p>
            <a:pPr algn="ctr" indent="0" marL="0">
              <a:buNone/>
            </a:pPr>
            <a:r>
              <a:rPr lang="en-US" sz="900" b="1" dirty="0">
                <a:solidFill>
                  <a:schemeClr val="accent4"/>
                </a:solidFill>
              </a:rPr>
              <a:t>∑</a:t>
            </a:r>
            <a:endParaRPr lang="en-US" sz="900" dirty="0"/>
          </a:p>
        </p:txBody>
      </p:sp>
      <p:sp>
        <p:nvSpPr>
          <p:cNvPr id="11" name="Text 9"/>
          <p:cNvSpPr txBox="1"/>
          <p:nvPr/>
        </p:nvSpPr>
        <p:spPr>
          <a:xfrm>
            <a:off x="1874520" y="2779776"/>
            <a:ext cx="3657600" cy="256032"/>
          </a:xfrm>
          <a:prstGeom prst="rect">
            <a:avLst/>
          </a:prstGeom>
          <a:noFill/>
          <a:ln/>
        </p:spPr>
        <p:txBody>
          <a:bodyPr wrap="square" lIns="0" tIns="0" rIns="0" bIns="0" rtlCol="0" anchor="t"/>
          <a:lstStyle/>
          <a:p>
            <a:pPr indent="0" marL="0">
              <a:buNone/>
            </a:pPr>
            <a:r>
              <a:rPr lang="en-US" sz="1200" b="1" dirty="0">
                <a:solidFill>
                  <a:schemeClr val="tx1"/>
                </a:solidFill>
              </a:rPr>
              <a:t>Todas las fuentes</a:t>
            </a:r>
            <a:endParaRPr lang="en-US" sz="1200" dirty="0"/>
          </a:p>
        </p:txBody>
      </p:sp>
      <p:sp>
        <p:nvSpPr>
          <p:cNvPr id="12" name="Text 10"/>
          <p:cNvSpPr txBox="1"/>
          <p:nvPr/>
        </p:nvSpPr>
        <p:spPr>
          <a:xfrm>
            <a:off x="1874520" y="3008376"/>
            <a:ext cx="3657600" cy="219456"/>
          </a:xfrm>
          <a:prstGeom prst="rect">
            <a:avLst/>
          </a:prstGeom>
          <a:noFill/>
          <a:ln/>
        </p:spPr>
        <p:txBody>
          <a:bodyPr wrap="square" lIns="0" tIns="0" rIns="0" bIns="0" rtlCol="0" anchor="t"/>
          <a:lstStyle/>
          <a:p>
            <a:pPr indent="0" marL="0">
              <a:buNone/>
            </a:pPr>
            <a:r>
              <a:rPr lang="en-US" sz="1000" dirty="0">
                <a:solidFill>
                  <a:schemeClr val="accent3"/>
                </a:solidFill>
              </a:rPr>
              <a:t>Barb y todos los conectores activos</a:t>
            </a:r>
            <a:endParaRPr lang="en-US" sz="1000" dirty="0"/>
          </a:p>
        </p:txBody>
      </p:sp>
      <p:sp>
        <p:nvSpPr>
          <p:cNvPr id="13" name="Shape 11"/>
          <p:cNvSpPr/>
          <p:nvPr/>
        </p:nvSpPr>
        <p:spPr>
          <a:xfrm>
            <a:off x="1234440" y="3383280"/>
            <a:ext cx="502920" cy="347472"/>
          </a:xfrm>
          <a:prstGeom prst="roundRect">
            <a:avLst>
              <a:gd name="adj" fmla="val 13158"/>
            </a:avLst>
          </a:prstGeom>
          <a:solidFill>
            <a:schemeClr val="bg2"/>
          </a:solidFill>
          <a:ln w="9525">
            <a:solidFill>
              <a:srgbClr val="DDE3EA"/>
            </a:solidFill>
            <a:prstDash val="solid"/>
          </a:ln>
        </p:spPr>
      </p:sp>
      <p:sp>
        <p:nvSpPr>
          <p:cNvPr id="14" name="Text 12"/>
          <p:cNvSpPr txBox="1"/>
          <p:nvPr/>
        </p:nvSpPr>
        <p:spPr>
          <a:xfrm>
            <a:off x="1234440" y="3383280"/>
            <a:ext cx="502920" cy="347472"/>
          </a:xfrm>
          <a:prstGeom prst="rect">
            <a:avLst/>
          </a:prstGeom>
          <a:noFill/>
          <a:ln/>
        </p:spPr>
        <p:txBody>
          <a:bodyPr wrap="square" lIns="0" tIns="0" rIns="0" bIns="0" rtlCol="0" anchor="ctr"/>
          <a:lstStyle/>
          <a:p>
            <a:pPr algn="ctr" indent="0" marL="0">
              <a:buNone/>
            </a:pPr>
            <a:r>
              <a:rPr lang="en-US" sz="900" b="1" dirty="0">
                <a:solidFill>
                  <a:schemeClr val="accent4"/>
                </a:solidFill>
              </a:rPr>
              <a:t>SAP</a:t>
            </a:r>
            <a:endParaRPr lang="en-US" sz="900" dirty="0"/>
          </a:p>
        </p:txBody>
      </p:sp>
      <p:sp>
        <p:nvSpPr>
          <p:cNvPr id="15" name="Text 13"/>
          <p:cNvSpPr txBox="1"/>
          <p:nvPr/>
        </p:nvSpPr>
        <p:spPr>
          <a:xfrm>
            <a:off x="1874520" y="3346704"/>
            <a:ext cx="3657600" cy="256032"/>
          </a:xfrm>
          <a:prstGeom prst="rect">
            <a:avLst/>
          </a:prstGeom>
          <a:noFill/>
          <a:ln/>
        </p:spPr>
        <p:txBody>
          <a:bodyPr wrap="square" lIns="0" tIns="0" rIns="0" bIns="0" rtlCol="0" anchor="t"/>
          <a:lstStyle/>
          <a:p>
            <a:pPr indent="0" marL="0">
              <a:buNone/>
            </a:pPr>
            <a:r>
              <a:rPr lang="en-US" sz="1200" b="1" dirty="0">
                <a:solidFill>
                  <a:schemeClr val="tx1"/>
                </a:solidFill>
              </a:rPr>
              <a:t>SAP PM Planta Central</a:t>
            </a:r>
            <a:endParaRPr lang="en-US" sz="1200" dirty="0"/>
          </a:p>
        </p:txBody>
      </p:sp>
      <p:sp>
        <p:nvSpPr>
          <p:cNvPr id="16" name="Text 14"/>
          <p:cNvSpPr txBox="1"/>
          <p:nvPr/>
        </p:nvSpPr>
        <p:spPr>
          <a:xfrm>
            <a:off x="1874520" y="3575304"/>
            <a:ext cx="3657600" cy="219456"/>
          </a:xfrm>
          <a:prstGeom prst="rect">
            <a:avLst/>
          </a:prstGeom>
          <a:noFill/>
          <a:ln/>
        </p:spPr>
        <p:txBody>
          <a:bodyPr wrap="square" lIns="0" tIns="0" rIns="0" bIns="0" rtlCol="0" anchor="t"/>
          <a:lstStyle/>
          <a:p>
            <a:pPr indent="0" marL="0">
              <a:buNone/>
            </a:pPr>
            <a:r>
              <a:rPr lang="en-US" sz="1000" dirty="0">
                <a:solidFill>
                  <a:schemeClr val="accent2"/>
                </a:solidFill>
              </a:rPr>
              <a:t>Sincronizado hace 25 minutos</a:t>
            </a:r>
            <a:endParaRPr lang="en-US" sz="1000" dirty="0"/>
          </a:p>
        </p:txBody>
      </p:sp>
      <p:sp>
        <p:nvSpPr>
          <p:cNvPr id="17" name="Shape 15"/>
          <p:cNvSpPr/>
          <p:nvPr/>
        </p:nvSpPr>
        <p:spPr>
          <a:xfrm>
            <a:off x="1234440" y="3950208"/>
            <a:ext cx="502920" cy="347472"/>
          </a:xfrm>
          <a:prstGeom prst="roundRect">
            <a:avLst>
              <a:gd name="adj" fmla="val 13158"/>
            </a:avLst>
          </a:prstGeom>
          <a:solidFill>
            <a:schemeClr val="bg2"/>
          </a:solidFill>
          <a:ln w="9525">
            <a:solidFill>
              <a:srgbClr val="DDE3EA"/>
            </a:solidFill>
            <a:prstDash val="solid"/>
          </a:ln>
        </p:spPr>
      </p:sp>
      <p:sp>
        <p:nvSpPr>
          <p:cNvPr id="18" name="Text 16"/>
          <p:cNvSpPr txBox="1"/>
          <p:nvPr/>
        </p:nvSpPr>
        <p:spPr>
          <a:xfrm>
            <a:off x="1234440" y="3950208"/>
            <a:ext cx="502920" cy="347472"/>
          </a:xfrm>
          <a:prstGeom prst="rect">
            <a:avLst/>
          </a:prstGeom>
          <a:noFill/>
          <a:ln/>
        </p:spPr>
        <p:txBody>
          <a:bodyPr wrap="square" lIns="0" tIns="0" rIns="0" bIns="0" rtlCol="0" anchor="ctr"/>
          <a:lstStyle/>
          <a:p>
            <a:pPr algn="ctr" indent="0" marL="0">
              <a:buNone/>
            </a:pPr>
            <a:r>
              <a:rPr lang="en-US" sz="900" b="1" dirty="0">
                <a:solidFill>
                  <a:schemeClr val="accent4"/>
                </a:solidFill>
              </a:rPr>
              <a:t>ORA</a:t>
            </a:r>
            <a:endParaRPr lang="en-US" sz="900" dirty="0"/>
          </a:p>
        </p:txBody>
      </p:sp>
      <p:sp>
        <p:nvSpPr>
          <p:cNvPr id="19" name="Text 17"/>
          <p:cNvSpPr txBox="1"/>
          <p:nvPr/>
        </p:nvSpPr>
        <p:spPr>
          <a:xfrm>
            <a:off x="1874520" y="3913632"/>
            <a:ext cx="3657600" cy="256032"/>
          </a:xfrm>
          <a:prstGeom prst="rect">
            <a:avLst/>
          </a:prstGeom>
          <a:noFill/>
          <a:ln/>
        </p:spPr>
        <p:txBody>
          <a:bodyPr wrap="square" lIns="0" tIns="0" rIns="0" bIns="0" rtlCol="0" anchor="t"/>
          <a:lstStyle/>
          <a:p>
            <a:pPr indent="0" marL="0">
              <a:buNone/>
            </a:pPr>
            <a:r>
              <a:rPr lang="en-US" sz="1200" b="1" dirty="0">
                <a:solidFill>
                  <a:schemeClr val="tx1"/>
                </a:solidFill>
              </a:rPr>
              <a:t>Oracle EAM Antofagasta</a:t>
            </a:r>
            <a:endParaRPr lang="en-US" sz="1200" dirty="0"/>
          </a:p>
        </p:txBody>
      </p:sp>
      <p:sp>
        <p:nvSpPr>
          <p:cNvPr id="20" name="Text 18"/>
          <p:cNvSpPr txBox="1"/>
          <p:nvPr/>
        </p:nvSpPr>
        <p:spPr>
          <a:xfrm>
            <a:off x="1874520" y="4142232"/>
            <a:ext cx="3657600" cy="219456"/>
          </a:xfrm>
          <a:prstGeom prst="rect">
            <a:avLst/>
          </a:prstGeom>
          <a:noFill/>
          <a:ln/>
        </p:spPr>
        <p:txBody>
          <a:bodyPr wrap="square" lIns="0" tIns="0" rIns="0" bIns="0" rtlCol="0" anchor="t"/>
          <a:lstStyle/>
          <a:p>
            <a:pPr indent="0" marL="0">
              <a:buNone/>
            </a:pPr>
            <a:r>
              <a:rPr lang="en-US" sz="1000" dirty="0">
                <a:solidFill>
                  <a:schemeClr val="accent5"/>
                </a:solidFill>
              </a:rPr>
              <a:t>Credenciales rechazadas (401)</a:t>
            </a:r>
            <a:endParaRPr lang="en-US" sz="1000" dirty="0"/>
          </a:p>
        </p:txBody>
      </p:sp>
      <p:sp>
        <p:nvSpPr>
          <p:cNvPr id="21" name="Shape 19"/>
          <p:cNvSpPr/>
          <p:nvPr/>
        </p:nvSpPr>
        <p:spPr>
          <a:xfrm>
            <a:off x="1234440" y="4517136"/>
            <a:ext cx="502920" cy="347472"/>
          </a:xfrm>
          <a:prstGeom prst="roundRect">
            <a:avLst>
              <a:gd name="adj" fmla="val 13158"/>
            </a:avLst>
          </a:prstGeom>
          <a:solidFill>
            <a:schemeClr val="bg2"/>
          </a:solidFill>
          <a:ln w="9525">
            <a:solidFill>
              <a:srgbClr val="DDE3EA"/>
            </a:solidFill>
            <a:prstDash val="solid"/>
          </a:ln>
        </p:spPr>
      </p:sp>
      <p:sp>
        <p:nvSpPr>
          <p:cNvPr id="22" name="Text 20"/>
          <p:cNvSpPr txBox="1"/>
          <p:nvPr/>
        </p:nvSpPr>
        <p:spPr>
          <a:xfrm>
            <a:off x="1234440" y="4517136"/>
            <a:ext cx="502920" cy="347472"/>
          </a:xfrm>
          <a:prstGeom prst="rect">
            <a:avLst/>
          </a:prstGeom>
          <a:noFill/>
          <a:ln/>
        </p:spPr>
        <p:txBody>
          <a:bodyPr wrap="square" lIns="0" tIns="0" rIns="0" bIns="0" rtlCol="0" anchor="ctr"/>
          <a:lstStyle/>
          <a:p>
            <a:pPr algn="ctr" indent="0" marL="0">
              <a:buNone/>
            </a:pPr>
            <a:r>
              <a:rPr lang="en-US" sz="900" b="1" dirty="0">
                <a:solidFill>
                  <a:schemeClr val="accent4"/>
                </a:solidFill>
              </a:rPr>
              <a:t>CSV</a:t>
            </a:r>
            <a:endParaRPr lang="en-US" sz="900" dirty="0"/>
          </a:p>
        </p:txBody>
      </p:sp>
      <p:sp>
        <p:nvSpPr>
          <p:cNvPr id="23" name="Text 21"/>
          <p:cNvSpPr txBox="1"/>
          <p:nvPr/>
        </p:nvSpPr>
        <p:spPr>
          <a:xfrm>
            <a:off x="1874520" y="4480560"/>
            <a:ext cx="3657600" cy="256032"/>
          </a:xfrm>
          <a:prstGeom prst="rect">
            <a:avLst/>
          </a:prstGeom>
          <a:noFill/>
          <a:ln/>
        </p:spPr>
        <p:txBody>
          <a:bodyPr wrap="square" lIns="0" tIns="0" rIns="0" bIns="0" rtlCol="0" anchor="t"/>
          <a:lstStyle/>
          <a:p>
            <a:pPr indent="0" marL="0">
              <a:buNone/>
            </a:pPr>
            <a:r>
              <a:rPr lang="en-US" sz="1200" b="1" dirty="0">
                <a:solidFill>
                  <a:schemeClr val="tx1"/>
                </a:solidFill>
              </a:rPr>
              <a:t>Histórico CSV 2020-2025</a:t>
            </a:r>
            <a:endParaRPr lang="en-US" sz="1200" dirty="0"/>
          </a:p>
        </p:txBody>
      </p:sp>
      <p:sp>
        <p:nvSpPr>
          <p:cNvPr id="24" name="Text 22"/>
          <p:cNvSpPr txBox="1"/>
          <p:nvPr/>
        </p:nvSpPr>
        <p:spPr>
          <a:xfrm>
            <a:off x="1874520" y="4709160"/>
            <a:ext cx="3657600" cy="219456"/>
          </a:xfrm>
          <a:prstGeom prst="rect">
            <a:avLst/>
          </a:prstGeom>
          <a:noFill/>
          <a:ln/>
        </p:spPr>
        <p:txBody>
          <a:bodyPr wrap="square" lIns="0" tIns="0" rIns="0" bIns="0" rtlCol="0" anchor="t"/>
          <a:lstStyle/>
          <a:p>
            <a:pPr indent="0" marL="0">
              <a:buNone/>
            </a:pPr>
            <a:r>
              <a:rPr lang="en-US" sz="1000" dirty="0">
                <a:solidFill>
                  <a:schemeClr val="accent4"/>
                </a:solidFill>
              </a:rPr>
              <a:t>Pausado</a:t>
            </a:r>
            <a:endParaRPr lang="en-US" sz="1000" dirty="0"/>
          </a:p>
        </p:txBody>
      </p:sp>
      <p:sp>
        <p:nvSpPr>
          <p:cNvPr id="25" name="Text 23"/>
          <p:cNvSpPr txBox="1"/>
          <p:nvPr/>
        </p:nvSpPr>
        <p:spPr>
          <a:xfrm>
            <a:off x="1234440" y="5138928"/>
            <a:ext cx="2743200" cy="274320"/>
          </a:xfrm>
          <a:prstGeom prst="rect">
            <a:avLst/>
          </a:prstGeom>
          <a:noFill/>
          <a:ln/>
        </p:spPr>
        <p:txBody>
          <a:bodyPr wrap="square" lIns="0" tIns="0" rIns="0" bIns="0" rtlCol="0" anchor="t"/>
          <a:lstStyle/>
          <a:p>
            <a:pPr indent="0" marL="0">
              <a:buNone/>
            </a:pPr>
            <a:r>
              <a:rPr lang="en-US" sz="1200" b="1" dirty="0">
                <a:solidFill>
                  <a:schemeClr val="accent3"/>
                </a:solidFill>
              </a:rPr>
              <a:t>Gestionar conectores</a:t>
            </a:r>
            <a:endParaRPr lang="en-US" sz="1200" dirty="0"/>
          </a:p>
        </p:txBody>
      </p:sp>
      <p:sp>
        <p:nvSpPr>
          <p:cNvPr id="26" name="Shape 24"/>
          <p:cNvSpPr/>
          <p:nvPr/>
        </p:nvSpPr>
        <p:spPr>
          <a:xfrm>
            <a:off x="4023360" y="5669280"/>
            <a:ext cx="1828800" cy="384048"/>
          </a:xfrm>
          <a:prstGeom prst="roundRect">
            <a:avLst>
              <a:gd name="adj" fmla="val 23810"/>
            </a:avLst>
          </a:prstGeom>
          <a:solidFill>
            <a:schemeClr val="tx2"/>
          </a:solidFill>
          <a:ln/>
        </p:spPr>
      </p:sp>
      <p:sp>
        <p:nvSpPr>
          <p:cNvPr id="27" name="Text 25"/>
          <p:cNvSpPr txBox="1"/>
          <p:nvPr/>
        </p:nvSpPr>
        <p:spPr>
          <a:xfrm>
            <a:off x="4023360" y="5669280"/>
            <a:ext cx="1828800" cy="384048"/>
          </a:xfrm>
          <a:prstGeom prst="rect">
            <a:avLst/>
          </a:prstGeom>
          <a:noFill/>
          <a:ln/>
        </p:spPr>
        <p:txBody>
          <a:bodyPr wrap="square" lIns="0" tIns="0" rIns="0" bIns="0" rtlCol="0" anchor="ctr"/>
          <a:lstStyle/>
          <a:p>
            <a:pPr algn="ctr" indent="0" marL="0">
              <a:buNone/>
            </a:pPr>
            <a:r>
              <a:rPr lang="en-US" sz="1100" b="1" dirty="0">
                <a:solidFill>
                  <a:schemeClr val="bg1"/>
                </a:solidFill>
              </a:rPr>
              <a:t>Todas las fuentes ▾</a:t>
            </a:r>
            <a:endParaRPr lang="en-US" sz="1100" dirty="0"/>
          </a:p>
        </p:txBody>
      </p:sp>
      <p:sp>
        <p:nvSpPr>
          <p:cNvPr id="28" name="Shape 26"/>
          <p:cNvSpPr/>
          <p:nvPr/>
        </p:nvSpPr>
        <p:spPr>
          <a:xfrm>
            <a:off x="6537960" y="1783080"/>
            <a:ext cx="5102352" cy="4434840"/>
          </a:xfrm>
          <a:prstGeom prst="roundRect">
            <a:avLst>
              <a:gd name="adj" fmla="val 1649"/>
            </a:avLst>
          </a:prstGeom>
          <a:solidFill>
            <a:schemeClr val="bg1"/>
          </a:solidFill>
          <a:ln/>
          <a:effectLst>
            <a:outerShdw sx="100000" sy="100000" kx="0" ky="0" algn="bl" rotWithShape="0" blurRad="76200" dist="25400" dir="5400000">
              <a:srgbClr val="1F2933">
                <a:alpha val="10000"/>
              </a:srgbClr>
            </a:outerShdw>
          </a:effectLst>
        </p:spPr>
      </p:sp>
      <p:sp>
        <p:nvSpPr>
          <p:cNvPr id="29" name="Text 27"/>
          <p:cNvSpPr txBox="1"/>
          <p:nvPr/>
        </p:nvSpPr>
        <p:spPr>
          <a:xfrm>
            <a:off x="6812280" y="19659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Qué se demuestra</a:t>
            </a:r>
            <a:endParaRPr lang="en-US" sz="1800" dirty="0"/>
          </a:p>
        </p:txBody>
      </p:sp>
      <p:sp>
        <p:nvSpPr>
          <p:cNvPr id="30" name="Shape 28"/>
          <p:cNvSpPr/>
          <p:nvPr/>
        </p:nvSpPr>
        <p:spPr>
          <a:xfrm>
            <a:off x="6812280" y="2514600"/>
            <a:ext cx="384048" cy="384048"/>
          </a:xfrm>
          <a:prstGeom prst="ellipse">
            <a:avLst/>
          </a:prstGeom>
          <a:solidFill>
            <a:schemeClr val="accent1"/>
          </a:solidFill>
          <a:ln/>
        </p:spPr>
      </p:sp>
      <p:sp>
        <p:nvSpPr>
          <p:cNvPr id="31" name="Text 29"/>
          <p:cNvSpPr txBox="1"/>
          <p:nvPr/>
        </p:nvSpPr>
        <p:spPr>
          <a:xfrm>
            <a:off x="6812280" y="2514600"/>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32" name="Text 30"/>
          <p:cNvSpPr txBox="1"/>
          <p:nvPr/>
        </p:nvSpPr>
        <p:spPr>
          <a:xfrm>
            <a:off x="7360920" y="2478024"/>
            <a:ext cx="4069080" cy="731520"/>
          </a:xfrm>
          <a:prstGeom prst="rect">
            <a:avLst/>
          </a:prstGeom>
          <a:noFill/>
          <a:ln/>
        </p:spPr>
        <p:txBody>
          <a:bodyPr wrap="square" lIns="0" tIns="0" rIns="0" bIns="0" rtlCol="0" anchor="t"/>
          <a:lstStyle/>
          <a:p>
            <a:pPr indent="0" marL="0">
              <a:buNone/>
            </a:pPr>
            <a:r>
              <a:rPr lang="en-US" sz="1300" b="1" dirty="0">
                <a:solidFill>
                  <a:schemeClr val="tx1"/>
                </a:solidFill>
              </a:rPr>
              <a:t>Migración aditiva: </a:t>
            </a:r>
            <a:pPr indent="0" marL="0">
              <a:buNone/>
            </a:pPr>
            <a:r>
              <a:rPr lang="en-US" sz="1300" dirty="0">
                <a:solidFill>
                  <a:schemeClr val="tx1"/>
                </a:solidFill>
              </a:rPr>
              <a:t>se ejecuta dos veces sobre el esquema real sin errores ni duplicados.</a:t>
            </a:r>
            <a:endParaRPr lang="en-US" sz="1300" dirty="0"/>
          </a:p>
        </p:txBody>
      </p:sp>
      <p:sp>
        <p:nvSpPr>
          <p:cNvPr id="33" name="Shape 31"/>
          <p:cNvSpPr/>
          <p:nvPr/>
        </p:nvSpPr>
        <p:spPr>
          <a:xfrm>
            <a:off x="6812280" y="3319272"/>
            <a:ext cx="384048" cy="384048"/>
          </a:xfrm>
          <a:prstGeom prst="ellipse">
            <a:avLst/>
          </a:prstGeom>
          <a:solidFill>
            <a:schemeClr val="accent1"/>
          </a:solidFill>
          <a:ln/>
        </p:spPr>
      </p:sp>
      <p:sp>
        <p:nvSpPr>
          <p:cNvPr id="34" name="Text 32"/>
          <p:cNvSpPr txBox="1"/>
          <p:nvPr/>
        </p:nvSpPr>
        <p:spPr>
          <a:xfrm>
            <a:off x="6812280" y="3319272"/>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35" name="Text 33"/>
          <p:cNvSpPr txBox="1"/>
          <p:nvPr/>
        </p:nvSpPr>
        <p:spPr>
          <a:xfrm>
            <a:off x="7360920" y="3282696"/>
            <a:ext cx="4069080" cy="731520"/>
          </a:xfrm>
          <a:prstGeom prst="rect">
            <a:avLst/>
          </a:prstGeom>
          <a:noFill/>
          <a:ln/>
        </p:spPr>
        <p:txBody>
          <a:bodyPr wrap="square" lIns="0" tIns="0" rIns="0" bIns="0" rtlCol="0" anchor="t"/>
          <a:lstStyle/>
          <a:p>
            <a:pPr indent="0" marL="0">
              <a:buNone/>
            </a:pPr>
            <a:r>
              <a:rPr lang="en-US" sz="1300" b="1" dirty="0">
                <a:solidFill>
                  <a:schemeClr val="tx1"/>
                </a:solidFill>
              </a:rPr>
              <a:t>Selector por rol: </a:t>
            </a:r>
            <a:pPr indent="0" marL="0">
              <a:buNone/>
            </a:pPr>
            <a:r>
              <a:rPr lang="en-US" sz="1300" dirty="0">
                <a:solidFill>
                  <a:schemeClr val="tx1"/>
                </a:solidFill>
              </a:rPr>
              <a:t>cada usuario elige el origen de los datos; solo el administrador ve “Gestionar conectores”.</a:t>
            </a:r>
            <a:endParaRPr lang="en-US" sz="1300" dirty="0"/>
          </a:p>
        </p:txBody>
      </p:sp>
      <p:sp>
        <p:nvSpPr>
          <p:cNvPr id="36" name="Shape 34"/>
          <p:cNvSpPr/>
          <p:nvPr/>
        </p:nvSpPr>
        <p:spPr>
          <a:xfrm>
            <a:off x="6812280" y="4123944"/>
            <a:ext cx="384048" cy="384048"/>
          </a:xfrm>
          <a:prstGeom prst="ellipse">
            <a:avLst/>
          </a:prstGeom>
          <a:solidFill>
            <a:schemeClr val="accent1"/>
          </a:solidFill>
          <a:ln/>
        </p:spPr>
      </p:sp>
      <p:sp>
        <p:nvSpPr>
          <p:cNvPr id="37" name="Text 35"/>
          <p:cNvSpPr txBox="1"/>
          <p:nvPr/>
        </p:nvSpPr>
        <p:spPr>
          <a:xfrm>
            <a:off x="6812280" y="4123944"/>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38" name="Text 36"/>
          <p:cNvSpPr txBox="1"/>
          <p:nvPr/>
        </p:nvSpPr>
        <p:spPr>
          <a:xfrm>
            <a:off x="7360920" y="4087368"/>
            <a:ext cx="4069080" cy="731520"/>
          </a:xfrm>
          <a:prstGeom prst="rect">
            <a:avLst/>
          </a:prstGeom>
          <a:noFill/>
          <a:ln/>
        </p:spPr>
        <p:txBody>
          <a:bodyPr wrap="square" lIns="0" tIns="0" rIns="0" bIns="0" rtlCol="0" anchor="t"/>
          <a:lstStyle/>
          <a:p>
            <a:pPr indent="0" marL="0">
              <a:buNone/>
            </a:pPr>
            <a:r>
              <a:rPr lang="en-US" sz="1300" b="1" dirty="0">
                <a:solidFill>
                  <a:schemeClr val="tx1"/>
                </a:solidFill>
              </a:rPr>
              <a:t>Estados del conector: </a:t>
            </a:r>
            <a:pPr indent="0" marL="0">
              <a:buNone/>
            </a:pPr>
            <a:r>
              <a:rPr lang="en-US" sz="1300" dirty="0">
                <a:solidFill>
                  <a:schemeClr val="tx1"/>
                </a:solidFill>
              </a:rPr>
              <a:t>activo, con error y pausado, con su última sincronización.</a:t>
            </a:r>
            <a:endParaRPr lang="en-US" sz="1300" dirty="0"/>
          </a:p>
        </p:txBody>
      </p:sp>
      <p:sp>
        <p:nvSpPr>
          <p:cNvPr id="39" name="Shape 37"/>
          <p:cNvSpPr/>
          <p:nvPr/>
        </p:nvSpPr>
        <p:spPr>
          <a:xfrm>
            <a:off x="6812280" y="4928616"/>
            <a:ext cx="384048" cy="384048"/>
          </a:xfrm>
          <a:prstGeom prst="ellipse">
            <a:avLst/>
          </a:prstGeom>
          <a:solidFill>
            <a:schemeClr val="accent1"/>
          </a:solidFill>
          <a:ln/>
        </p:spPr>
      </p:sp>
      <p:sp>
        <p:nvSpPr>
          <p:cNvPr id="40" name="Text 38"/>
          <p:cNvSpPr txBox="1"/>
          <p:nvPr/>
        </p:nvSpPr>
        <p:spPr>
          <a:xfrm>
            <a:off x="6812280" y="4928616"/>
            <a:ext cx="384048" cy="384048"/>
          </a:xfrm>
          <a:prstGeom prst="rect">
            <a:avLst/>
          </a:prstGeom>
          <a:noFill/>
          <a:ln/>
        </p:spPr>
        <p:txBody>
          <a:bodyPr wrap="square" lIns="0" tIns="0" rIns="0" bIns="0" rtlCol="0" anchor="ctr"/>
          <a:lstStyle/>
          <a:p>
            <a:pPr algn="ctr" indent="0" marL="0">
              <a:buNone/>
            </a:pPr>
            <a:r>
              <a:rPr lang="en-US" sz="1300" b="1" dirty="0">
                <a:solidFill>
                  <a:schemeClr val="tx2"/>
                </a:solidFill>
              </a:rPr>
              <a:t>4</a:t>
            </a:r>
            <a:endParaRPr lang="en-US" sz="1300" dirty="0"/>
          </a:p>
        </p:txBody>
      </p:sp>
      <p:sp>
        <p:nvSpPr>
          <p:cNvPr id="41" name="Text 39"/>
          <p:cNvSpPr txBox="1"/>
          <p:nvPr/>
        </p:nvSpPr>
        <p:spPr>
          <a:xfrm>
            <a:off x="7360920" y="4892040"/>
            <a:ext cx="4069080" cy="731520"/>
          </a:xfrm>
          <a:prstGeom prst="rect">
            <a:avLst/>
          </a:prstGeom>
          <a:noFill/>
          <a:ln/>
        </p:spPr>
        <p:txBody>
          <a:bodyPr wrap="square" lIns="0" tIns="0" rIns="0" bIns="0" rtlCol="0" anchor="t"/>
          <a:lstStyle/>
          <a:p>
            <a:pPr indent="0" marL="0">
              <a:buNone/>
            </a:pPr>
            <a:r>
              <a:rPr lang="en-US" sz="1300" b="1" dirty="0">
                <a:solidFill>
                  <a:schemeClr val="tx1"/>
                </a:solidFill>
              </a:rPr>
              <a:t>Fallas consolidadas: </a:t>
            </a:r>
            <a:pPr indent="0" marL="0">
              <a:buNone/>
            </a:pPr>
            <a:r>
              <a:rPr lang="en-US" sz="1300" dirty="0">
                <a:solidFill>
                  <a:schemeClr val="tx1"/>
                </a:solidFill>
              </a:rPr>
              <a:t>consulta de EVENTO_FALLA con su origen y tiempo de detención.</a:t>
            </a:r>
            <a:endParaRPr lang="en-US" sz="1300" dirty="0"/>
          </a:p>
        </p:txBody>
      </p:sp>
      <p:sp>
        <p:nvSpPr>
          <p:cNvPr id="42" name="Text 40"/>
          <p:cNvSpPr txBox="1"/>
          <p:nvPr/>
        </p:nvSpPr>
        <p:spPr>
          <a:xfrm>
            <a:off x="6812280" y="5779008"/>
            <a:ext cx="4663440" cy="274320"/>
          </a:xfrm>
          <a:prstGeom prst="rect">
            <a:avLst/>
          </a:prstGeom>
          <a:noFill/>
          <a:ln/>
        </p:spPr>
        <p:txBody>
          <a:bodyPr wrap="square" lIns="0" tIns="0" rIns="0" bIns="0" rtlCol="0" anchor="t"/>
          <a:lstStyle/>
          <a:p>
            <a:pPr indent="0" marL="0">
              <a:buNone/>
            </a:pPr>
            <a:r>
              <a:rPr lang="en-US" sz="1200" dirty="0">
                <a:solidFill>
                  <a:schemeClr val="accent3"/>
                </a:solidFill>
              </a:rPr>
              <a:t>Enlace a la demo: [agregar URL del despliegue]</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Resultados obtenidos</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Lo construido y validado sobre el esquema real de Barb</a:t>
            </a:r>
            <a:endParaRPr lang="en-US" sz="1500" dirty="0"/>
          </a:p>
        </p:txBody>
      </p:sp>
      <p:sp>
        <p:nvSpPr>
          <p:cNvPr id="4" name="Shape 2"/>
          <p:cNvSpPr/>
          <p:nvPr/>
        </p:nvSpPr>
        <p:spPr>
          <a:xfrm>
            <a:off x="548640" y="1783080"/>
            <a:ext cx="2606040" cy="1463040"/>
          </a:xfrm>
          <a:prstGeom prst="roundRect">
            <a:avLst>
              <a:gd name="adj" fmla="val 5000"/>
            </a:avLst>
          </a:prstGeom>
          <a:solidFill>
            <a:schemeClr val="bg1"/>
          </a:solidFill>
          <a:ln/>
          <a:effectLst>
            <a:outerShdw sx="100000" sy="100000" kx="0" ky="0" algn="bl" rotWithShape="0" blurRad="76200" dist="25400" dir="5400000">
              <a:srgbClr val="1F2933">
                <a:alpha val="10000"/>
              </a:srgbClr>
            </a:outerShdw>
          </a:effectLst>
        </p:spPr>
      </p:sp>
      <p:sp>
        <p:nvSpPr>
          <p:cNvPr id="5" name="Text 3"/>
          <p:cNvSpPr txBox="1"/>
          <p:nvPr/>
        </p:nvSpPr>
        <p:spPr>
          <a:xfrm>
            <a:off x="822960" y="1874520"/>
            <a:ext cx="2103120" cy="777240"/>
          </a:xfrm>
          <a:prstGeom prst="rect">
            <a:avLst/>
          </a:prstGeom>
          <a:noFill/>
          <a:ln/>
        </p:spPr>
        <p:txBody>
          <a:bodyPr wrap="square" lIns="0" tIns="0" rIns="0" bIns="0" rtlCol="0" anchor="ctr"/>
          <a:lstStyle/>
          <a:p>
            <a:pPr indent="0" marL="0">
              <a:buNone/>
            </a:pPr>
            <a:r>
              <a:rPr lang="en-US" sz="4400" b="1" dirty="0">
                <a:solidFill>
                  <a:schemeClr val="accent1"/>
                </a:solidFill>
              </a:rPr>
              <a:t>9</a:t>
            </a:r>
            <a:endParaRPr lang="en-US" sz="4400" dirty="0"/>
          </a:p>
        </p:txBody>
      </p:sp>
      <p:sp>
        <p:nvSpPr>
          <p:cNvPr id="6" name="Text 4"/>
          <p:cNvSpPr txBox="1"/>
          <p:nvPr/>
        </p:nvSpPr>
        <p:spPr>
          <a:xfrm>
            <a:off x="822960" y="2651760"/>
            <a:ext cx="2194560" cy="502920"/>
          </a:xfrm>
          <a:prstGeom prst="rect">
            <a:avLst/>
          </a:prstGeom>
          <a:noFill/>
          <a:ln/>
        </p:spPr>
        <p:txBody>
          <a:bodyPr wrap="square" lIns="0" tIns="0" rIns="0" bIns="0" rtlCol="0" anchor="t"/>
          <a:lstStyle/>
          <a:p>
            <a:pPr indent="0" marL="0">
              <a:buNone/>
            </a:pPr>
            <a:r>
              <a:rPr lang="en-US" sz="1200" dirty="0">
                <a:solidFill>
                  <a:schemeClr val="accent4"/>
                </a:solidFill>
              </a:rPr>
              <a:t>tablas nuevas para la integración multi-ERP</a:t>
            </a:r>
            <a:endParaRPr lang="en-US" sz="1200" dirty="0"/>
          </a:p>
        </p:txBody>
      </p:sp>
      <p:sp>
        <p:nvSpPr>
          <p:cNvPr id="7" name="Shape 5"/>
          <p:cNvSpPr/>
          <p:nvPr/>
        </p:nvSpPr>
        <p:spPr>
          <a:xfrm>
            <a:off x="3364992" y="1783080"/>
            <a:ext cx="2606040" cy="1463040"/>
          </a:xfrm>
          <a:prstGeom prst="roundRect">
            <a:avLst>
              <a:gd name="adj" fmla="val 5000"/>
            </a:avLst>
          </a:prstGeom>
          <a:solidFill>
            <a:schemeClr val="bg1"/>
          </a:solidFill>
          <a:ln/>
          <a:effectLst>
            <a:outerShdw sx="100000" sy="100000" kx="0" ky="0" algn="bl" rotWithShape="0" blurRad="76200" dist="25400" dir="5400000">
              <a:srgbClr val="1F2933">
                <a:alpha val="10000"/>
              </a:srgbClr>
            </a:outerShdw>
          </a:effectLst>
        </p:spPr>
      </p:sp>
      <p:sp>
        <p:nvSpPr>
          <p:cNvPr id="8" name="Text 6"/>
          <p:cNvSpPr txBox="1"/>
          <p:nvPr/>
        </p:nvSpPr>
        <p:spPr>
          <a:xfrm>
            <a:off x="3639312" y="1874520"/>
            <a:ext cx="2103120" cy="777240"/>
          </a:xfrm>
          <a:prstGeom prst="rect">
            <a:avLst/>
          </a:prstGeom>
          <a:noFill/>
          <a:ln/>
        </p:spPr>
        <p:txBody>
          <a:bodyPr wrap="square" lIns="0" tIns="0" rIns="0" bIns="0" rtlCol="0" anchor="ctr"/>
          <a:lstStyle/>
          <a:p>
            <a:pPr indent="0" marL="0">
              <a:buNone/>
            </a:pPr>
            <a:r>
              <a:rPr lang="en-US" sz="4400" b="1" dirty="0">
                <a:solidFill>
                  <a:schemeClr val="accent1"/>
                </a:solidFill>
              </a:rPr>
              <a:t>2</a:t>
            </a:r>
            <a:endParaRPr lang="en-US" sz="4400" dirty="0"/>
          </a:p>
        </p:txBody>
      </p:sp>
      <p:sp>
        <p:nvSpPr>
          <p:cNvPr id="9" name="Text 7"/>
          <p:cNvSpPr txBox="1"/>
          <p:nvPr/>
        </p:nvSpPr>
        <p:spPr>
          <a:xfrm>
            <a:off x="3639312" y="2651760"/>
            <a:ext cx="2194560" cy="502920"/>
          </a:xfrm>
          <a:prstGeom prst="rect">
            <a:avLst/>
          </a:prstGeom>
          <a:noFill/>
          <a:ln/>
        </p:spPr>
        <p:txBody>
          <a:bodyPr wrap="square" lIns="0" tIns="0" rIns="0" bIns="0" rtlCol="0" anchor="t"/>
          <a:lstStyle/>
          <a:p>
            <a:pPr indent="0" marL="0">
              <a:buNone/>
            </a:pPr>
            <a:r>
              <a:rPr lang="en-US" sz="1200" dirty="0">
                <a:solidFill>
                  <a:schemeClr val="accent4"/>
                </a:solidFill>
              </a:rPr>
              <a:t>ejecuciones de la migración sin errores ni duplicados</a:t>
            </a:r>
            <a:endParaRPr lang="en-US" sz="1200" dirty="0"/>
          </a:p>
        </p:txBody>
      </p:sp>
      <p:sp>
        <p:nvSpPr>
          <p:cNvPr id="10" name="Shape 8"/>
          <p:cNvSpPr/>
          <p:nvPr/>
        </p:nvSpPr>
        <p:spPr>
          <a:xfrm>
            <a:off x="6181344" y="1783080"/>
            <a:ext cx="2606040" cy="1463040"/>
          </a:xfrm>
          <a:prstGeom prst="roundRect">
            <a:avLst>
              <a:gd name="adj" fmla="val 5000"/>
            </a:avLst>
          </a:prstGeom>
          <a:solidFill>
            <a:schemeClr val="bg1"/>
          </a:solidFill>
          <a:ln/>
          <a:effectLst>
            <a:outerShdw sx="100000" sy="100000" kx="0" ky="0" algn="bl" rotWithShape="0" blurRad="76200" dist="25400" dir="5400000">
              <a:srgbClr val="1F2933">
                <a:alpha val="10000"/>
              </a:srgbClr>
            </a:outerShdw>
          </a:effectLst>
        </p:spPr>
      </p:sp>
      <p:sp>
        <p:nvSpPr>
          <p:cNvPr id="11" name="Text 9"/>
          <p:cNvSpPr txBox="1"/>
          <p:nvPr/>
        </p:nvSpPr>
        <p:spPr>
          <a:xfrm>
            <a:off x="6455664" y="1874520"/>
            <a:ext cx="2103120" cy="777240"/>
          </a:xfrm>
          <a:prstGeom prst="rect">
            <a:avLst/>
          </a:prstGeom>
          <a:noFill/>
          <a:ln/>
        </p:spPr>
        <p:txBody>
          <a:bodyPr wrap="square" lIns="0" tIns="0" rIns="0" bIns="0" rtlCol="0" anchor="ctr"/>
          <a:lstStyle/>
          <a:p>
            <a:pPr indent="0" marL="0">
              <a:buNone/>
            </a:pPr>
            <a:r>
              <a:rPr lang="en-US" sz="4400" b="1" dirty="0">
                <a:solidFill>
                  <a:schemeClr val="accent1"/>
                </a:solidFill>
              </a:rPr>
              <a:t>0</a:t>
            </a:r>
            <a:endParaRPr lang="en-US" sz="4400" dirty="0"/>
          </a:p>
        </p:txBody>
      </p:sp>
      <p:sp>
        <p:nvSpPr>
          <p:cNvPr id="12" name="Text 10"/>
          <p:cNvSpPr txBox="1"/>
          <p:nvPr/>
        </p:nvSpPr>
        <p:spPr>
          <a:xfrm>
            <a:off x="6455664" y="2651760"/>
            <a:ext cx="2194560" cy="502920"/>
          </a:xfrm>
          <a:prstGeom prst="rect">
            <a:avLst/>
          </a:prstGeom>
          <a:noFill/>
          <a:ln/>
        </p:spPr>
        <p:txBody>
          <a:bodyPr wrap="square" lIns="0" tIns="0" rIns="0" bIns="0" rtlCol="0" anchor="t"/>
          <a:lstStyle/>
          <a:p>
            <a:pPr indent="0" marL="0">
              <a:buNone/>
            </a:pPr>
            <a:r>
              <a:rPr lang="en-US" sz="1200" dirty="0">
                <a:solidFill>
                  <a:schemeClr val="accent4"/>
                </a:solidFill>
              </a:rPr>
              <a:t>tablas existentes alteradas de forma destructiva</a:t>
            </a:r>
            <a:endParaRPr lang="en-US" sz="1200" dirty="0"/>
          </a:p>
        </p:txBody>
      </p:sp>
      <p:sp>
        <p:nvSpPr>
          <p:cNvPr id="13" name="Shape 11"/>
          <p:cNvSpPr/>
          <p:nvPr/>
        </p:nvSpPr>
        <p:spPr>
          <a:xfrm>
            <a:off x="8997696" y="1783080"/>
            <a:ext cx="2606040" cy="1463040"/>
          </a:xfrm>
          <a:prstGeom prst="roundRect">
            <a:avLst>
              <a:gd name="adj" fmla="val 5000"/>
            </a:avLst>
          </a:prstGeom>
          <a:solidFill>
            <a:schemeClr val="bg1"/>
          </a:solidFill>
          <a:ln/>
          <a:effectLst>
            <a:outerShdw sx="100000" sy="100000" kx="0" ky="0" algn="bl" rotWithShape="0" blurRad="76200" dist="25400" dir="5400000">
              <a:srgbClr val="1F2933">
                <a:alpha val="10000"/>
              </a:srgbClr>
            </a:outerShdw>
          </a:effectLst>
        </p:spPr>
      </p:sp>
      <p:sp>
        <p:nvSpPr>
          <p:cNvPr id="14" name="Text 12"/>
          <p:cNvSpPr txBox="1"/>
          <p:nvPr/>
        </p:nvSpPr>
        <p:spPr>
          <a:xfrm>
            <a:off x="9272016" y="1874520"/>
            <a:ext cx="2103120" cy="777240"/>
          </a:xfrm>
          <a:prstGeom prst="rect">
            <a:avLst/>
          </a:prstGeom>
          <a:noFill/>
          <a:ln/>
        </p:spPr>
        <p:txBody>
          <a:bodyPr wrap="square" lIns="0" tIns="0" rIns="0" bIns="0" rtlCol="0" anchor="ctr"/>
          <a:lstStyle/>
          <a:p>
            <a:pPr indent="0" marL="0">
              <a:buNone/>
            </a:pPr>
            <a:r>
              <a:rPr lang="en-US" sz="4400" b="1" dirty="0">
                <a:solidFill>
                  <a:schemeClr val="accent1"/>
                </a:solidFill>
              </a:rPr>
              <a:t>4</a:t>
            </a:r>
            <a:endParaRPr lang="en-US" sz="4400" dirty="0"/>
          </a:p>
        </p:txBody>
      </p:sp>
      <p:sp>
        <p:nvSpPr>
          <p:cNvPr id="15" name="Text 13"/>
          <p:cNvSpPr txBox="1"/>
          <p:nvPr/>
        </p:nvSpPr>
        <p:spPr>
          <a:xfrm>
            <a:off x="9272016" y="2651760"/>
            <a:ext cx="2194560" cy="502920"/>
          </a:xfrm>
          <a:prstGeom prst="rect">
            <a:avLst/>
          </a:prstGeom>
          <a:noFill/>
          <a:ln/>
        </p:spPr>
        <p:txBody>
          <a:bodyPr wrap="square" lIns="0" tIns="0" rIns="0" bIns="0" rtlCol="0" anchor="t"/>
          <a:lstStyle/>
          <a:p>
            <a:pPr indent="0" marL="0">
              <a:buNone/>
            </a:pPr>
            <a:r>
              <a:rPr lang="en-US" sz="1200" dirty="0">
                <a:solidFill>
                  <a:schemeClr val="accent4"/>
                </a:solidFill>
              </a:rPr>
              <a:t>roles con acceso diferenciado a los conectores</a:t>
            </a:r>
            <a:endParaRPr lang="en-US" sz="1200" dirty="0"/>
          </a:p>
        </p:txBody>
      </p:sp>
      <p:sp>
        <p:nvSpPr>
          <p:cNvPr id="16" name="Shape 14"/>
          <p:cNvSpPr/>
          <p:nvPr/>
        </p:nvSpPr>
        <p:spPr>
          <a:xfrm>
            <a:off x="548640" y="3474720"/>
            <a:ext cx="6263640" cy="2743200"/>
          </a:xfrm>
          <a:prstGeom prst="roundRect">
            <a:avLst>
              <a:gd name="adj" fmla="val 2667"/>
            </a:avLst>
          </a:prstGeom>
          <a:solidFill>
            <a:schemeClr val="bg1"/>
          </a:solidFill>
          <a:ln/>
          <a:effectLst>
            <a:outerShdw sx="100000" sy="100000" kx="0" ky="0" algn="bl" rotWithShape="0" blurRad="76200" dist="25400" dir="5400000">
              <a:srgbClr val="1F2933">
                <a:alpha val="10000"/>
              </a:srgbClr>
            </a:outerShdw>
          </a:effectLst>
        </p:spPr>
      </p:sp>
      <p:sp>
        <p:nvSpPr>
          <p:cNvPr id="17" name="Text 15"/>
          <p:cNvSpPr txBox="1"/>
          <p:nvPr/>
        </p:nvSpPr>
        <p:spPr>
          <a:xfrm>
            <a:off x="822960" y="3639312"/>
            <a:ext cx="4572000" cy="365760"/>
          </a:xfrm>
          <a:prstGeom prst="rect">
            <a:avLst/>
          </a:prstGeom>
          <a:noFill/>
          <a:ln/>
        </p:spPr>
        <p:txBody>
          <a:bodyPr wrap="square" lIns="0" tIns="0" rIns="0" bIns="0" rtlCol="0" anchor="t"/>
          <a:lstStyle/>
          <a:p>
            <a:pPr indent="0" marL="0">
              <a:buNone/>
            </a:pPr>
            <a:r>
              <a:rPr lang="en-US" sz="1800" b="1" dirty="0">
                <a:solidFill>
                  <a:schemeClr val="tx1"/>
                </a:solidFill>
              </a:rPr>
              <a:t>Entregables</a:t>
            </a:r>
            <a:endParaRPr lang="en-US" sz="1800" dirty="0"/>
          </a:p>
        </p:txBody>
      </p:sp>
      <p:sp>
        <p:nvSpPr>
          <p:cNvPr id="18" name="Text 16"/>
          <p:cNvSpPr txBox="1"/>
          <p:nvPr/>
        </p:nvSpPr>
        <p:spPr>
          <a:xfrm>
            <a:off x="822960" y="4069080"/>
            <a:ext cx="5806440" cy="205740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Arquitectura </a:t>
            </a:r>
            <a:pPr indent="0" marL="0">
              <a:buNone/>
            </a:pPr>
            <a:r>
              <a:rPr lang="en-US" sz="1400" dirty="0">
                <a:solidFill>
                  <a:schemeClr val="tx1"/>
                </a:solidFill>
              </a:rPr>
              <a:t>de ingesta por capas (bronce, plata y oro).</a:t>
            </a:r>
            <a:endParaRPr lang="en-US" sz="1400" dirty="0"/>
          </a:p>
          <a:p>
            <a:pPr marL="177800" indent="-177800">
              <a:spcAft>
                <a:spcPts val="600"/>
              </a:spcAft>
              <a:buSzPct val="100000"/>
              <a:buChar char="•"/>
            </a:pPr>
            <a:r>
              <a:rPr lang="en-US" sz="1400" b="1" dirty="0">
                <a:solidFill>
                  <a:schemeClr val="tx1"/>
                </a:solidFill>
              </a:rPr>
              <a:t>Migración </a:t>
            </a:r>
            <a:pPr indent="0" marL="0">
              <a:buNone/>
            </a:pPr>
            <a:r>
              <a:rPr lang="en-US" sz="1400" dirty="0">
                <a:solidFill>
                  <a:schemeClr val="tx1"/>
                </a:solidFill>
              </a:rPr>
              <a:t>02_integracion_erp.sql con el modelo canónico de fallas.</a:t>
            </a:r>
            <a:endParaRPr lang="en-US" sz="1400" dirty="0"/>
          </a:p>
          <a:p>
            <a:pPr marL="177800" indent="-177800">
              <a:spcAft>
                <a:spcPts val="600"/>
              </a:spcAft>
              <a:buSzPct val="100000"/>
              <a:buChar char="•"/>
            </a:pPr>
            <a:r>
              <a:rPr lang="en-US" sz="1400" b="1" dirty="0">
                <a:solidFill>
                  <a:schemeClr val="tx1"/>
                </a:solidFill>
              </a:rPr>
              <a:t>Gestión de conectores: </a:t>
            </a:r>
            <a:pPr indent="0" marL="0">
              <a:buNone/>
            </a:pPr>
            <a:r>
              <a:rPr lang="en-US" sz="1400" dirty="0">
                <a:solidFill>
                  <a:schemeClr val="tx1"/>
                </a:solidFill>
              </a:rPr>
              <a:t>selector, API y pantalla de administración, con control por rol.</a:t>
            </a:r>
            <a:endParaRPr lang="en-US" sz="1400" dirty="0"/>
          </a:p>
          <a:p>
            <a:pPr marL="177800" indent="-177800">
              <a:spcAft>
                <a:spcPts val="600"/>
              </a:spcAft>
              <a:buSzPct val="100000"/>
              <a:buChar char="•"/>
            </a:pPr>
            <a:r>
              <a:rPr lang="en-US" sz="1400" b="1" dirty="0">
                <a:solidFill>
                  <a:schemeClr val="tx1"/>
                </a:solidFill>
              </a:rPr>
              <a:t>Conector de referencia </a:t>
            </a:r>
            <a:pPr indent="0" marL="0">
              <a:buNone/>
            </a:pPr>
            <a:r>
              <a:rPr lang="en-US" sz="1400" dirty="0">
                <a:solidFill>
                  <a:schemeClr val="tx1"/>
                </a:solidFill>
              </a:rPr>
              <a:t>e ingesta idempotente con registro de rechazos.</a:t>
            </a:r>
            <a:endParaRPr lang="en-US" sz="1400" dirty="0"/>
          </a:p>
          <a:p>
            <a:pPr marL="177800" indent="-177800">
              <a:spcAft>
                <a:spcPts val="600"/>
              </a:spcAft>
              <a:buSzPct val="100000"/>
              <a:buChar char="•"/>
            </a:pPr>
            <a:r>
              <a:rPr lang="en-US" sz="1400" b="1" dirty="0">
                <a:solidFill>
                  <a:schemeClr val="tx1"/>
                </a:solidFill>
              </a:rPr>
              <a:t>Internacionalización </a:t>
            </a:r>
            <a:pPr indent="0" marL="0">
              <a:buNone/>
            </a:pPr>
            <a:r>
              <a:rPr lang="en-US" sz="1400" dirty="0">
                <a:solidFill>
                  <a:schemeClr val="tx1"/>
                </a:solidFill>
              </a:rPr>
              <a:t>(i18n) de la plataforma.</a:t>
            </a:r>
            <a:endParaRPr lang="en-US" sz="1400" dirty="0"/>
          </a:p>
        </p:txBody>
      </p:sp>
      <p:sp>
        <p:nvSpPr>
          <p:cNvPr id="19" name="Shape 17"/>
          <p:cNvSpPr/>
          <p:nvPr/>
        </p:nvSpPr>
        <p:spPr>
          <a:xfrm>
            <a:off x="7040880" y="3474720"/>
            <a:ext cx="4599432" cy="2743200"/>
          </a:xfrm>
          <a:prstGeom prst="roundRect">
            <a:avLst>
              <a:gd name="adj" fmla="val 2667"/>
            </a:avLst>
          </a:prstGeom>
          <a:solidFill>
            <a:schemeClr val="bg1"/>
          </a:solidFill>
          <a:ln/>
          <a:effectLst>
            <a:outerShdw sx="100000" sy="100000" kx="0" ky="0" algn="bl" rotWithShape="0" blurRad="76200" dist="25400" dir="5400000">
              <a:srgbClr val="1F2933">
                <a:alpha val="10000"/>
              </a:srgbClr>
            </a:outerShdw>
          </a:effectLst>
        </p:spPr>
      </p:sp>
      <p:sp>
        <p:nvSpPr>
          <p:cNvPr id="20" name="Text 18"/>
          <p:cNvSpPr txBox="1"/>
          <p:nvPr/>
        </p:nvSpPr>
        <p:spPr>
          <a:xfrm>
            <a:off x="7315200" y="3639312"/>
            <a:ext cx="4114800" cy="365760"/>
          </a:xfrm>
          <a:prstGeom prst="rect">
            <a:avLst/>
          </a:prstGeom>
          <a:noFill/>
          <a:ln/>
        </p:spPr>
        <p:txBody>
          <a:bodyPr wrap="square" lIns="0" tIns="0" rIns="0" bIns="0" rtlCol="0" anchor="t"/>
          <a:lstStyle/>
          <a:p>
            <a:pPr indent="0" marL="0">
              <a:buNone/>
            </a:pPr>
            <a:r>
              <a:rPr lang="en-US" sz="1800" b="1" dirty="0">
                <a:solidFill>
                  <a:schemeClr val="tx1"/>
                </a:solidFill>
              </a:rPr>
              <a:t>Cumplimiento de objetivos</a:t>
            </a:r>
            <a:endParaRPr lang="en-US" sz="1800" dirty="0"/>
          </a:p>
        </p:txBody>
      </p:sp>
      <p:sp>
        <p:nvSpPr>
          <p:cNvPr id="21" name="Text 19"/>
          <p:cNvSpPr txBox="1"/>
          <p:nvPr/>
        </p:nvSpPr>
        <p:spPr>
          <a:xfrm>
            <a:off x="7315200" y="4096512"/>
            <a:ext cx="2377440" cy="274320"/>
          </a:xfrm>
          <a:prstGeom prst="rect">
            <a:avLst/>
          </a:prstGeom>
          <a:noFill/>
          <a:ln/>
        </p:spPr>
        <p:txBody>
          <a:bodyPr wrap="square" lIns="0" tIns="0" rIns="0" bIns="0" rtlCol="0" anchor="ctr"/>
          <a:lstStyle/>
          <a:p>
            <a:pPr indent="0" marL="0">
              <a:buNone/>
            </a:pPr>
            <a:r>
              <a:rPr lang="en-US" sz="1300" dirty="0">
                <a:solidFill>
                  <a:schemeClr val="tx1"/>
                </a:solidFill>
              </a:rPr>
              <a:t>OE1 · Analizar</a:t>
            </a:r>
            <a:endParaRPr lang="en-US" sz="1300" dirty="0"/>
          </a:p>
        </p:txBody>
      </p:sp>
      <p:sp>
        <p:nvSpPr>
          <p:cNvPr id="22" name="Shape 20"/>
          <p:cNvSpPr/>
          <p:nvPr/>
        </p:nvSpPr>
        <p:spPr>
          <a:xfrm>
            <a:off x="10104120" y="4114800"/>
            <a:ext cx="1234440" cy="237744"/>
          </a:xfrm>
          <a:prstGeom prst="roundRect">
            <a:avLst>
              <a:gd name="adj" fmla="val 19231"/>
            </a:avLst>
          </a:prstGeom>
          <a:solidFill>
            <a:schemeClr val="accent2">
              <a:alpha val="18000"/>
            </a:schemeClr>
          </a:solidFill>
          <a:ln/>
        </p:spPr>
      </p:sp>
      <p:sp>
        <p:nvSpPr>
          <p:cNvPr id="23" name="Text 21"/>
          <p:cNvSpPr txBox="1"/>
          <p:nvPr/>
        </p:nvSpPr>
        <p:spPr>
          <a:xfrm>
            <a:off x="10104120" y="4114800"/>
            <a:ext cx="1234440" cy="237744"/>
          </a:xfrm>
          <a:prstGeom prst="rect">
            <a:avLst/>
          </a:prstGeom>
          <a:noFill/>
          <a:ln/>
        </p:spPr>
        <p:txBody>
          <a:bodyPr wrap="square" lIns="0" tIns="0" rIns="0" bIns="0" rtlCol="0" anchor="ctr"/>
          <a:lstStyle/>
          <a:p>
            <a:pPr algn="ctr" indent="0" marL="0">
              <a:buNone/>
            </a:pPr>
            <a:r>
              <a:rPr lang="en-US" sz="1000" b="1" dirty="0">
                <a:solidFill>
                  <a:schemeClr val="accent2"/>
                </a:solidFill>
              </a:rPr>
              <a:t>Cumplido</a:t>
            </a:r>
            <a:endParaRPr lang="en-US" sz="1000" dirty="0"/>
          </a:p>
        </p:txBody>
      </p:sp>
      <p:sp>
        <p:nvSpPr>
          <p:cNvPr id="24" name="Text 22"/>
          <p:cNvSpPr txBox="1"/>
          <p:nvPr/>
        </p:nvSpPr>
        <p:spPr>
          <a:xfrm>
            <a:off x="7315200" y="4434840"/>
            <a:ext cx="2377440" cy="274320"/>
          </a:xfrm>
          <a:prstGeom prst="rect">
            <a:avLst/>
          </a:prstGeom>
          <a:noFill/>
          <a:ln/>
        </p:spPr>
        <p:txBody>
          <a:bodyPr wrap="square" lIns="0" tIns="0" rIns="0" bIns="0" rtlCol="0" anchor="ctr"/>
          <a:lstStyle/>
          <a:p>
            <a:pPr indent="0" marL="0">
              <a:buNone/>
            </a:pPr>
            <a:r>
              <a:rPr lang="en-US" sz="1300" dirty="0">
                <a:solidFill>
                  <a:schemeClr val="tx1"/>
                </a:solidFill>
              </a:rPr>
              <a:t>OE2 · Extender</a:t>
            </a:r>
            <a:endParaRPr lang="en-US" sz="1300" dirty="0"/>
          </a:p>
        </p:txBody>
      </p:sp>
      <p:sp>
        <p:nvSpPr>
          <p:cNvPr id="25" name="Shape 23"/>
          <p:cNvSpPr/>
          <p:nvPr/>
        </p:nvSpPr>
        <p:spPr>
          <a:xfrm>
            <a:off x="10104120" y="4453128"/>
            <a:ext cx="1234440" cy="237744"/>
          </a:xfrm>
          <a:prstGeom prst="roundRect">
            <a:avLst>
              <a:gd name="adj" fmla="val 19231"/>
            </a:avLst>
          </a:prstGeom>
          <a:solidFill>
            <a:schemeClr val="accent2">
              <a:alpha val="18000"/>
            </a:schemeClr>
          </a:solidFill>
          <a:ln/>
        </p:spPr>
      </p:sp>
      <p:sp>
        <p:nvSpPr>
          <p:cNvPr id="26" name="Text 24"/>
          <p:cNvSpPr txBox="1"/>
          <p:nvPr/>
        </p:nvSpPr>
        <p:spPr>
          <a:xfrm>
            <a:off x="10104120" y="4453128"/>
            <a:ext cx="1234440" cy="237744"/>
          </a:xfrm>
          <a:prstGeom prst="rect">
            <a:avLst/>
          </a:prstGeom>
          <a:noFill/>
          <a:ln/>
        </p:spPr>
        <p:txBody>
          <a:bodyPr wrap="square" lIns="0" tIns="0" rIns="0" bIns="0" rtlCol="0" anchor="ctr"/>
          <a:lstStyle/>
          <a:p>
            <a:pPr algn="ctr" indent="0" marL="0">
              <a:buNone/>
            </a:pPr>
            <a:r>
              <a:rPr lang="en-US" sz="1000" b="1" dirty="0">
                <a:solidFill>
                  <a:schemeClr val="accent2"/>
                </a:solidFill>
              </a:rPr>
              <a:t>Cumplido</a:t>
            </a:r>
            <a:endParaRPr lang="en-US" sz="1000" dirty="0"/>
          </a:p>
        </p:txBody>
      </p:sp>
      <p:sp>
        <p:nvSpPr>
          <p:cNvPr id="27" name="Text 25"/>
          <p:cNvSpPr txBox="1"/>
          <p:nvPr/>
        </p:nvSpPr>
        <p:spPr>
          <a:xfrm>
            <a:off x="7315200" y="4773168"/>
            <a:ext cx="2377440" cy="274320"/>
          </a:xfrm>
          <a:prstGeom prst="rect">
            <a:avLst/>
          </a:prstGeom>
          <a:noFill/>
          <a:ln/>
        </p:spPr>
        <p:txBody>
          <a:bodyPr wrap="square" lIns="0" tIns="0" rIns="0" bIns="0" rtlCol="0" anchor="ctr"/>
          <a:lstStyle/>
          <a:p>
            <a:pPr indent="0" marL="0">
              <a:buNone/>
            </a:pPr>
            <a:r>
              <a:rPr lang="en-US" sz="1300" dirty="0">
                <a:solidFill>
                  <a:schemeClr val="tx1"/>
                </a:solidFill>
              </a:rPr>
              <a:t>OE3 · Implementar</a:t>
            </a:r>
            <a:endParaRPr lang="en-US" sz="1300" dirty="0"/>
          </a:p>
        </p:txBody>
      </p:sp>
      <p:sp>
        <p:nvSpPr>
          <p:cNvPr id="28" name="Shape 26"/>
          <p:cNvSpPr/>
          <p:nvPr/>
        </p:nvSpPr>
        <p:spPr>
          <a:xfrm>
            <a:off x="10104120" y="4791456"/>
            <a:ext cx="1234440" cy="237744"/>
          </a:xfrm>
          <a:prstGeom prst="roundRect">
            <a:avLst>
              <a:gd name="adj" fmla="val 19231"/>
            </a:avLst>
          </a:prstGeom>
          <a:solidFill>
            <a:schemeClr val="accent2">
              <a:alpha val="18000"/>
            </a:schemeClr>
          </a:solidFill>
          <a:ln/>
        </p:spPr>
      </p:sp>
      <p:sp>
        <p:nvSpPr>
          <p:cNvPr id="29" name="Text 27"/>
          <p:cNvSpPr txBox="1"/>
          <p:nvPr/>
        </p:nvSpPr>
        <p:spPr>
          <a:xfrm>
            <a:off x="10104120" y="4791456"/>
            <a:ext cx="1234440" cy="237744"/>
          </a:xfrm>
          <a:prstGeom prst="rect">
            <a:avLst/>
          </a:prstGeom>
          <a:noFill/>
          <a:ln/>
        </p:spPr>
        <p:txBody>
          <a:bodyPr wrap="square" lIns="0" tIns="0" rIns="0" bIns="0" rtlCol="0" anchor="ctr"/>
          <a:lstStyle/>
          <a:p>
            <a:pPr algn="ctr" indent="0" marL="0">
              <a:buNone/>
            </a:pPr>
            <a:r>
              <a:rPr lang="en-US" sz="1000" b="1" dirty="0">
                <a:solidFill>
                  <a:schemeClr val="accent2"/>
                </a:solidFill>
              </a:rPr>
              <a:t>Cumplido</a:t>
            </a:r>
            <a:endParaRPr lang="en-US" sz="1000" dirty="0"/>
          </a:p>
        </p:txBody>
      </p:sp>
      <p:sp>
        <p:nvSpPr>
          <p:cNvPr id="30" name="Text 28"/>
          <p:cNvSpPr txBox="1"/>
          <p:nvPr/>
        </p:nvSpPr>
        <p:spPr>
          <a:xfrm>
            <a:off x="7315200" y="5111496"/>
            <a:ext cx="2377440" cy="274320"/>
          </a:xfrm>
          <a:prstGeom prst="rect">
            <a:avLst/>
          </a:prstGeom>
          <a:noFill/>
          <a:ln/>
        </p:spPr>
        <p:txBody>
          <a:bodyPr wrap="square" lIns="0" tIns="0" rIns="0" bIns="0" rtlCol="0" anchor="ctr"/>
          <a:lstStyle/>
          <a:p>
            <a:pPr indent="0" marL="0">
              <a:buNone/>
            </a:pPr>
            <a:r>
              <a:rPr lang="en-US" sz="1300" dirty="0">
                <a:solidFill>
                  <a:schemeClr val="tx1"/>
                </a:solidFill>
              </a:rPr>
              <a:t>OE4 · Desarrollar</a:t>
            </a:r>
            <a:endParaRPr lang="en-US" sz="1300" dirty="0"/>
          </a:p>
        </p:txBody>
      </p:sp>
      <p:sp>
        <p:nvSpPr>
          <p:cNvPr id="31" name="Shape 29"/>
          <p:cNvSpPr/>
          <p:nvPr/>
        </p:nvSpPr>
        <p:spPr>
          <a:xfrm>
            <a:off x="10104120" y="5129784"/>
            <a:ext cx="1234440" cy="237744"/>
          </a:xfrm>
          <a:prstGeom prst="roundRect">
            <a:avLst>
              <a:gd name="adj" fmla="val 19231"/>
            </a:avLst>
          </a:prstGeom>
          <a:solidFill>
            <a:schemeClr val="accent2">
              <a:alpha val="18000"/>
            </a:schemeClr>
          </a:solidFill>
          <a:ln/>
        </p:spPr>
      </p:sp>
      <p:sp>
        <p:nvSpPr>
          <p:cNvPr id="32" name="Text 30"/>
          <p:cNvSpPr txBox="1"/>
          <p:nvPr/>
        </p:nvSpPr>
        <p:spPr>
          <a:xfrm>
            <a:off x="10104120" y="5129784"/>
            <a:ext cx="1234440" cy="237744"/>
          </a:xfrm>
          <a:prstGeom prst="rect">
            <a:avLst/>
          </a:prstGeom>
          <a:noFill/>
          <a:ln/>
        </p:spPr>
        <p:txBody>
          <a:bodyPr wrap="square" lIns="0" tIns="0" rIns="0" bIns="0" rtlCol="0" anchor="ctr"/>
          <a:lstStyle/>
          <a:p>
            <a:pPr algn="ctr" indent="0" marL="0">
              <a:buNone/>
            </a:pPr>
            <a:r>
              <a:rPr lang="en-US" sz="1000" b="1" dirty="0">
                <a:solidFill>
                  <a:schemeClr val="accent2"/>
                </a:solidFill>
              </a:rPr>
              <a:t>Cumplido</a:t>
            </a:r>
            <a:endParaRPr lang="en-US" sz="1000" dirty="0"/>
          </a:p>
        </p:txBody>
      </p:sp>
      <p:sp>
        <p:nvSpPr>
          <p:cNvPr id="33" name="Text 31"/>
          <p:cNvSpPr txBox="1"/>
          <p:nvPr/>
        </p:nvSpPr>
        <p:spPr>
          <a:xfrm>
            <a:off x="7315200" y="5449824"/>
            <a:ext cx="2377440" cy="274320"/>
          </a:xfrm>
          <a:prstGeom prst="rect">
            <a:avLst/>
          </a:prstGeom>
          <a:noFill/>
          <a:ln/>
        </p:spPr>
        <p:txBody>
          <a:bodyPr wrap="square" lIns="0" tIns="0" rIns="0" bIns="0" rtlCol="0" anchor="ctr"/>
          <a:lstStyle/>
          <a:p>
            <a:pPr indent="0" marL="0">
              <a:buNone/>
            </a:pPr>
            <a:r>
              <a:rPr lang="en-US" sz="1300" dirty="0">
                <a:solidFill>
                  <a:schemeClr val="tx1"/>
                </a:solidFill>
              </a:rPr>
              <a:t>OE5 · Calcular</a:t>
            </a:r>
            <a:endParaRPr lang="en-US" sz="1300" dirty="0"/>
          </a:p>
        </p:txBody>
      </p:sp>
      <p:sp>
        <p:nvSpPr>
          <p:cNvPr id="34" name="Shape 32"/>
          <p:cNvSpPr/>
          <p:nvPr/>
        </p:nvSpPr>
        <p:spPr>
          <a:xfrm>
            <a:off x="10104120" y="5468112"/>
            <a:ext cx="1234440" cy="237744"/>
          </a:xfrm>
          <a:prstGeom prst="roundRect">
            <a:avLst>
              <a:gd name="adj" fmla="val 19231"/>
            </a:avLst>
          </a:prstGeom>
          <a:solidFill>
            <a:schemeClr val="accent3">
              <a:alpha val="18000"/>
            </a:schemeClr>
          </a:solidFill>
          <a:ln/>
        </p:spPr>
      </p:sp>
      <p:sp>
        <p:nvSpPr>
          <p:cNvPr id="35" name="Text 33"/>
          <p:cNvSpPr txBox="1"/>
          <p:nvPr/>
        </p:nvSpPr>
        <p:spPr>
          <a:xfrm>
            <a:off x="10104120" y="5468112"/>
            <a:ext cx="1234440" cy="237744"/>
          </a:xfrm>
          <a:prstGeom prst="rect">
            <a:avLst/>
          </a:prstGeom>
          <a:noFill/>
          <a:ln/>
        </p:spPr>
        <p:txBody>
          <a:bodyPr wrap="square" lIns="0" tIns="0" rIns="0" bIns="0" rtlCol="0" anchor="ctr"/>
          <a:lstStyle/>
          <a:p>
            <a:pPr algn="ctr" indent="0" marL="0">
              <a:buNone/>
            </a:pPr>
            <a:r>
              <a:rPr lang="en-US" sz="1000" b="1" dirty="0">
                <a:solidFill>
                  <a:schemeClr val="accent3"/>
                </a:solidFill>
              </a:rPr>
              <a:t>En curso</a:t>
            </a:r>
            <a:endParaRPr lang="en-US" sz="1000" dirty="0"/>
          </a:p>
        </p:txBody>
      </p:sp>
      <p:sp>
        <p:nvSpPr>
          <p:cNvPr id="36" name="Text 34"/>
          <p:cNvSpPr txBox="1"/>
          <p:nvPr/>
        </p:nvSpPr>
        <p:spPr>
          <a:xfrm>
            <a:off x="7315200" y="5788152"/>
            <a:ext cx="2377440" cy="274320"/>
          </a:xfrm>
          <a:prstGeom prst="rect">
            <a:avLst/>
          </a:prstGeom>
          <a:noFill/>
          <a:ln/>
        </p:spPr>
        <p:txBody>
          <a:bodyPr wrap="square" lIns="0" tIns="0" rIns="0" bIns="0" rtlCol="0" anchor="ctr"/>
          <a:lstStyle/>
          <a:p>
            <a:pPr indent="0" marL="0">
              <a:buNone/>
            </a:pPr>
            <a:r>
              <a:rPr lang="en-US" sz="1300" dirty="0">
                <a:solidFill>
                  <a:schemeClr val="tx1"/>
                </a:solidFill>
              </a:rPr>
              <a:t>OE6 · Validar</a:t>
            </a:r>
            <a:endParaRPr lang="en-US" sz="1300" dirty="0"/>
          </a:p>
        </p:txBody>
      </p:sp>
      <p:sp>
        <p:nvSpPr>
          <p:cNvPr id="37" name="Shape 35"/>
          <p:cNvSpPr/>
          <p:nvPr/>
        </p:nvSpPr>
        <p:spPr>
          <a:xfrm>
            <a:off x="10104120" y="5806440"/>
            <a:ext cx="1234440" cy="237744"/>
          </a:xfrm>
          <a:prstGeom prst="roundRect">
            <a:avLst>
              <a:gd name="adj" fmla="val 19231"/>
            </a:avLst>
          </a:prstGeom>
          <a:solidFill>
            <a:schemeClr val="accent4">
              <a:alpha val="15000"/>
            </a:schemeClr>
          </a:solidFill>
          <a:ln/>
        </p:spPr>
      </p:sp>
      <p:sp>
        <p:nvSpPr>
          <p:cNvPr id="38" name="Text 36"/>
          <p:cNvSpPr txBox="1"/>
          <p:nvPr/>
        </p:nvSpPr>
        <p:spPr>
          <a:xfrm>
            <a:off x="10104120" y="5806440"/>
            <a:ext cx="1234440" cy="237744"/>
          </a:xfrm>
          <a:prstGeom prst="rect">
            <a:avLst/>
          </a:prstGeom>
          <a:noFill/>
          <a:ln/>
        </p:spPr>
        <p:txBody>
          <a:bodyPr wrap="square" lIns="0" tIns="0" rIns="0" bIns="0" rtlCol="0" anchor="ctr"/>
          <a:lstStyle/>
          <a:p>
            <a:pPr algn="ctr" indent="0" marL="0">
              <a:buNone/>
            </a:pPr>
            <a:r>
              <a:rPr lang="en-US" sz="1000" b="1" dirty="0">
                <a:solidFill>
                  <a:schemeClr val="accent4"/>
                </a:solidFill>
              </a:rPr>
              <a:t>Pendiente</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Obstáculos presentados durante el desarrollo</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Cada obstáculo y cómo se abordó</a:t>
            </a:r>
            <a:endParaRPr lang="en-US" sz="1500" dirty="0"/>
          </a:p>
        </p:txBody>
      </p:sp>
      <p:sp>
        <p:nvSpPr>
          <p:cNvPr id="4" name="Text 2"/>
          <p:cNvSpPr txBox="1"/>
          <p:nvPr/>
        </p:nvSpPr>
        <p:spPr>
          <a:xfrm>
            <a:off x="1325880" y="1755648"/>
            <a:ext cx="365760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OBSTÁCULO</a:t>
            </a:r>
            <a:endParaRPr lang="en-US" sz="1100" dirty="0"/>
          </a:p>
        </p:txBody>
      </p:sp>
      <p:sp>
        <p:nvSpPr>
          <p:cNvPr id="5" name="Text 3"/>
          <p:cNvSpPr txBox="1"/>
          <p:nvPr/>
        </p:nvSpPr>
        <p:spPr>
          <a:xfrm>
            <a:off x="6720840" y="1755648"/>
            <a:ext cx="3657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CÓMO SE ABORDÓ</a:t>
            </a:r>
            <a:endParaRPr lang="en-US" sz="1100" dirty="0"/>
          </a:p>
        </p:txBody>
      </p:sp>
      <p:sp>
        <p:nvSpPr>
          <p:cNvPr id="6" name="Shape 4"/>
          <p:cNvSpPr/>
          <p:nvPr/>
        </p:nvSpPr>
        <p:spPr>
          <a:xfrm>
            <a:off x="548640" y="2103120"/>
            <a:ext cx="5440680" cy="914400"/>
          </a:xfrm>
          <a:prstGeom prst="roundRect">
            <a:avLst>
              <a:gd name="adj" fmla="val 8000"/>
            </a:avLst>
          </a:prstGeom>
          <a:solidFill>
            <a:schemeClr val="bg1"/>
          </a:solidFill>
          <a:ln/>
          <a:effectLst>
            <a:outerShdw sx="100000" sy="100000" kx="0" ky="0" algn="bl" rotWithShape="0" blurRad="76200" dist="25400" dir="5400000">
              <a:srgbClr val="1F2933">
                <a:alpha val="10000"/>
              </a:srgbClr>
            </a:outerShdw>
          </a:effectLst>
        </p:spPr>
      </p:sp>
      <p:sp>
        <p:nvSpPr>
          <p:cNvPr id="7" name="Shape 5"/>
          <p:cNvSpPr/>
          <p:nvPr/>
        </p:nvSpPr>
        <p:spPr>
          <a:xfrm>
            <a:off x="749808" y="2286000"/>
            <a:ext cx="548640" cy="548640"/>
          </a:xfrm>
          <a:prstGeom prst="ellipse">
            <a:avLst/>
          </a:prstGeom>
          <a:solidFill>
            <a:srgbClr val="C0392B"/>
          </a:solidFill>
          <a:ln/>
        </p:spPr>
      </p:sp>
      <p:pic>
        <p:nvPicPr>
          <p:cNvPr id="8" name="Image 0" descr="preencoded.png">    </p:cNvPr>
          <p:cNvPicPr>
            <a:picLocks noChangeAspect="1"/>
          </p:cNvPicPr>
          <p:nvPr/>
        </p:nvPicPr>
        <p:blipFill>
          <a:blip r:embed="rId1"/>
          <a:stretch>
            <a:fillRect/>
          </a:stretch>
        </p:blipFill>
        <p:spPr>
          <a:xfrm>
            <a:off x="886968" y="2423160"/>
            <a:ext cx="274320" cy="274320"/>
          </a:xfrm>
          <a:prstGeom prst="rect">
            <a:avLst/>
          </a:prstGeom>
        </p:spPr>
      </p:pic>
      <p:sp>
        <p:nvSpPr>
          <p:cNvPr id="9" name="Text 6"/>
          <p:cNvSpPr txBox="1"/>
          <p:nvPr/>
        </p:nvSpPr>
        <p:spPr>
          <a:xfrm>
            <a:off x="1463040" y="2212848"/>
            <a:ext cx="4389120" cy="329184"/>
          </a:xfrm>
          <a:prstGeom prst="rect">
            <a:avLst/>
          </a:prstGeom>
          <a:noFill/>
          <a:ln/>
        </p:spPr>
        <p:txBody>
          <a:bodyPr wrap="square" lIns="0" tIns="0" rIns="0" bIns="0" rtlCol="0" anchor="t"/>
          <a:lstStyle/>
          <a:p>
            <a:pPr indent="0" marL="0">
              <a:buNone/>
            </a:pPr>
            <a:r>
              <a:rPr lang="en-US" sz="1500" b="1" dirty="0">
                <a:solidFill>
                  <a:schemeClr val="tx1"/>
                </a:solidFill>
              </a:rPr>
              <a:t>Alcance inicial sobredimensionado</a:t>
            </a:r>
            <a:endParaRPr lang="en-US" sz="1500" dirty="0"/>
          </a:p>
        </p:txBody>
      </p:sp>
      <p:sp>
        <p:nvSpPr>
          <p:cNvPr id="10" name="Text 7"/>
          <p:cNvSpPr txBox="1"/>
          <p:nvPr/>
        </p:nvSpPr>
        <p:spPr>
          <a:xfrm>
            <a:off x="1463040" y="2560320"/>
            <a:ext cx="4389120" cy="384048"/>
          </a:xfrm>
          <a:prstGeom prst="rect">
            <a:avLst/>
          </a:prstGeom>
          <a:noFill/>
          <a:ln/>
        </p:spPr>
        <p:txBody>
          <a:bodyPr wrap="square" lIns="0" tIns="0" rIns="0" bIns="0" rtlCol="0" anchor="t"/>
          <a:lstStyle/>
          <a:p>
            <a:pPr indent="0" marL="0">
              <a:buNone/>
            </a:pPr>
            <a:r>
              <a:rPr lang="en-US" sz="1200" dirty="0">
                <a:solidFill>
                  <a:schemeClr val="accent4"/>
                </a:solidFill>
              </a:rPr>
              <a:t>El plan de la Fase 1 abarcaba todo el producto.</a:t>
            </a:r>
            <a:endParaRPr lang="en-US" sz="1200" dirty="0"/>
          </a:p>
        </p:txBody>
      </p:sp>
      <p:pic>
        <p:nvPicPr>
          <p:cNvPr id="11" name="Image 1" descr="preencoded.png">    </p:cNvPr>
          <p:cNvPicPr>
            <a:picLocks noChangeAspect="1"/>
          </p:cNvPicPr>
          <p:nvPr/>
        </p:nvPicPr>
        <p:blipFill>
          <a:blip r:embed="rId2"/>
          <a:stretch>
            <a:fillRect/>
          </a:stretch>
        </p:blipFill>
        <p:spPr>
          <a:xfrm>
            <a:off x="6126480" y="2441448"/>
            <a:ext cx="237744" cy="237744"/>
          </a:xfrm>
          <a:prstGeom prst="rect">
            <a:avLst/>
          </a:prstGeom>
        </p:spPr>
      </p:pic>
      <p:sp>
        <p:nvSpPr>
          <p:cNvPr id="12" name="Shape 8"/>
          <p:cNvSpPr/>
          <p:nvPr/>
        </p:nvSpPr>
        <p:spPr>
          <a:xfrm>
            <a:off x="6492240" y="2103120"/>
            <a:ext cx="5148072" cy="914400"/>
          </a:xfrm>
          <a:prstGeom prst="roundRect">
            <a:avLst>
              <a:gd name="adj" fmla="val 8000"/>
            </a:avLst>
          </a:prstGeom>
          <a:solidFill>
            <a:schemeClr val="accent2">
              <a:alpha val="10000"/>
            </a:schemeClr>
          </a:solidFill>
          <a:ln/>
        </p:spPr>
      </p:sp>
      <p:sp>
        <p:nvSpPr>
          <p:cNvPr id="13" name="Text 9"/>
          <p:cNvSpPr txBox="1"/>
          <p:nvPr/>
        </p:nvSpPr>
        <p:spPr>
          <a:xfrm>
            <a:off x="6720840" y="2103120"/>
            <a:ext cx="4754880" cy="914400"/>
          </a:xfrm>
          <a:prstGeom prst="rect">
            <a:avLst/>
          </a:prstGeom>
          <a:noFill/>
          <a:ln/>
        </p:spPr>
        <p:txBody>
          <a:bodyPr wrap="square" lIns="0" tIns="0" rIns="0" bIns="0" rtlCol="0" anchor="ctr"/>
          <a:lstStyle/>
          <a:p>
            <a:pPr indent="0" marL="0">
              <a:buNone/>
            </a:pPr>
            <a:r>
              <a:rPr lang="en-US" sz="1400" dirty="0">
                <a:solidFill>
                  <a:schemeClr val="tx1"/>
                </a:solidFill>
              </a:rPr>
              <a:t>Replanificación sobre el requerimiento asignado, sin perder el propósito original.</a:t>
            </a:r>
            <a:endParaRPr lang="en-US" sz="1400" dirty="0"/>
          </a:p>
        </p:txBody>
      </p:sp>
      <p:sp>
        <p:nvSpPr>
          <p:cNvPr id="14" name="Shape 10"/>
          <p:cNvSpPr/>
          <p:nvPr/>
        </p:nvSpPr>
        <p:spPr>
          <a:xfrm>
            <a:off x="548640" y="3154680"/>
            <a:ext cx="5440680" cy="914400"/>
          </a:xfrm>
          <a:prstGeom prst="roundRect">
            <a:avLst>
              <a:gd name="adj" fmla="val 8000"/>
            </a:avLst>
          </a:prstGeom>
          <a:solidFill>
            <a:schemeClr val="bg1"/>
          </a:solidFill>
          <a:ln/>
          <a:effectLst>
            <a:outerShdw sx="100000" sy="100000" kx="0" ky="0" algn="bl" rotWithShape="0" blurRad="76200" dist="25400" dir="5400000">
              <a:srgbClr val="1F2933">
                <a:alpha val="10000"/>
              </a:srgbClr>
            </a:outerShdw>
          </a:effectLst>
        </p:spPr>
      </p:sp>
      <p:sp>
        <p:nvSpPr>
          <p:cNvPr id="15" name="Shape 11"/>
          <p:cNvSpPr/>
          <p:nvPr/>
        </p:nvSpPr>
        <p:spPr>
          <a:xfrm>
            <a:off x="749808" y="3337560"/>
            <a:ext cx="548640" cy="548640"/>
          </a:xfrm>
          <a:prstGeom prst="ellipse">
            <a:avLst/>
          </a:prstGeom>
          <a:solidFill>
            <a:srgbClr val="C0392B"/>
          </a:solidFill>
          <a:ln/>
        </p:spPr>
      </p:sp>
      <p:pic>
        <p:nvPicPr>
          <p:cNvPr id="16" name="Image 2" descr="preencoded.png">    </p:cNvPr>
          <p:cNvPicPr>
            <a:picLocks noChangeAspect="1"/>
          </p:cNvPicPr>
          <p:nvPr/>
        </p:nvPicPr>
        <p:blipFill>
          <a:blip r:embed="rId3"/>
          <a:stretch>
            <a:fillRect/>
          </a:stretch>
        </p:blipFill>
        <p:spPr>
          <a:xfrm>
            <a:off x="886968" y="3474720"/>
            <a:ext cx="274320" cy="274320"/>
          </a:xfrm>
          <a:prstGeom prst="rect">
            <a:avLst/>
          </a:prstGeom>
        </p:spPr>
      </p:pic>
      <p:sp>
        <p:nvSpPr>
          <p:cNvPr id="17" name="Text 12"/>
          <p:cNvSpPr txBox="1"/>
          <p:nvPr/>
        </p:nvSpPr>
        <p:spPr>
          <a:xfrm>
            <a:off x="1463040" y="3264408"/>
            <a:ext cx="4389120" cy="329184"/>
          </a:xfrm>
          <a:prstGeom prst="rect">
            <a:avLst/>
          </a:prstGeom>
          <a:noFill/>
          <a:ln/>
        </p:spPr>
        <p:txBody>
          <a:bodyPr wrap="square" lIns="0" tIns="0" rIns="0" bIns="0" rtlCol="0" anchor="t"/>
          <a:lstStyle/>
          <a:p>
            <a:pPr indent="0" marL="0">
              <a:buNone/>
            </a:pPr>
            <a:r>
              <a:rPr lang="en-US" sz="1500" b="1" dirty="0">
                <a:solidFill>
                  <a:schemeClr val="tx1"/>
                </a:solidFill>
              </a:rPr>
              <a:t>Sin acceso a un ERP real</a:t>
            </a:r>
            <a:endParaRPr lang="en-US" sz="1500" dirty="0"/>
          </a:p>
        </p:txBody>
      </p:sp>
      <p:sp>
        <p:nvSpPr>
          <p:cNvPr id="18" name="Text 13"/>
          <p:cNvSpPr txBox="1"/>
          <p:nvPr/>
        </p:nvSpPr>
        <p:spPr>
          <a:xfrm>
            <a:off x="1463040" y="3611880"/>
            <a:ext cx="4389120" cy="384048"/>
          </a:xfrm>
          <a:prstGeom prst="rect">
            <a:avLst/>
          </a:prstGeom>
          <a:noFill/>
          <a:ln/>
        </p:spPr>
        <p:txBody>
          <a:bodyPr wrap="square" lIns="0" tIns="0" rIns="0" bIns="0" rtlCol="0" anchor="t"/>
          <a:lstStyle/>
          <a:p>
            <a:pPr indent="0" marL="0">
              <a:buNone/>
            </a:pPr>
            <a:r>
              <a:rPr lang="en-US" sz="1200" dirty="0">
                <a:solidFill>
                  <a:schemeClr val="accent4"/>
                </a:solidFill>
              </a:rPr>
              <a:t>No había un SAP u Oracle disponible para pruebas.</a:t>
            </a:r>
            <a:endParaRPr lang="en-US" sz="1200" dirty="0"/>
          </a:p>
        </p:txBody>
      </p:sp>
      <p:pic>
        <p:nvPicPr>
          <p:cNvPr id="19" name="Image 3" descr="preencoded.png">    </p:cNvPr>
          <p:cNvPicPr>
            <a:picLocks noChangeAspect="1"/>
          </p:cNvPicPr>
          <p:nvPr/>
        </p:nvPicPr>
        <p:blipFill>
          <a:blip r:embed="rId4"/>
          <a:stretch>
            <a:fillRect/>
          </a:stretch>
        </p:blipFill>
        <p:spPr>
          <a:xfrm>
            <a:off x="6126480" y="3493008"/>
            <a:ext cx="237744" cy="237744"/>
          </a:xfrm>
          <a:prstGeom prst="rect">
            <a:avLst/>
          </a:prstGeom>
        </p:spPr>
      </p:pic>
      <p:sp>
        <p:nvSpPr>
          <p:cNvPr id="20" name="Shape 14"/>
          <p:cNvSpPr/>
          <p:nvPr/>
        </p:nvSpPr>
        <p:spPr>
          <a:xfrm>
            <a:off x="6492240" y="3154680"/>
            <a:ext cx="5148072" cy="914400"/>
          </a:xfrm>
          <a:prstGeom prst="roundRect">
            <a:avLst>
              <a:gd name="adj" fmla="val 8000"/>
            </a:avLst>
          </a:prstGeom>
          <a:solidFill>
            <a:schemeClr val="accent2">
              <a:alpha val="10000"/>
            </a:schemeClr>
          </a:solidFill>
          <a:ln/>
        </p:spPr>
      </p:sp>
      <p:sp>
        <p:nvSpPr>
          <p:cNvPr id="21" name="Text 15"/>
          <p:cNvSpPr txBox="1"/>
          <p:nvPr/>
        </p:nvSpPr>
        <p:spPr>
          <a:xfrm>
            <a:off x="6720840" y="3154680"/>
            <a:ext cx="4754880" cy="914400"/>
          </a:xfrm>
          <a:prstGeom prst="rect">
            <a:avLst/>
          </a:prstGeom>
          <a:noFill/>
          <a:ln/>
        </p:spPr>
        <p:txBody>
          <a:bodyPr wrap="square" lIns="0" tIns="0" rIns="0" bIns="0" rtlCol="0" anchor="ctr"/>
          <a:lstStyle/>
          <a:p>
            <a:pPr indent="0" marL="0">
              <a:buNone/>
            </a:pPr>
            <a:r>
              <a:rPr lang="en-US" sz="1400" dirty="0">
                <a:solidFill>
                  <a:schemeClr val="tx1"/>
                </a:solidFill>
              </a:rPr>
              <a:t>Fuente simulada que imita SAP PM y conectores con un contrato común.</a:t>
            </a:r>
            <a:endParaRPr lang="en-US" sz="1400" dirty="0"/>
          </a:p>
        </p:txBody>
      </p:sp>
      <p:sp>
        <p:nvSpPr>
          <p:cNvPr id="22" name="Shape 16"/>
          <p:cNvSpPr/>
          <p:nvPr/>
        </p:nvSpPr>
        <p:spPr>
          <a:xfrm>
            <a:off x="548640" y="4206240"/>
            <a:ext cx="5440680" cy="914400"/>
          </a:xfrm>
          <a:prstGeom prst="roundRect">
            <a:avLst>
              <a:gd name="adj" fmla="val 8000"/>
            </a:avLst>
          </a:prstGeom>
          <a:solidFill>
            <a:schemeClr val="bg1"/>
          </a:solidFill>
          <a:ln/>
          <a:effectLst>
            <a:outerShdw sx="100000" sy="100000" kx="0" ky="0" algn="bl" rotWithShape="0" blurRad="76200" dist="25400" dir="5400000">
              <a:srgbClr val="1F2933">
                <a:alpha val="10000"/>
              </a:srgbClr>
            </a:outerShdw>
          </a:effectLst>
        </p:spPr>
      </p:sp>
      <p:sp>
        <p:nvSpPr>
          <p:cNvPr id="23" name="Shape 17"/>
          <p:cNvSpPr/>
          <p:nvPr/>
        </p:nvSpPr>
        <p:spPr>
          <a:xfrm>
            <a:off x="749808" y="4389120"/>
            <a:ext cx="548640" cy="548640"/>
          </a:xfrm>
          <a:prstGeom prst="ellipse">
            <a:avLst/>
          </a:prstGeom>
          <a:solidFill>
            <a:srgbClr val="C0392B"/>
          </a:solidFill>
          <a:ln/>
        </p:spPr>
      </p:sp>
      <p:pic>
        <p:nvPicPr>
          <p:cNvPr id="24" name="Image 4" descr="preencoded.png">    </p:cNvPr>
          <p:cNvPicPr>
            <a:picLocks noChangeAspect="1"/>
          </p:cNvPicPr>
          <p:nvPr/>
        </p:nvPicPr>
        <p:blipFill>
          <a:blip r:embed="rId5"/>
          <a:stretch>
            <a:fillRect/>
          </a:stretch>
        </p:blipFill>
        <p:spPr>
          <a:xfrm>
            <a:off x="886968" y="4526280"/>
            <a:ext cx="274320" cy="274320"/>
          </a:xfrm>
          <a:prstGeom prst="rect">
            <a:avLst/>
          </a:prstGeom>
        </p:spPr>
      </p:pic>
      <p:sp>
        <p:nvSpPr>
          <p:cNvPr id="25" name="Text 18"/>
          <p:cNvSpPr txBox="1"/>
          <p:nvPr/>
        </p:nvSpPr>
        <p:spPr>
          <a:xfrm>
            <a:off x="1463040" y="4315968"/>
            <a:ext cx="4389120" cy="329184"/>
          </a:xfrm>
          <a:prstGeom prst="rect">
            <a:avLst/>
          </a:prstGeom>
          <a:noFill/>
          <a:ln/>
        </p:spPr>
        <p:txBody>
          <a:bodyPr wrap="square" lIns="0" tIns="0" rIns="0" bIns="0" rtlCol="0" anchor="t"/>
          <a:lstStyle/>
          <a:p>
            <a:pPr indent="0" marL="0">
              <a:buNone/>
            </a:pPr>
            <a:r>
              <a:rPr lang="en-US" sz="1500" b="1" dirty="0">
                <a:solidFill>
                  <a:schemeClr val="tx1"/>
                </a:solidFill>
              </a:rPr>
              <a:t>Esquema heredado en uso</a:t>
            </a:r>
            <a:endParaRPr lang="en-US" sz="1500" dirty="0"/>
          </a:p>
        </p:txBody>
      </p:sp>
      <p:sp>
        <p:nvSpPr>
          <p:cNvPr id="26" name="Text 19"/>
          <p:cNvSpPr txBox="1"/>
          <p:nvPr/>
        </p:nvSpPr>
        <p:spPr>
          <a:xfrm>
            <a:off x="1463040" y="4663440"/>
            <a:ext cx="4389120" cy="384048"/>
          </a:xfrm>
          <a:prstGeom prst="rect">
            <a:avLst/>
          </a:prstGeom>
          <a:noFill/>
          <a:ln/>
        </p:spPr>
        <p:txBody>
          <a:bodyPr wrap="square" lIns="0" tIns="0" rIns="0" bIns="0" rtlCol="0" anchor="t"/>
          <a:lstStyle/>
          <a:p>
            <a:pPr indent="0" marL="0">
              <a:buNone/>
            </a:pPr>
            <a:r>
              <a:rPr lang="en-US" sz="1200" dirty="0">
                <a:solidFill>
                  <a:schemeClr val="accent4"/>
                </a:solidFill>
              </a:rPr>
              <a:t>Deuda técnica previa: aislamiento entre empresas y estados de OT.</a:t>
            </a:r>
            <a:endParaRPr lang="en-US" sz="1200" dirty="0"/>
          </a:p>
        </p:txBody>
      </p:sp>
      <p:pic>
        <p:nvPicPr>
          <p:cNvPr id="27" name="Image 5" descr="preencoded.png">    </p:cNvPr>
          <p:cNvPicPr>
            <a:picLocks noChangeAspect="1"/>
          </p:cNvPicPr>
          <p:nvPr/>
        </p:nvPicPr>
        <p:blipFill>
          <a:blip r:embed="rId6"/>
          <a:stretch>
            <a:fillRect/>
          </a:stretch>
        </p:blipFill>
        <p:spPr>
          <a:xfrm>
            <a:off x="6126480" y="4544568"/>
            <a:ext cx="237744" cy="237744"/>
          </a:xfrm>
          <a:prstGeom prst="rect">
            <a:avLst/>
          </a:prstGeom>
        </p:spPr>
      </p:pic>
      <p:sp>
        <p:nvSpPr>
          <p:cNvPr id="28" name="Shape 20"/>
          <p:cNvSpPr/>
          <p:nvPr/>
        </p:nvSpPr>
        <p:spPr>
          <a:xfrm>
            <a:off x="6492240" y="4206240"/>
            <a:ext cx="5148072" cy="914400"/>
          </a:xfrm>
          <a:prstGeom prst="roundRect">
            <a:avLst>
              <a:gd name="adj" fmla="val 8000"/>
            </a:avLst>
          </a:prstGeom>
          <a:solidFill>
            <a:schemeClr val="accent2">
              <a:alpha val="10000"/>
            </a:schemeClr>
          </a:solidFill>
          <a:ln/>
        </p:spPr>
      </p:sp>
      <p:sp>
        <p:nvSpPr>
          <p:cNvPr id="29" name="Text 21"/>
          <p:cNvSpPr txBox="1"/>
          <p:nvPr/>
        </p:nvSpPr>
        <p:spPr>
          <a:xfrm>
            <a:off x="6720840" y="4206240"/>
            <a:ext cx="4754880" cy="914400"/>
          </a:xfrm>
          <a:prstGeom prst="rect">
            <a:avLst/>
          </a:prstGeom>
          <a:noFill/>
          <a:ln/>
        </p:spPr>
        <p:txBody>
          <a:bodyPr wrap="square" lIns="0" tIns="0" rIns="0" bIns="0" rtlCol="0" anchor="ctr"/>
          <a:lstStyle/>
          <a:p>
            <a:pPr indent="0" marL="0">
              <a:buNone/>
            </a:pPr>
            <a:r>
              <a:rPr lang="en-US" sz="1400" dirty="0">
                <a:solidFill>
                  <a:schemeClr val="tx1"/>
                </a:solidFill>
              </a:rPr>
              <a:t>Solo migraciones aditivas; la deuda se documentó sin intervenirla sin aprobación.</a:t>
            </a:r>
            <a:endParaRPr lang="en-US" sz="1400" dirty="0"/>
          </a:p>
        </p:txBody>
      </p:sp>
      <p:sp>
        <p:nvSpPr>
          <p:cNvPr id="30" name="Shape 22"/>
          <p:cNvSpPr/>
          <p:nvPr/>
        </p:nvSpPr>
        <p:spPr>
          <a:xfrm>
            <a:off x="548640" y="5257800"/>
            <a:ext cx="5440680" cy="914400"/>
          </a:xfrm>
          <a:prstGeom prst="roundRect">
            <a:avLst>
              <a:gd name="adj" fmla="val 8000"/>
            </a:avLst>
          </a:prstGeom>
          <a:solidFill>
            <a:schemeClr val="bg1"/>
          </a:solidFill>
          <a:ln/>
          <a:effectLst>
            <a:outerShdw sx="100000" sy="100000" kx="0" ky="0" algn="bl" rotWithShape="0" blurRad="76200" dist="25400" dir="5400000">
              <a:srgbClr val="1F2933">
                <a:alpha val="10000"/>
              </a:srgbClr>
            </a:outerShdw>
          </a:effectLst>
        </p:spPr>
      </p:sp>
      <p:sp>
        <p:nvSpPr>
          <p:cNvPr id="31" name="Shape 23"/>
          <p:cNvSpPr/>
          <p:nvPr/>
        </p:nvSpPr>
        <p:spPr>
          <a:xfrm>
            <a:off x="749808" y="5440680"/>
            <a:ext cx="548640" cy="548640"/>
          </a:xfrm>
          <a:prstGeom prst="ellipse">
            <a:avLst/>
          </a:prstGeom>
          <a:solidFill>
            <a:srgbClr val="C0392B"/>
          </a:solidFill>
          <a:ln/>
        </p:spPr>
      </p:sp>
      <p:pic>
        <p:nvPicPr>
          <p:cNvPr id="32" name="Image 6" descr="preencoded.png">    </p:cNvPr>
          <p:cNvPicPr>
            <a:picLocks noChangeAspect="1"/>
          </p:cNvPicPr>
          <p:nvPr/>
        </p:nvPicPr>
        <p:blipFill>
          <a:blip r:embed="rId7"/>
          <a:stretch>
            <a:fillRect/>
          </a:stretch>
        </p:blipFill>
        <p:spPr>
          <a:xfrm>
            <a:off x="886968" y="5577840"/>
            <a:ext cx="274320" cy="274320"/>
          </a:xfrm>
          <a:prstGeom prst="rect">
            <a:avLst/>
          </a:prstGeom>
        </p:spPr>
      </p:pic>
      <p:sp>
        <p:nvSpPr>
          <p:cNvPr id="33" name="Text 24"/>
          <p:cNvSpPr txBox="1"/>
          <p:nvPr/>
        </p:nvSpPr>
        <p:spPr>
          <a:xfrm>
            <a:off x="1463040" y="5367528"/>
            <a:ext cx="4389120" cy="329184"/>
          </a:xfrm>
          <a:prstGeom prst="rect">
            <a:avLst/>
          </a:prstGeom>
          <a:noFill/>
          <a:ln/>
        </p:spPr>
        <p:txBody>
          <a:bodyPr wrap="square" lIns="0" tIns="0" rIns="0" bIns="0" rtlCol="0" anchor="t"/>
          <a:lstStyle/>
          <a:p>
            <a:pPr indent="0" marL="0">
              <a:buNone/>
            </a:pPr>
            <a:r>
              <a:rPr lang="en-US" sz="1500" b="1" dirty="0">
                <a:solidFill>
                  <a:schemeClr val="tx1"/>
                </a:solidFill>
              </a:rPr>
              <a:t>Códigos distintos por ERP y cliente</a:t>
            </a:r>
            <a:endParaRPr lang="en-US" sz="1500" dirty="0"/>
          </a:p>
        </p:txBody>
      </p:sp>
      <p:sp>
        <p:nvSpPr>
          <p:cNvPr id="34" name="Text 25"/>
          <p:cNvSpPr txBox="1"/>
          <p:nvPr/>
        </p:nvSpPr>
        <p:spPr>
          <a:xfrm>
            <a:off x="1463040" y="5715000"/>
            <a:ext cx="4389120" cy="384048"/>
          </a:xfrm>
          <a:prstGeom prst="rect">
            <a:avLst/>
          </a:prstGeom>
          <a:noFill/>
          <a:ln/>
        </p:spPr>
        <p:txBody>
          <a:bodyPr wrap="square" lIns="0" tIns="0" rIns="0" bIns="0" rtlCol="0" anchor="t"/>
          <a:lstStyle/>
          <a:p>
            <a:pPr indent="0" marL="0">
              <a:buNone/>
            </a:pPr>
            <a:r>
              <a:rPr lang="en-US" sz="1200" dirty="0">
                <a:solidFill>
                  <a:schemeClr val="accent4"/>
                </a:solidFill>
              </a:rPr>
              <a:t>Cada sistema clasifica fallas a su manera.</a:t>
            </a:r>
            <a:endParaRPr lang="en-US" sz="1200" dirty="0"/>
          </a:p>
        </p:txBody>
      </p:sp>
      <p:pic>
        <p:nvPicPr>
          <p:cNvPr id="35" name="Image 7" descr="preencoded.png">    </p:cNvPr>
          <p:cNvPicPr>
            <a:picLocks noChangeAspect="1"/>
          </p:cNvPicPr>
          <p:nvPr/>
        </p:nvPicPr>
        <p:blipFill>
          <a:blip r:embed="rId8"/>
          <a:stretch>
            <a:fillRect/>
          </a:stretch>
        </p:blipFill>
        <p:spPr>
          <a:xfrm>
            <a:off x="6126480" y="5596128"/>
            <a:ext cx="237744" cy="237744"/>
          </a:xfrm>
          <a:prstGeom prst="rect">
            <a:avLst/>
          </a:prstGeom>
        </p:spPr>
      </p:pic>
      <p:sp>
        <p:nvSpPr>
          <p:cNvPr id="36" name="Shape 26"/>
          <p:cNvSpPr/>
          <p:nvPr/>
        </p:nvSpPr>
        <p:spPr>
          <a:xfrm>
            <a:off x="6492240" y="5257800"/>
            <a:ext cx="5148072" cy="914400"/>
          </a:xfrm>
          <a:prstGeom prst="roundRect">
            <a:avLst>
              <a:gd name="adj" fmla="val 8000"/>
            </a:avLst>
          </a:prstGeom>
          <a:solidFill>
            <a:schemeClr val="accent2">
              <a:alpha val="10000"/>
            </a:schemeClr>
          </a:solidFill>
          <a:ln/>
        </p:spPr>
      </p:sp>
      <p:sp>
        <p:nvSpPr>
          <p:cNvPr id="37" name="Text 27"/>
          <p:cNvSpPr txBox="1"/>
          <p:nvPr/>
        </p:nvSpPr>
        <p:spPr>
          <a:xfrm>
            <a:off x="6720840" y="5257800"/>
            <a:ext cx="4754880" cy="914400"/>
          </a:xfrm>
          <a:prstGeom prst="rect">
            <a:avLst/>
          </a:prstGeom>
          <a:noFill/>
          <a:ln/>
        </p:spPr>
        <p:txBody>
          <a:bodyPr wrap="square" lIns="0" tIns="0" rIns="0" bIns="0" rtlCol="0" anchor="ctr"/>
          <a:lstStyle/>
          <a:p>
            <a:pPr indent="0" marL="0">
              <a:buNone/>
            </a:pPr>
            <a:r>
              <a:rPr lang="en-US" sz="1400" dirty="0">
                <a:solidFill>
                  <a:schemeClr val="tx1"/>
                </a:solidFill>
              </a:rPr>
              <a:t>Traducción por tablas (MAPEO_CODIGO) y registro de rechazos trazable.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title" hasCustomPrompt="1"/>
          </p:nvPr>
        </p:nvSpPr>
        <p:spPr>
          <a:xfrm>
            <a:off x="548640" y="566928"/>
            <a:ext cx="8961120" cy="640080"/>
          </a:xfrm>
          <a:prstGeom prst="rect">
            <a:avLst/>
          </a:prstGeom>
          <a:noFill/>
          <a:ln/>
        </p:spPr>
        <p:txBody>
          <a:bodyPr wrap="square" lIns="0" tIns="0" rIns="0" bIns="0" rtlCol="0" anchor="ctr"/>
          <a:lstStyle/>
          <a:p>
            <a:pPr algn="l" indent="0" marL="0">
              <a:buNone/>
            </a:pPr>
            <a:r>
              <a:rPr lang="en-US" sz="3000" b="1" dirty="0">
                <a:solidFill>
                  <a:schemeClr val="tx1"/>
                </a:solidFill>
              </a:rPr>
              <a:t>Mejoras futuras</a:t>
            </a:r>
            <a:endParaRPr lang="en-US" sz="3000" dirty="0"/>
          </a:p>
        </p:txBody>
      </p:sp>
      <p:sp>
        <p:nvSpPr>
          <p:cNvPr id="3" name="Text 3"/>
          <p:cNvSpPr/>
          <p:nvPr>
            <p:ph idx="105" type="body" hasCustomPrompt="1"/>
          </p:nvPr>
        </p:nvSpPr>
        <p:spPr>
          <a:xfrm>
            <a:off x="548640" y="11887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Lo que habilita la base construida en este proyecto</a:t>
            </a:r>
            <a:endParaRPr lang="en-US" sz="1500" dirty="0"/>
          </a:p>
        </p:txBody>
      </p:sp>
      <p:sp>
        <p:nvSpPr>
          <p:cNvPr id="4" name="Shape 2"/>
          <p:cNvSpPr/>
          <p:nvPr/>
        </p:nvSpPr>
        <p:spPr>
          <a:xfrm>
            <a:off x="548640" y="1920240"/>
            <a:ext cx="2606040" cy="384048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5" name="Shape 3"/>
          <p:cNvSpPr/>
          <p:nvPr/>
        </p:nvSpPr>
        <p:spPr>
          <a:xfrm>
            <a:off x="1389888" y="2240280"/>
            <a:ext cx="914400" cy="914400"/>
          </a:xfrm>
          <a:prstGeom prst="ellipse">
            <a:avLst/>
          </a:prstGeom>
          <a:solidFill>
            <a:srgbClr val="E69B00"/>
          </a:solidFill>
          <a:ln/>
        </p:spPr>
      </p:sp>
      <p:pic>
        <p:nvPicPr>
          <p:cNvPr id="6" name="Image 0" descr="preencoded.png">    </p:cNvPr>
          <p:cNvPicPr>
            <a:picLocks noChangeAspect="1"/>
          </p:cNvPicPr>
          <p:nvPr/>
        </p:nvPicPr>
        <p:blipFill>
          <a:blip r:embed="rId1"/>
          <a:stretch>
            <a:fillRect/>
          </a:stretch>
        </p:blipFill>
        <p:spPr>
          <a:xfrm>
            <a:off x="1618488" y="2468880"/>
            <a:ext cx="457200" cy="457200"/>
          </a:xfrm>
          <a:prstGeom prst="rect">
            <a:avLst/>
          </a:prstGeom>
        </p:spPr>
      </p:pic>
      <p:sp>
        <p:nvSpPr>
          <p:cNvPr id="7" name="Text 4"/>
          <p:cNvSpPr txBox="1"/>
          <p:nvPr/>
        </p:nvSpPr>
        <p:spPr>
          <a:xfrm>
            <a:off x="731520" y="3383280"/>
            <a:ext cx="2240280" cy="640080"/>
          </a:xfrm>
          <a:prstGeom prst="rect">
            <a:avLst/>
          </a:prstGeom>
          <a:noFill/>
          <a:ln/>
        </p:spPr>
        <p:txBody>
          <a:bodyPr wrap="square" lIns="0" tIns="0" rIns="0" bIns="0" rtlCol="0" anchor="ctr"/>
          <a:lstStyle/>
          <a:p>
            <a:pPr algn="ctr" indent="0" marL="0">
              <a:buNone/>
            </a:pPr>
            <a:r>
              <a:rPr lang="en-US" sz="1700" b="1" dirty="0">
                <a:solidFill>
                  <a:schemeClr val="tx1"/>
                </a:solidFill>
              </a:rPr>
              <a:t>Conectores productivos</a:t>
            </a:r>
            <a:endParaRPr lang="en-US" sz="1700" dirty="0"/>
          </a:p>
        </p:txBody>
      </p:sp>
      <p:sp>
        <p:nvSpPr>
          <p:cNvPr id="8" name="Text 5"/>
          <p:cNvSpPr txBox="1"/>
          <p:nvPr/>
        </p:nvSpPr>
        <p:spPr>
          <a:xfrm>
            <a:off x="822960" y="4114800"/>
            <a:ext cx="2057400" cy="1554480"/>
          </a:xfrm>
          <a:prstGeom prst="rect">
            <a:avLst/>
          </a:prstGeom>
          <a:noFill/>
          <a:ln/>
        </p:spPr>
        <p:txBody>
          <a:bodyPr wrap="square" lIns="0" tIns="0" rIns="0" bIns="0" rtlCol="0" anchor="t"/>
          <a:lstStyle/>
          <a:p>
            <a:pPr indent="0" marL="0">
              <a:buNone/>
            </a:pPr>
            <a:r>
              <a:rPr lang="en-US" sz="1400" dirty="0">
                <a:solidFill>
                  <a:schemeClr val="accent4"/>
                </a:solidFill>
              </a:rPr>
              <a:t>SAP PM vía OData, Oracle EAM y la API de Fracttal One sobre ERP reales de clientes.</a:t>
            </a:r>
            <a:endParaRPr lang="en-US" sz="1400" dirty="0"/>
          </a:p>
        </p:txBody>
      </p:sp>
      <p:sp>
        <p:nvSpPr>
          <p:cNvPr id="9" name="Shape 6"/>
          <p:cNvSpPr/>
          <p:nvPr/>
        </p:nvSpPr>
        <p:spPr>
          <a:xfrm>
            <a:off x="3364992" y="1920240"/>
            <a:ext cx="2606040" cy="384048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10" name="Shape 7"/>
          <p:cNvSpPr/>
          <p:nvPr/>
        </p:nvSpPr>
        <p:spPr>
          <a:xfrm>
            <a:off x="4206240" y="2240280"/>
            <a:ext cx="914400" cy="914400"/>
          </a:xfrm>
          <a:prstGeom prst="ellipse">
            <a:avLst/>
          </a:prstGeom>
          <a:solidFill>
            <a:srgbClr val="E69B00"/>
          </a:solidFill>
          <a:ln/>
        </p:spPr>
      </p:sp>
      <p:pic>
        <p:nvPicPr>
          <p:cNvPr id="11" name="Image 1" descr="preencoded.png">    </p:cNvPr>
          <p:cNvPicPr>
            <a:picLocks noChangeAspect="1"/>
          </p:cNvPicPr>
          <p:nvPr/>
        </p:nvPicPr>
        <p:blipFill>
          <a:blip r:embed="rId2"/>
          <a:stretch>
            <a:fillRect/>
          </a:stretch>
        </p:blipFill>
        <p:spPr>
          <a:xfrm>
            <a:off x="4434840" y="2468880"/>
            <a:ext cx="457200" cy="457200"/>
          </a:xfrm>
          <a:prstGeom prst="rect">
            <a:avLst/>
          </a:prstGeom>
        </p:spPr>
      </p:pic>
      <p:sp>
        <p:nvSpPr>
          <p:cNvPr id="12" name="Text 8"/>
          <p:cNvSpPr txBox="1"/>
          <p:nvPr/>
        </p:nvSpPr>
        <p:spPr>
          <a:xfrm>
            <a:off x="3547872" y="3383280"/>
            <a:ext cx="2240280" cy="640080"/>
          </a:xfrm>
          <a:prstGeom prst="rect">
            <a:avLst/>
          </a:prstGeom>
          <a:noFill/>
          <a:ln/>
        </p:spPr>
        <p:txBody>
          <a:bodyPr wrap="square" lIns="0" tIns="0" rIns="0" bIns="0" rtlCol="0" anchor="ctr"/>
          <a:lstStyle/>
          <a:p>
            <a:pPr algn="ctr" indent="0" marL="0">
              <a:buNone/>
            </a:pPr>
            <a:r>
              <a:rPr lang="en-US" sz="1700" b="1" dirty="0">
                <a:solidFill>
                  <a:schemeClr val="tx1"/>
                </a:solidFill>
              </a:rPr>
              <a:t>Modelo predictivo</a:t>
            </a:r>
            <a:endParaRPr lang="en-US" sz="1700" dirty="0"/>
          </a:p>
        </p:txBody>
      </p:sp>
      <p:sp>
        <p:nvSpPr>
          <p:cNvPr id="13" name="Text 9"/>
          <p:cNvSpPr txBox="1"/>
          <p:nvPr/>
        </p:nvSpPr>
        <p:spPr>
          <a:xfrm>
            <a:off x="3639312" y="4114800"/>
            <a:ext cx="2057400" cy="1554480"/>
          </a:xfrm>
          <a:prstGeom prst="rect">
            <a:avLst/>
          </a:prstGeom>
          <a:noFill/>
          <a:ln/>
        </p:spPr>
        <p:txBody>
          <a:bodyPr wrap="square" lIns="0" tIns="0" rIns="0" bIns="0" rtlCol="0" anchor="t"/>
          <a:lstStyle/>
          <a:p>
            <a:pPr indent="0" marL="0">
              <a:buNone/>
            </a:pPr>
            <a:r>
              <a:rPr lang="en-US" sz="1400" dirty="0">
                <a:solidFill>
                  <a:schemeClr val="accent4"/>
                </a:solidFill>
              </a:rPr>
              <a:t>Análisis de supervivencia sobre los eventos de falla para estimar la probabilidad de falla por máquina.</a:t>
            </a:r>
            <a:endParaRPr lang="en-US" sz="1400" dirty="0"/>
          </a:p>
        </p:txBody>
      </p:sp>
      <p:sp>
        <p:nvSpPr>
          <p:cNvPr id="14" name="Shape 10"/>
          <p:cNvSpPr/>
          <p:nvPr/>
        </p:nvSpPr>
        <p:spPr>
          <a:xfrm>
            <a:off x="6181344" y="1920240"/>
            <a:ext cx="2606040" cy="384048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15" name="Shape 11"/>
          <p:cNvSpPr/>
          <p:nvPr/>
        </p:nvSpPr>
        <p:spPr>
          <a:xfrm>
            <a:off x="7022592" y="2240280"/>
            <a:ext cx="914400" cy="914400"/>
          </a:xfrm>
          <a:prstGeom prst="ellipse">
            <a:avLst/>
          </a:prstGeom>
          <a:solidFill>
            <a:srgbClr val="E69B00"/>
          </a:solidFill>
          <a:ln/>
        </p:spPr>
      </p:sp>
      <p:pic>
        <p:nvPicPr>
          <p:cNvPr id="16" name="Image 2" descr="preencoded.png">    </p:cNvPr>
          <p:cNvPicPr>
            <a:picLocks noChangeAspect="1"/>
          </p:cNvPicPr>
          <p:nvPr/>
        </p:nvPicPr>
        <p:blipFill>
          <a:blip r:embed="rId3"/>
          <a:stretch>
            <a:fillRect/>
          </a:stretch>
        </p:blipFill>
        <p:spPr>
          <a:xfrm>
            <a:off x="7251192" y="2468880"/>
            <a:ext cx="457200" cy="457200"/>
          </a:xfrm>
          <a:prstGeom prst="rect">
            <a:avLst/>
          </a:prstGeom>
        </p:spPr>
      </p:pic>
      <p:sp>
        <p:nvSpPr>
          <p:cNvPr id="17" name="Text 12"/>
          <p:cNvSpPr txBox="1"/>
          <p:nvPr/>
        </p:nvSpPr>
        <p:spPr>
          <a:xfrm>
            <a:off x="6364224" y="3383280"/>
            <a:ext cx="2240280" cy="640080"/>
          </a:xfrm>
          <a:prstGeom prst="rect">
            <a:avLst/>
          </a:prstGeom>
          <a:noFill/>
          <a:ln/>
        </p:spPr>
        <p:txBody>
          <a:bodyPr wrap="square" lIns="0" tIns="0" rIns="0" bIns="0" rtlCol="0" anchor="ctr"/>
          <a:lstStyle/>
          <a:p>
            <a:pPr algn="ctr" indent="0" marL="0">
              <a:buNone/>
            </a:pPr>
            <a:r>
              <a:rPr lang="en-US" sz="1700" b="1" dirty="0">
                <a:solidFill>
                  <a:schemeClr val="tx1"/>
                </a:solidFill>
              </a:rPr>
              <a:t>Mapeo asistido por IA</a:t>
            </a:r>
            <a:endParaRPr lang="en-US" sz="1700" dirty="0"/>
          </a:p>
        </p:txBody>
      </p:sp>
      <p:sp>
        <p:nvSpPr>
          <p:cNvPr id="18" name="Text 13"/>
          <p:cNvSpPr txBox="1"/>
          <p:nvPr/>
        </p:nvSpPr>
        <p:spPr>
          <a:xfrm>
            <a:off x="6455664" y="4114800"/>
            <a:ext cx="2057400" cy="1554480"/>
          </a:xfrm>
          <a:prstGeom prst="rect">
            <a:avLst/>
          </a:prstGeom>
          <a:noFill/>
          <a:ln/>
        </p:spPr>
        <p:txBody>
          <a:bodyPr wrap="square" lIns="0" tIns="0" rIns="0" bIns="0" rtlCol="0" anchor="t"/>
          <a:lstStyle/>
          <a:p>
            <a:pPr indent="0" marL="0">
              <a:buNone/>
            </a:pPr>
            <a:r>
              <a:rPr lang="en-US" sz="1400" dirty="0">
                <a:solidFill>
                  <a:schemeClr val="accent4"/>
                </a:solidFill>
              </a:rPr>
              <a:t>Sugerir equivalencias entre los códigos de un ERP nuevo y el catálogo de Barb.</a:t>
            </a:r>
            <a:endParaRPr lang="en-US" sz="1400" dirty="0"/>
          </a:p>
        </p:txBody>
      </p:sp>
      <p:sp>
        <p:nvSpPr>
          <p:cNvPr id="19" name="Shape 14"/>
          <p:cNvSpPr/>
          <p:nvPr/>
        </p:nvSpPr>
        <p:spPr>
          <a:xfrm>
            <a:off x="8997696" y="1920240"/>
            <a:ext cx="2606040" cy="3840480"/>
          </a:xfrm>
          <a:prstGeom prst="roundRect">
            <a:avLst>
              <a:gd name="adj" fmla="val 2807"/>
            </a:avLst>
          </a:prstGeom>
          <a:solidFill>
            <a:schemeClr val="bg1"/>
          </a:solidFill>
          <a:ln/>
          <a:effectLst>
            <a:outerShdw sx="100000" sy="100000" kx="0" ky="0" algn="bl" rotWithShape="0" blurRad="76200" dist="25400" dir="5400000">
              <a:srgbClr val="1F2933">
                <a:alpha val="10000"/>
              </a:srgbClr>
            </a:outerShdw>
          </a:effectLst>
        </p:spPr>
      </p:sp>
      <p:sp>
        <p:nvSpPr>
          <p:cNvPr id="20" name="Shape 15"/>
          <p:cNvSpPr/>
          <p:nvPr/>
        </p:nvSpPr>
        <p:spPr>
          <a:xfrm>
            <a:off x="9838944" y="2240280"/>
            <a:ext cx="914400" cy="914400"/>
          </a:xfrm>
          <a:prstGeom prst="ellipse">
            <a:avLst/>
          </a:prstGeom>
          <a:solidFill>
            <a:srgbClr val="E69B00"/>
          </a:solidFill>
          <a:ln/>
        </p:spPr>
      </p:sp>
      <p:pic>
        <p:nvPicPr>
          <p:cNvPr id="21" name="Image 3" descr="preencoded.png">    </p:cNvPr>
          <p:cNvPicPr>
            <a:picLocks noChangeAspect="1"/>
          </p:cNvPicPr>
          <p:nvPr/>
        </p:nvPicPr>
        <p:blipFill>
          <a:blip r:embed="rId4"/>
          <a:stretch>
            <a:fillRect/>
          </a:stretch>
        </p:blipFill>
        <p:spPr>
          <a:xfrm>
            <a:off x="10067544" y="2468880"/>
            <a:ext cx="457200" cy="457200"/>
          </a:xfrm>
          <a:prstGeom prst="rect">
            <a:avLst/>
          </a:prstGeom>
        </p:spPr>
      </p:pic>
      <p:sp>
        <p:nvSpPr>
          <p:cNvPr id="22" name="Text 16"/>
          <p:cNvSpPr txBox="1"/>
          <p:nvPr/>
        </p:nvSpPr>
        <p:spPr>
          <a:xfrm>
            <a:off x="9180576" y="3383280"/>
            <a:ext cx="2240280" cy="640080"/>
          </a:xfrm>
          <a:prstGeom prst="rect">
            <a:avLst/>
          </a:prstGeom>
          <a:noFill/>
          <a:ln/>
        </p:spPr>
        <p:txBody>
          <a:bodyPr wrap="square" lIns="0" tIns="0" rIns="0" bIns="0" rtlCol="0" anchor="ctr"/>
          <a:lstStyle/>
          <a:p>
            <a:pPr algn="ctr" indent="0" marL="0">
              <a:buNone/>
            </a:pPr>
            <a:r>
              <a:rPr lang="en-US" sz="1700" b="1" dirty="0">
                <a:solidFill>
                  <a:schemeClr val="tx1"/>
                </a:solidFill>
              </a:rPr>
              <a:t>Deuda técnica</a:t>
            </a:r>
            <a:endParaRPr lang="en-US" sz="1700" dirty="0"/>
          </a:p>
        </p:txBody>
      </p:sp>
      <p:sp>
        <p:nvSpPr>
          <p:cNvPr id="23" name="Text 17"/>
          <p:cNvSpPr txBox="1"/>
          <p:nvPr/>
        </p:nvSpPr>
        <p:spPr>
          <a:xfrm>
            <a:off x="9272016" y="4114800"/>
            <a:ext cx="2057400" cy="1554480"/>
          </a:xfrm>
          <a:prstGeom prst="rect">
            <a:avLst/>
          </a:prstGeom>
          <a:noFill/>
          <a:ln/>
        </p:spPr>
        <p:txBody>
          <a:bodyPr wrap="square" lIns="0" tIns="0" rIns="0" bIns="0" rtlCol="0" anchor="t"/>
          <a:lstStyle/>
          <a:p>
            <a:pPr indent="0" marL="0">
              <a:buNone/>
            </a:pPr>
            <a:r>
              <a:rPr lang="en-US" sz="1400" dirty="0">
                <a:solidFill>
                  <a:schemeClr val="accent4"/>
                </a:solidFill>
              </a:rPr>
              <a:t>Completar el aislamiento entre empresas y alinear los estados de OT.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640080"/>
            <a:ext cx="54864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SÍNTESIS Y CIERRE</a:t>
            </a:r>
            <a:endParaRPr lang="en-US" sz="1200" dirty="0"/>
          </a:p>
        </p:txBody>
      </p:sp>
      <p:sp>
        <p:nvSpPr>
          <p:cNvPr id="3" name="Text 1"/>
          <p:cNvSpPr txBox="1"/>
          <p:nvPr/>
        </p:nvSpPr>
        <p:spPr>
          <a:xfrm>
            <a:off x="731520" y="960120"/>
            <a:ext cx="6400800" cy="685800"/>
          </a:xfrm>
          <a:prstGeom prst="rect">
            <a:avLst/>
          </a:prstGeom>
          <a:noFill/>
          <a:ln/>
        </p:spPr>
        <p:txBody>
          <a:bodyPr wrap="square" lIns="0" tIns="0" rIns="0" bIns="0" rtlCol="0" anchor="t"/>
          <a:lstStyle/>
          <a:p>
            <a:pPr indent="0" marL="0">
              <a:buNone/>
            </a:pPr>
            <a:r>
              <a:rPr lang="en-US" sz="3400" b="1" dirty="0">
                <a:solidFill>
                  <a:schemeClr val="bg1"/>
                </a:solidFill>
              </a:rPr>
              <a:t>Conclusiones</a:t>
            </a:r>
            <a:endParaRPr lang="en-US" sz="3400" dirty="0"/>
          </a:p>
        </p:txBody>
      </p:sp>
      <p:pic>
        <p:nvPicPr>
          <p:cNvPr id="4" name="Image 0" descr="preencoded.png">    </p:cNvPr>
          <p:cNvPicPr>
            <a:picLocks noChangeAspect="1"/>
          </p:cNvPicPr>
          <p:nvPr/>
        </p:nvPicPr>
        <p:blipFill>
          <a:blip r:embed="rId1"/>
          <a:stretch>
            <a:fillRect/>
          </a:stretch>
        </p:blipFill>
        <p:spPr>
          <a:xfrm>
            <a:off x="731520" y="1965960"/>
            <a:ext cx="384048" cy="384048"/>
          </a:xfrm>
          <a:prstGeom prst="rect">
            <a:avLst/>
          </a:prstGeom>
        </p:spPr>
      </p:pic>
      <p:sp>
        <p:nvSpPr>
          <p:cNvPr id="5" name="Text 2"/>
          <p:cNvSpPr txBox="1"/>
          <p:nvPr/>
        </p:nvSpPr>
        <p:spPr>
          <a:xfrm>
            <a:off x="1325880" y="1920240"/>
            <a:ext cx="5852160" cy="822960"/>
          </a:xfrm>
          <a:prstGeom prst="rect">
            <a:avLst/>
          </a:prstGeom>
          <a:noFill/>
          <a:ln/>
        </p:spPr>
        <p:txBody>
          <a:bodyPr wrap="square" lIns="0" tIns="0" rIns="0" bIns="0" rtlCol="0" anchor="t"/>
          <a:lstStyle/>
          <a:p>
            <a:pPr indent="0" marL="0">
              <a:buNone/>
            </a:pPr>
            <a:r>
              <a:rPr lang="en-US" sz="1500" b="1" dirty="0">
                <a:solidFill>
                  <a:schemeClr val="accent1"/>
                </a:solidFill>
              </a:rPr>
              <a:t>Alcance justificado: </a:t>
            </a:r>
            <a:pPr indent="0" marL="0">
              <a:buNone/>
            </a:pPr>
            <a:r>
              <a:rPr lang="en-US" sz="1500" dirty="0">
                <a:solidFill>
                  <a:schemeClr val="bg1"/>
                </a:solidFill>
              </a:rPr>
              <a:t>el trabajo se centró en el requerimiento asignado sin perder el propósito original.</a:t>
            </a:r>
            <a:endParaRPr lang="en-US" sz="1500" dirty="0"/>
          </a:p>
        </p:txBody>
      </p:sp>
      <p:pic>
        <p:nvPicPr>
          <p:cNvPr id="6" name="Image 1" descr="preencoded.png">    </p:cNvPr>
          <p:cNvPicPr>
            <a:picLocks noChangeAspect="1"/>
          </p:cNvPicPr>
          <p:nvPr/>
        </p:nvPicPr>
        <p:blipFill>
          <a:blip r:embed="rId2"/>
          <a:stretch>
            <a:fillRect/>
          </a:stretch>
        </p:blipFill>
        <p:spPr>
          <a:xfrm>
            <a:off x="731520" y="2971800"/>
            <a:ext cx="384048" cy="384048"/>
          </a:xfrm>
          <a:prstGeom prst="rect">
            <a:avLst/>
          </a:prstGeom>
        </p:spPr>
      </p:pic>
      <p:sp>
        <p:nvSpPr>
          <p:cNvPr id="7" name="Text 3"/>
          <p:cNvSpPr txBox="1"/>
          <p:nvPr/>
        </p:nvSpPr>
        <p:spPr>
          <a:xfrm>
            <a:off x="1325880" y="2926080"/>
            <a:ext cx="5852160" cy="822960"/>
          </a:xfrm>
          <a:prstGeom prst="rect">
            <a:avLst/>
          </a:prstGeom>
          <a:noFill/>
          <a:ln/>
        </p:spPr>
        <p:txBody>
          <a:bodyPr wrap="square" lIns="0" tIns="0" rIns="0" bIns="0" rtlCol="0" anchor="t"/>
          <a:lstStyle/>
          <a:p>
            <a:pPr indent="0" marL="0">
              <a:buNone/>
            </a:pPr>
            <a:r>
              <a:rPr lang="en-US" sz="1500" b="1" dirty="0">
                <a:solidFill>
                  <a:schemeClr val="accent1"/>
                </a:solidFill>
              </a:rPr>
              <a:t>Base de datos lista: </a:t>
            </a:r>
            <a:pPr indent="0" marL="0">
              <a:buNone/>
            </a:pPr>
            <a:r>
              <a:rPr lang="en-US" sz="1500" dirty="0">
                <a:solidFill>
                  <a:schemeClr val="bg1"/>
                </a:solidFill>
              </a:rPr>
              <a:t>modelo canónico y pipeline multi-ERP integrados al esquema real, sin afectar la operación.</a:t>
            </a:r>
            <a:endParaRPr lang="en-US" sz="1500" dirty="0"/>
          </a:p>
        </p:txBody>
      </p:sp>
      <p:pic>
        <p:nvPicPr>
          <p:cNvPr id="8" name="Image 2" descr="preencoded.png">    </p:cNvPr>
          <p:cNvPicPr>
            <a:picLocks noChangeAspect="1"/>
          </p:cNvPicPr>
          <p:nvPr/>
        </p:nvPicPr>
        <p:blipFill>
          <a:blip r:embed="rId3"/>
          <a:stretch>
            <a:fillRect/>
          </a:stretch>
        </p:blipFill>
        <p:spPr>
          <a:xfrm>
            <a:off x="731520" y="3977640"/>
            <a:ext cx="384048" cy="384048"/>
          </a:xfrm>
          <a:prstGeom prst="rect">
            <a:avLst/>
          </a:prstGeom>
        </p:spPr>
      </p:pic>
      <p:sp>
        <p:nvSpPr>
          <p:cNvPr id="9" name="Text 4"/>
          <p:cNvSpPr txBox="1"/>
          <p:nvPr/>
        </p:nvSpPr>
        <p:spPr>
          <a:xfrm>
            <a:off x="1325880" y="3931920"/>
            <a:ext cx="5852160" cy="822960"/>
          </a:xfrm>
          <a:prstGeom prst="rect">
            <a:avLst/>
          </a:prstGeom>
          <a:noFill/>
          <a:ln/>
        </p:spPr>
        <p:txBody>
          <a:bodyPr wrap="square" lIns="0" tIns="0" rIns="0" bIns="0" rtlCol="0" anchor="t"/>
          <a:lstStyle/>
          <a:p>
            <a:pPr indent="0" marL="0">
              <a:buNone/>
            </a:pPr>
            <a:r>
              <a:rPr lang="en-US" sz="1500" b="1" dirty="0">
                <a:solidFill>
                  <a:schemeClr val="accent1"/>
                </a:solidFill>
              </a:rPr>
              <a:t>Arquitectura extensible: </a:t>
            </a:r>
            <a:pPr indent="0" marL="0">
              <a:buNone/>
            </a:pPr>
            <a:r>
              <a:rPr lang="en-US" sz="1500" dirty="0">
                <a:solidFill>
                  <a:schemeClr val="bg1"/>
                </a:solidFill>
              </a:rPr>
              <a:t>incorporar un ERP nuevo solo requiere un conector.</a:t>
            </a:r>
            <a:endParaRPr lang="en-US" sz="1500" dirty="0"/>
          </a:p>
        </p:txBody>
      </p:sp>
      <p:pic>
        <p:nvPicPr>
          <p:cNvPr id="10" name="Image 3" descr="preencoded.png">    </p:cNvPr>
          <p:cNvPicPr>
            <a:picLocks noChangeAspect="1"/>
          </p:cNvPicPr>
          <p:nvPr/>
        </p:nvPicPr>
        <p:blipFill>
          <a:blip r:embed="rId4"/>
          <a:stretch>
            <a:fillRect/>
          </a:stretch>
        </p:blipFill>
        <p:spPr>
          <a:xfrm>
            <a:off x="731520" y="4983480"/>
            <a:ext cx="384048" cy="384048"/>
          </a:xfrm>
          <a:prstGeom prst="rect">
            <a:avLst/>
          </a:prstGeom>
        </p:spPr>
      </p:pic>
      <p:sp>
        <p:nvSpPr>
          <p:cNvPr id="11" name="Text 5"/>
          <p:cNvSpPr txBox="1"/>
          <p:nvPr/>
        </p:nvSpPr>
        <p:spPr>
          <a:xfrm>
            <a:off x="1325880" y="4937760"/>
            <a:ext cx="5852160" cy="822960"/>
          </a:xfrm>
          <a:prstGeom prst="rect">
            <a:avLst/>
          </a:prstGeom>
          <a:noFill/>
          <a:ln/>
        </p:spPr>
        <p:txBody>
          <a:bodyPr wrap="square" lIns="0" tIns="0" rIns="0" bIns="0" rtlCol="0" anchor="t"/>
          <a:lstStyle/>
          <a:p>
            <a:pPr indent="0" marL="0">
              <a:buNone/>
            </a:pPr>
            <a:r>
              <a:rPr lang="en-US" sz="1500" b="1" dirty="0">
                <a:solidFill>
                  <a:schemeClr val="accent1"/>
                </a:solidFill>
              </a:rPr>
              <a:t>Datos para predecir: </a:t>
            </a:r>
            <a:pPr indent="0" marL="0">
              <a:buNone/>
            </a:pPr>
            <a:r>
              <a:rPr lang="en-US" sz="1500" dirty="0">
                <a:solidFill>
                  <a:schemeClr val="bg1"/>
                </a:solidFill>
              </a:rPr>
              <a:t>el historial de fallas queda consolidado y trazable por máquina.</a:t>
            </a:r>
            <a:endParaRPr lang="en-US" sz="1500" dirty="0"/>
          </a:p>
        </p:txBody>
      </p:sp>
      <p:sp>
        <p:nvSpPr>
          <p:cNvPr id="12" name="Shape 6"/>
          <p:cNvSpPr/>
          <p:nvPr/>
        </p:nvSpPr>
        <p:spPr>
          <a:xfrm>
            <a:off x="7818120" y="1463040"/>
            <a:ext cx="3657600" cy="4206240"/>
          </a:xfrm>
          <a:prstGeom prst="roundRect">
            <a:avLst>
              <a:gd name="adj" fmla="val 2500"/>
            </a:avLst>
          </a:prstGeom>
          <a:solidFill>
            <a:srgbClr val="223040"/>
          </a:solidFill>
          <a:ln w="19050">
            <a:solidFill>
              <a:schemeClr val="accent1"/>
            </a:solidFill>
            <a:prstDash val="solid"/>
          </a:ln>
        </p:spPr>
      </p:sp>
      <p:sp>
        <p:nvSpPr>
          <p:cNvPr id="13" name="Shape 7"/>
          <p:cNvSpPr/>
          <p:nvPr/>
        </p:nvSpPr>
        <p:spPr>
          <a:xfrm>
            <a:off x="9189720" y="1828800"/>
            <a:ext cx="914400" cy="914400"/>
          </a:xfrm>
          <a:prstGeom prst="ellipse">
            <a:avLst/>
          </a:prstGeom>
          <a:solidFill>
            <a:srgbClr val="E69B00"/>
          </a:solidFill>
          <a:ln/>
        </p:spPr>
      </p:sp>
      <p:pic>
        <p:nvPicPr>
          <p:cNvPr id="14" name="Image 4" descr="preencoded.png">    </p:cNvPr>
          <p:cNvPicPr>
            <a:picLocks noChangeAspect="1"/>
          </p:cNvPicPr>
          <p:nvPr/>
        </p:nvPicPr>
        <p:blipFill>
          <a:blip r:embed="rId5"/>
          <a:stretch>
            <a:fillRect/>
          </a:stretch>
        </p:blipFill>
        <p:spPr>
          <a:xfrm>
            <a:off x="9418320" y="2057400"/>
            <a:ext cx="457200" cy="457200"/>
          </a:xfrm>
          <a:prstGeom prst="rect">
            <a:avLst/>
          </a:prstGeom>
        </p:spPr>
      </p:pic>
      <p:sp>
        <p:nvSpPr>
          <p:cNvPr id="15" name="Text 8"/>
          <p:cNvSpPr txBox="1"/>
          <p:nvPr/>
        </p:nvSpPr>
        <p:spPr>
          <a:xfrm>
            <a:off x="8046720" y="2926080"/>
            <a:ext cx="3200400" cy="914400"/>
          </a:xfrm>
          <a:prstGeom prst="rect">
            <a:avLst/>
          </a:prstGeom>
          <a:noFill/>
          <a:ln/>
        </p:spPr>
        <p:txBody>
          <a:bodyPr wrap="square" lIns="0" tIns="0" rIns="0" bIns="0" rtlCol="0" anchor="ctr"/>
          <a:lstStyle/>
          <a:p>
            <a:pPr algn="ctr" indent="0" marL="0">
              <a:buNone/>
            </a:pPr>
            <a:r>
              <a:rPr lang="en-US" sz="2400" b="1" dirty="0">
                <a:solidFill>
                  <a:schemeClr val="bg1"/>
                </a:solidFill>
              </a:rPr>
              <a:t>Preguntas de la comisión</a:t>
            </a:r>
            <a:endParaRPr lang="en-US" sz="2400" dirty="0"/>
          </a:p>
        </p:txBody>
      </p:sp>
      <p:sp>
        <p:nvSpPr>
          <p:cNvPr id="16" name="Text 9"/>
          <p:cNvSpPr txBox="1"/>
          <p:nvPr/>
        </p:nvSpPr>
        <p:spPr>
          <a:xfrm>
            <a:off x="8046720" y="4023360"/>
            <a:ext cx="3200400" cy="640080"/>
          </a:xfrm>
          <a:prstGeom prst="rect">
            <a:avLst/>
          </a:prstGeom>
          <a:noFill/>
          <a:ln/>
        </p:spPr>
        <p:txBody>
          <a:bodyPr wrap="square" lIns="0" tIns="0" rIns="0" bIns="0" rtlCol="0" anchor="t"/>
          <a:lstStyle/>
          <a:p>
            <a:pPr algn="ctr" indent="0" marL="0">
              <a:buNone/>
            </a:pPr>
            <a:r>
              <a:rPr lang="en-US" sz="1300" dirty="0">
                <a:solidFill>
                  <a:srgbClr val="B8C2CC"/>
                </a:solidFill>
              </a:rPr>
              <a:t>Sebastián Valdés Zúñiga</a:t>
            </a:r>
            <a:endParaRPr lang="en-US" sz="1300" dirty="0"/>
          </a:p>
          <a:p>
            <a:pPr algn="ctr" indent="0" marL="0">
              <a:buNone/>
            </a:pPr>
            <a:r>
              <a:rPr lang="en-US" sz="1300" dirty="0">
                <a:solidFill>
                  <a:srgbClr val="B8C2CC"/>
                </a:solidFill>
              </a:rPr>
              <a:t>Barb · Alloxentric</a:t>
            </a:r>
            <a:endParaRPr lang="en-US" sz="1300" dirty="0"/>
          </a:p>
        </p:txBody>
      </p:sp>
      <p:sp>
        <p:nvSpPr>
          <p:cNvPr id="17" name="Text 10"/>
          <p:cNvSpPr txBox="1"/>
          <p:nvPr/>
        </p:nvSpPr>
        <p:spPr>
          <a:xfrm>
            <a:off x="8046720" y="4800600"/>
            <a:ext cx="3200400" cy="365760"/>
          </a:xfrm>
          <a:prstGeom prst="rect">
            <a:avLst/>
          </a:prstGeom>
          <a:noFill/>
          <a:ln/>
        </p:spPr>
        <p:txBody>
          <a:bodyPr wrap="square" lIns="0" tIns="0" rIns="0" bIns="0" rtlCol="0" anchor="t"/>
          <a:lstStyle/>
          <a:p>
            <a:pPr algn="ctr" indent="0" marL="0">
              <a:buNone/>
            </a:pPr>
            <a:r>
              <a:rPr lang="en-US" sz="1200" dirty="0">
                <a:solidFill>
                  <a:schemeClr val="accent1"/>
                </a:solidFill>
              </a:rPr>
              <a:t>Repositorio: [agregar enlace]</a:t>
            </a:r>
            <a:endParaRPr lang="en-US" sz="1200" dirty="0"/>
          </a:p>
        </p:txBody>
      </p:sp>
      <p:sp>
        <p:nvSpPr>
          <p:cNvPr id="18" name="Shape 11"/>
          <p:cNvSpPr/>
          <p:nvPr/>
        </p:nvSpPr>
        <p:spPr>
          <a:xfrm>
            <a:off x="731520" y="5897880"/>
            <a:ext cx="2194560" cy="566928"/>
          </a:xfrm>
          <a:prstGeom prst="roundRect">
            <a:avLst>
              <a:gd name="adj" fmla="val 9677"/>
            </a:avLst>
          </a:prstGeom>
          <a:solidFill>
            <a:schemeClr val="bg1"/>
          </a:solidFill>
          <a:ln/>
        </p:spPr>
      </p:sp>
      <p:pic>
        <p:nvPicPr>
          <p:cNvPr id="19" name="Image 5" descr="preencoded.png">    </p:cNvPr>
          <p:cNvPicPr>
            <a:picLocks noChangeAspect="1"/>
          </p:cNvPicPr>
          <p:nvPr/>
        </p:nvPicPr>
        <p:blipFill>
          <a:blip r:embed="rId6"/>
          <a:stretch>
            <a:fillRect/>
          </a:stretch>
        </p:blipFill>
        <p:spPr>
          <a:xfrm>
            <a:off x="822960" y="5952744"/>
            <a:ext cx="2011680" cy="457200"/>
          </a:xfrm>
          <a:prstGeom prst="rect">
            <a:avLst/>
          </a:prstGeom>
        </p:spPr>
      </p:pic>
    </p:spTree>
  </p:cSld>
  <p:clrMapOvr>
    <a:masterClrMapping/>
  </p:clrMapOvr>
</p:sld>
</file>

<file path=ppt/theme/theme1.xml><?xml version="1.0" encoding="utf-8"?>
<a:theme xmlns:a="http://schemas.openxmlformats.org/drawingml/2006/main" name="Barb">
  <a:themeElements>
    <a:clrScheme name="Barb">
      <a:dk1>
        <a:srgbClr val="1F2933"/>
      </a:dk1>
      <a:lt1>
        <a:srgbClr val="FFFFFF"/>
      </a:lt1>
      <a:dk2>
        <a:srgbClr val="17212B"/>
      </a:dk2>
      <a:lt2>
        <a:srgbClr val="F4F6F9"/>
      </a:lt2>
      <a:accent1>
        <a:srgbClr val="E69B00"/>
      </a:accent1>
      <a:accent2>
        <a:srgbClr val="2F855A"/>
      </a:accent2>
      <a:accent3>
        <a:srgbClr val="2B6CB0"/>
      </a:accent3>
      <a:accent4>
        <a:srgbClr val="5B6770"/>
      </a:accent4>
      <a:accent5>
        <a:srgbClr val="C0392B"/>
      </a:accent5>
      <a:accent6>
        <a:srgbClr val="9A5B00"/>
      </a:accent6>
      <a:hlink>
        <a:srgbClr val="2B6CB0"/>
      </a:hlink>
      <a:folHlink>
        <a:srgbClr val="6B46C1"/>
      </a:folHlink>
    </a:clrScheme>
    <a:fontScheme name="Bar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Barb · Presentación final Capstone</dc:title>
  <dc:subject>PptxGenJS Presentation</dc:subject>
  <dc:creator>Sebastián Valdés Zúñiga</dc:creator>
  <cp:lastModifiedBy>Sebastián Valdés Zúñiga</cp:lastModifiedBy>
  <cp:revision>1</cp:revision>
  <dcterms:created xsi:type="dcterms:W3CDTF">2026-10-30T20:15:07Z</dcterms:created>
  <dcterms:modified xsi:type="dcterms:W3CDTF">2026-10-30T20:15:07Z</dcterms:modified>
</cp:coreProperties>
</file>